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7d3c81b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7d3c81b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7d3c81b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07d3c81b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4594d5b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4594d5b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45dd40c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45dd40c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07d3c81b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07d3c81b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07d3c81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407d3c81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174c3c3f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174c3c3f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3efc6f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3efc6f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174c3c3f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174c3c3f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174c3c3f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174c3c3f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174c3c3f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174c3c3f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4174c3c3f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4174c3c3f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4174c3c3f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4174c3c3f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07d3c81b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07d3c81b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07d3c81b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407d3c81b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174c3c3f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4174c3c3f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Interview Q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48875" y="132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Phone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661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there was a smell sensing sensor, how would you use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3 google products you like, chose 1, critique it, improve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How do you design video streaming product like netflix for google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Non-tech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design a gas station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design an entrance to New York Times building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Evaluate readiness for redesign of self driving car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Estimate the number of Uber rides in San Jose last year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you are given a magical stone that cures cancer, what do you do with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Storage cost for Google photos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 a disaster recovery system for city of tokyo, for year 2020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 an onboarding system for aws customer to gcp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you found a box which can generate diamonds - what would you do as the VP of products for that company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Phone (2)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59925" y="1118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would you improve in phone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Should MSFT build an app for the apple tv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Fav product - how would you build it for limited internet or connectivity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Dlp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How will you take to market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Size the market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Market entry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Safeway - customer experience, estimation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What are you doing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What is the most challenging thing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What was most surprising when you started PM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b="12873" l="0" r="0" t="11888"/>
          <a:stretch/>
        </p:blipFill>
        <p:spPr>
          <a:xfrm>
            <a:off x="83150" y="0"/>
            <a:ext cx="384542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 rotWithShape="1">
          <a:blip r:embed="rId4">
            <a:alphaModFix/>
          </a:blip>
          <a:srcRect b="46470" l="0" r="0" t="6175"/>
          <a:stretch/>
        </p:blipFill>
        <p:spPr>
          <a:xfrm>
            <a:off x="4080975" y="1070275"/>
            <a:ext cx="4469600" cy="354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Program Management - Goog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Describe SDLC for a project I worked including the milestones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Choose 1 milestone and determine entry &amp; exit criteria for a milestone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Describe a time in a critical project that was not on track and what I did about it: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Give me an example of a process improvement I have made: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Can you tell the last time your technical background influenced the direction of the project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round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Algo to figure out longest length of </a:t>
            </a:r>
            <a:r>
              <a:rPr lang="en"/>
              <a:t>consecutive</a:t>
            </a:r>
            <a:r>
              <a:rPr lang="en"/>
              <a:t> numbers in a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System architecture for your current product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Dedup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net</a:t>
            </a:r>
            <a:endParaRPr/>
          </a:p>
        </p:txBody>
      </p:sp>
      <p:sp>
        <p:nvSpPr>
          <p:cNvPr id="97" name="Google Shape;97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700"/>
              <a:t>Interview 1 (Strategy)</a:t>
            </a:r>
            <a:br>
              <a:rPr lang="en" sz="700"/>
            </a:br>
            <a:br>
              <a:rPr lang="en" sz="700"/>
            </a:br>
            <a:r>
              <a:rPr lang="en" sz="700"/>
              <a:t>A project from your past experience that failed or didn’t go as intended. What were your learnings and what did you do abt it?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I had an hypothesis but didn’t hit the nail.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Let’s say you are PM on google maps, 12 years ago and Larry says go launch this in India.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How would you go abt it ? ----&gt; </a:t>
            </a:r>
            <a:br>
              <a:rPr lang="en" sz="700"/>
            </a:br>
            <a:br>
              <a:rPr lang="en" sz="700"/>
            </a:br>
            <a:r>
              <a:rPr lang="en" sz="700"/>
              <a:t>Why India? - 45% Worldwide GDP coming through emerging markets - exponential growth </a:t>
            </a:r>
            <a:br>
              <a:rPr lang="en" sz="700"/>
            </a:br>
            <a:br>
              <a:rPr lang="en" sz="700"/>
            </a:br>
            <a:r>
              <a:rPr lang="en" sz="700"/>
              <a:t>Why would Google be interested? </a:t>
            </a:r>
            <a:br>
              <a:rPr lang="en" sz="700"/>
            </a:br>
            <a:br>
              <a:rPr lang="en" sz="700"/>
            </a:br>
            <a:r>
              <a:rPr lang="en" sz="700"/>
              <a:t>How would you design the interface? </a:t>
            </a:r>
            <a:br>
              <a:rPr lang="en" sz="700"/>
            </a:br>
            <a:br>
              <a:rPr lang="en" sz="700"/>
            </a:br>
            <a:r>
              <a:rPr lang="en" sz="700"/>
              <a:t>Where would you get the data for cities, for traffic?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Satellite images </a:t>
            </a:r>
            <a:br>
              <a:rPr lang="en" sz="700"/>
            </a:br>
            <a:br>
              <a:rPr lang="en" sz="700"/>
            </a:br>
            <a:r>
              <a:rPr lang="en" sz="700"/>
              <a:t>Crowd source </a:t>
            </a:r>
            <a:br>
              <a:rPr lang="en" sz="700"/>
            </a:br>
            <a:br>
              <a:rPr lang="en" sz="700"/>
            </a:br>
            <a:r>
              <a:rPr lang="en" sz="700"/>
              <a:t>API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Interview 2 (Tech)</a:t>
            </a:r>
            <a:br>
              <a:rPr lang="en" sz="700"/>
            </a:br>
            <a:br>
              <a:rPr lang="en" sz="700"/>
            </a:br>
            <a:r>
              <a:rPr lang="en" sz="700"/>
              <a:t>Mobile native app vs server ...what are the technical issues you'll run into?</a:t>
            </a:r>
            <a:br>
              <a:rPr lang="en" sz="700"/>
            </a:br>
            <a:br>
              <a:rPr lang="en" sz="700"/>
            </a:br>
            <a:r>
              <a:rPr lang="en" sz="700"/>
              <a:t>Nope, Those are server side or architectural issues</a:t>
            </a:r>
            <a:br>
              <a:rPr lang="en" sz="700"/>
            </a:br>
            <a:br>
              <a:rPr lang="en" sz="700"/>
            </a:br>
            <a:r>
              <a:rPr lang="en" sz="700"/>
              <a:t>Nope, Those are generic client side issues</a:t>
            </a:r>
            <a:br>
              <a:rPr lang="en" sz="700"/>
            </a:br>
            <a:br>
              <a:rPr lang="en" sz="700"/>
            </a:br>
            <a:r>
              <a:rPr lang="en" sz="700"/>
              <a:t>Nope, Those are use case based issues</a:t>
            </a:r>
            <a:br>
              <a:rPr lang="en" sz="700"/>
            </a:br>
            <a:br>
              <a:rPr lang="en" sz="700"/>
            </a:br>
            <a:r>
              <a:rPr lang="en" sz="700"/>
              <a:t>What are the native app specific issues?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Interview 3 (Everything)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Asked again : A project from your past experience that failed or didn’t go as intended. What were your learnings and what did you do abt it? - 2 interviewers asked me the same question.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What a next cool feature you would build on gmail? </a:t>
            </a:r>
            <a:br>
              <a:rPr lang="en" sz="700"/>
            </a:br>
            <a:br>
              <a:rPr lang="en" sz="700"/>
            </a:br>
            <a:r>
              <a:rPr lang="en" sz="700"/>
              <a:t>Auto delete</a:t>
            </a:r>
            <a:br>
              <a:rPr lang="en" sz="700"/>
            </a:br>
            <a:br>
              <a:rPr lang="en" sz="700"/>
            </a:br>
            <a:r>
              <a:rPr lang="en" sz="700"/>
              <a:t>Auto send email using AI.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Let’s say google has decided to invest in inflight entertainment, you are a pm and have no challenges or restrictions - tech, people etc , what blue sky ideas would you have ?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Interview 4 (Design)</a:t>
            </a:r>
            <a:br>
              <a:rPr lang="en" sz="700"/>
            </a:br>
            <a:br>
              <a:rPr lang="en" sz="700"/>
            </a:br>
            <a:r>
              <a:rPr lang="en" sz="700"/>
              <a:t>What is the next technical or non- technical product you have your eye on and why ?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I bike to work and use Stevens creek trail. It has lot of potholes and cracks. Let’s say you want to get into the business of fixing them ? How would you assess the business opportunity? How would you make a case and pitch it to the city. (Estimation)</a:t>
            </a:r>
            <a:br>
              <a:rPr lang="en" sz="700"/>
            </a:br>
            <a:br>
              <a:rPr lang="en" sz="700"/>
            </a:br>
            <a:r>
              <a:rPr lang="en" sz="700"/>
              <a:t>Revenue Streams </a:t>
            </a:r>
            <a:br>
              <a:rPr lang="en" sz="700"/>
            </a:br>
            <a:br>
              <a:rPr lang="en" sz="700"/>
            </a:br>
            <a:r>
              <a:rPr lang="en" sz="700"/>
              <a:t>Access fee - </a:t>
            </a:r>
            <a:br>
              <a:rPr lang="en" sz="700"/>
            </a:br>
            <a:br>
              <a:rPr lang="en" sz="700"/>
            </a:br>
            <a:r>
              <a:rPr lang="en" sz="700"/>
              <a:t>Intangible - Less traffic, less pollution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Let’s say you are a head of Google Phone &amp; want to provide differentiation in your product offering. What would that be?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Shopping</a:t>
            </a:r>
            <a:br>
              <a:rPr lang="en" sz="700"/>
            </a:br>
            <a:br>
              <a:rPr lang="en" sz="700"/>
            </a:br>
            <a:r>
              <a:rPr lang="en" sz="700"/>
              <a:t>Social </a:t>
            </a:r>
            <a:br>
              <a:rPr lang="en" sz="700"/>
            </a:br>
            <a:br>
              <a:rPr lang="en" sz="700"/>
            </a:br>
            <a:r>
              <a:rPr lang="en" sz="700"/>
              <a:t>Productivity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-Subscriptiom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Differenciate hardware, software, services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Hardware: Camera (Projector) </a:t>
            </a:r>
            <a:br>
              <a:rPr lang="en" sz="700"/>
            </a:br>
            <a:br>
              <a:rPr lang="en" sz="700"/>
            </a:br>
            <a:r>
              <a:rPr lang="en" sz="700"/>
              <a:t>Flip or foldable </a:t>
            </a:r>
            <a:br>
              <a:rPr lang="en" sz="700"/>
            </a:br>
            <a:br>
              <a:rPr lang="en" sz="700"/>
            </a:br>
            <a:r>
              <a:rPr lang="en" sz="700"/>
              <a:t>Button for search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Interview 5 (Design + Strategy)</a:t>
            </a:r>
            <a:br>
              <a:rPr lang="en" sz="700"/>
            </a:br>
            <a:br>
              <a:rPr lang="en" sz="700"/>
            </a:br>
            <a:r>
              <a:rPr lang="en" sz="700"/>
              <a:t>Let’s say you are asked to design a physical space - an art museum for kids, how would you go about it ?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Where is this museum? </a:t>
            </a:r>
            <a:br>
              <a:rPr lang="en" sz="700"/>
            </a:br>
            <a:br>
              <a:rPr lang="en" sz="700"/>
            </a:br>
            <a:r>
              <a:rPr lang="en" sz="700"/>
              <a:t>Is it in the city? </a:t>
            </a:r>
            <a:br>
              <a:rPr lang="en" sz="700"/>
            </a:br>
            <a:br>
              <a:rPr lang="en" sz="700"/>
            </a:br>
            <a:r>
              <a:rPr lang="en" sz="700"/>
              <a:t>Are their any constraints such as space?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Assumptions</a:t>
            </a:r>
            <a:br>
              <a:rPr lang="en" sz="700"/>
            </a:br>
            <a:br>
              <a:rPr lang="en" sz="700"/>
            </a:br>
            <a:r>
              <a:rPr lang="en" sz="700"/>
              <a:t>Enough space</a:t>
            </a:r>
            <a:br>
              <a:rPr lang="en" sz="700"/>
            </a:br>
            <a:br>
              <a:rPr lang="en" sz="700"/>
            </a:br>
            <a:r>
              <a:rPr lang="en" sz="700"/>
              <a:t>Parking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Teachers, parents, kids - 3 personas </a:t>
            </a:r>
            <a:br>
              <a:rPr lang="en" sz="700"/>
            </a:br>
            <a:br>
              <a:rPr lang="en" sz="700"/>
            </a:br>
            <a:r>
              <a:rPr lang="en" sz="700"/>
              <a:t>Museum to cater to all the 3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Goal: Entertain and educate them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Pain Points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Kids</a:t>
            </a:r>
            <a:br>
              <a:rPr lang="en" sz="700"/>
            </a:br>
            <a:br>
              <a:rPr lang="en" sz="700"/>
            </a:br>
            <a:r>
              <a:rPr lang="en" sz="700"/>
              <a:t>Parents </a:t>
            </a:r>
            <a:br>
              <a:rPr lang="en" sz="700"/>
            </a:br>
            <a:br>
              <a:rPr lang="en" sz="700"/>
            </a:br>
            <a:r>
              <a:rPr lang="en" sz="700"/>
              <a:t>Teachers</a:t>
            </a:r>
            <a:br>
              <a:rPr lang="en" sz="700"/>
            </a:br>
            <a:br>
              <a:rPr lang="en" sz="700"/>
            </a:br>
            <a:r>
              <a:rPr lang="en" sz="700"/>
              <a:t>-Want to have fun</a:t>
            </a:r>
            <a:br>
              <a:rPr lang="en" sz="700"/>
            </a:br>
            <a:br>
              <a:rPr lang="en" sz="700"/>
            </a:br>
            <a:r>
              <a:rPr lang="en" sz="700"/>
              <a:t>-Want a way to monitor and let them do their thing </a:t>
            </a:r>
            <a:br>
              <a:rPr lang="en" sz="700"/>
            </a:br>
            <a:br>
              <a:rPr lang="en" sz="700"/>
            </a:br>
            <a:r>
              <a:rPr lang="en" sz="700"/>
              <a:t>-Accomodate large group of students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Ideas </a:t>
            </a:r>
            <a:br>
              <a:rPr lang="en" sz="700"/>
            </a:br>
            <a:br>
              <a:rPr lang="en" sz="700"/>
            </a:br>
            <a:r>
              <a:rPr lang="en" sz="700"/>
              <a:t>Treasure hunt map for kids </a:t>
            </a:r>
            <a:br>
              <a:rPr lang="en" sz="700"/>
            </a:br>
            <a:br>
              <a:rPr lang="en" sz="700"/>
            </a:br>
            <a:r>
              <a:rPr lang="en" sz="700"/>
              <a:t>Mobile app called passport stamp - kids can discover places in museum and add a stamp to the app. Once they add, it shows more information about the place. </a:t>
            </a:r>
            <a:br>
              <a:rPr lang="en" sz="700"/>
            </a:br>
            <a:br>
              <a:rPr lang="en" sz="700"/>
            </a:br>
            <a:r>
              <a:rPr lang="en" sz="700"/>
              <a:t>VR headset to have an immersive experience  </a:t>
            </a:r>
            <a:br>
              <a:rPr lang="en" sz="700"/>
            </a:br>
            <a:br>
              <a:rPr lang="en" sz="700"/>
            </a:br>
            <a:r>
              <a:rPr lang="en" sz="700"/>
              <a:t>App</a:t>
            </a:r>
            <a:br>
              <a:rPr lang="en" sz="700"/>
            </a:br>
            <a:br>
              <a:rPr lang="en" sz="700"/>
            </a:br>
            <a:r>
              <a:rPr lang="en" sz="700"/>
              <a:t>Talk to the kids using device </a:t>
            </a:r>
            <a:br>
              <a:rPr lang="en" sz="700"/>
            </a:br>
            <a:br>
              <a:rPr lang="en" sz="700"/>
            </a:br>
            <a:r>
              <a:rPr lang="en" sz="700"/>
              <a:t>Sensors to </a:t>
            </a:r>
            <a:br>
              <a:rPr lang="en" sz="700"/>
            </a:br>
            <a:br>
              <a:rPr lang="en" sz="700"/>
            </a:br>
            <a:br>
              <a:rPr lang="en" sz="700"/>
            </a:br>
            <a:br>
              <a:rPr lang="en" sz="700"/>
            </a:br>
            <a:r>
              <a:rPr lang="en" sz="700"/>
              <a:t>Google is building a new technology that can take you from San Francisco to New York in 2 hours ..What would you say? Build it or ignore it?</a:t>
            </a:r>
            <a:endParaRPr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Design Google Calendar for children.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Design Google Camera.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would you improve Google Maps?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would you reduce Gmail storage size?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would you improve restaurant search?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What’s favorite Google product? What do you like or not like about it?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If you were to build the next killer feature for Google, what would it be?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You’re part of the Google Search web spam team. How would you detect duplicate websites?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would you solve homelessness in downtown San Francisco?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would you re-design a set-top box?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would you design a Mars Rover?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Create a mobile app for a chain of local orthodontist offices.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do you reduce bandwidth consumption for Google Search, especially for developing countries with limited bandwidth?</a:t>
            </a:r>
            <a:endParaRPr sz="1200">
              <a:solidFill>
                <a:srgbClr val="4C4C4C"/>
              </a:solidFill>
            </a:endParaRPr>
          </a:p>
          <a:p>
            <a:pPr indent="0" lvl="0" marL="0" rtl="0" algn="l">
              <a:spcBef>
                <a:spcPts val="28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AA3131"/>
                </a:solidFill>
              </a:rPr>
              <a:t>ANALYTICAL QUESTIONS</a:t>
            </a:r>
            <a:endParaRPr b="1" sz="1700">
              <a:solidFill>
                <a:srgbClr val="AA3131"/>
              </a:solidFill>
            </a:endParaRPr>
          </a:p>
          <a:p>
            <a:pPr indent="-304800" lvl="0" marL="787400" rtl="0" algn="l">
              <a:spcBef>
                <a:spcPts val="90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Imagine we invented the Google Camera. How many Cameras would we sell in the 1st year?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many queries per second does Gmail get?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many iPhones are sold in the US each year?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What is the market for driverless cars in the year 2020?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much storage and bandwidth do we need for Google Drive service in the next year?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much storage do you need to store all Google Maps info?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many new book titles are produced in the US, each year?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How many YouTube videos are watched in China, each year?</a:t>
            </a:r>
            <a:endParaRPr sz="1200">
              <a:solidFill>
                <a:srgbClr val="4C4C4C"/>
              </a:solidFill>
            </a:endParaRPr>
          </a:p>
          <a:p>
            <a:pPr indent="0" lvl="0" marL="0" rtl="0" algn="l">
              <a:spcBef>
                <a:spcPts val="28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AA3131"/>
                </a:solidFill>
              </a:rPr>
              <a:t>METRICS</a:t>
            </a:r>
            <a:endParaRPr b="1" sz="1700">
              <a:solidFill>
                <a:srgbClr val="AA3131"/>
              </a:solidFill>
            </a:endParaRPr>
          </a:p>
          <a:p>
            <a:pPr indent="-304800" lvl="0" marL="787400" rtl="0" algn="l">
              <a:spcBef>
                <a:spcPts val="90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Imagine you are the PM for Google+. Which metrics would you track?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Imagine Google+ metric X decreased 20% week over week. How would you diagnose? And what would you do?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After launching a new feature X, an important metric drops Y%. What would you do?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What's difference between median and mean?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Why is it important if an A/B test result is statistically significant?</a:t>
            </a:r>
            <a:endParaRPr sz="1200">
              <a:solidFill>
                <a:srgbClr val="4C4C4C"/>
              </a:solidFill>
            </a:endParaRPr>
          </a:p>
          <a:p>
            <a:pPr indent="0" lvl="0" marL="0" rtl="0" algn="l">
              <a:spcBef>
                <a:spcPts val="28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AA3131"/>
                </a:solidFill>
              </a:rPr>
              <a:t>TECHNICAL</a:t>
            </a:r>
            <a:endParaRPr b="1" sz="1700">
              <a:solidFill>
                <a:srgbClr val="AA3131"/>
              </a:solidFill>
            </a:endParaRPr>
          </a:p>
          <a:p>
            <a:pPr indent="-304800" lvl="0" marL="787400" rtl="0" algn="l">
              <a:spcBef>
                <a:spcPts val="90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Write an algorithm that detects meeting conflicts.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What happens when you type a URL into a browser and hit ENTER?</a:t>
            </a:r>
            <a:endParaRPr sz="1200">
              <a:solidFill>
                <a:srgbClr val="4C4C4C"/>
              </a:solidFill>
            </a:endParaRPr>
          </a:p>
          <a:p>
            <a:pPr indent="-304800" lvl="0" marL="787400" rtl="0" algn="l"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200"/>
              <a:buAutoNum type="arabicPeriod"/>
            </a:pPr>
            <a:r>
              <a:rPr lang="en" sz="1200">
                <a:solidFill>
                  <a:srgbClr val="4C4C4C"/>
                </a:solidFill>
              </a:rPr>
              <a:t>A friend is complaining that his website is not appearing in Google Search. Why would that happen?</a:t>
            </a:r>
            <a:endParaRPr sz="1200">
              <a:solidFill>
                <a:srgbClr val="4C4C4C"/>
              </a:solidFill>
            </a:endParaRPr>
          </a:p>
          <a:p>
            <a:pPr indent="0" lvl="0" marL="0" rtl="0" algn="l">
              <a:spcBef>
                <a:spcPts val="28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LinkedIn</a:t>
            </a:r>
            <a:endParaRPr/>
          </a:p>
        </p:txBody>
      </p:sp>
      <p:sp>
        <p:nvSpPr>
          <p:cNvPr id="139" name="Google Shape;139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Onsite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/>
              <a:t>Strategy / Leadership </a:t>
            </a:r>
            <a:br>
              <a:rPr lang="en" sz="800"/>
            </a:br>
            <a:r>
              <a:rPr lang="en" sz="800"/>
              <a:t>As a PM in your current company, what metrics did you use to prioritize the roadmap? </a:t>
            </a:r>
            <a:br>
              <a:rPr lang="en" sz="800"/>
            </a:br>
            <a:r>
              <a:rPr lang="en" sz="800"/>
              <a:t>How did you convince the management and the engineering team that this was the key metric to focus on? </a:t>
            </a:r>
            <a:br>
              <a:rPr lang="en" sz="800"/>
            </a:br>
            <a:r>
              <a:rPr lang="en" sz="800"/>
              <a:t>What challenges did you face? </a:t>
            </a:r>
            <a:br>
              <a:rPr lang="en" sz="800"/>
            </a:br>
            <a:r>
              <a:rPr lang="en" sz="800"/>
              <a:t>What other metrics did you consider? </a:t>
            </a:r>
            <a:br>
              <a:rPr lang="en" sz="800"/>
            </a:br>
            <a:br>
              <a:rPr lang="en" sz="800"/>
            </a:br>
            <a:br>
              <a:rPr lang="en" sz="800"/>
            </a:br>
            <a:r>
              <a:rPr lang="en" sz="800"/>
              <a:t>Business Acumen / Leadership </a:t>
            </a:r>
            <a:br>
              <a:rPr lang="en" sz="800"/>
            </a:br>
            <a:r>
              <a:rPr lang="en" sz="800"/>
              <a:t>What is the competitive landscape of your product? </a:t>
            </a:r>
            <a:br>
              <a:rPr lang="en" sz="800"/>
            </a:br>
            <a:r>
              <a:rPr lang="en" sz="800"/>
              <a:t>How did you price your product - Explain the process of building the pricing model and tiering of your product?</a:t>
            </a:r>
            <a:br>
              <a:rPr lang="en" sz="800"/>
            </a:br>
            <a:br>
              <a:rPr lang="en" sz="800"/>
            </a:br>
            <a:br>
              <a:rPr lang="en" sz="800"/>
            </a:br>
            <a:r>
              <a:rPr lang="en" sz="800"/>
              <a:t>Product Design </a:t>
            </a:r>
            <a:br>
              <a:rPr lang="en" sz="800"/>
            </a:br>
            <a:r>
              <a:rPr lang="en" sz="800"/>
              <a:t>Build a product to track and manage KPIs </a:t>
            </a:r>
            <a:br>
              <a:rPr lang="en" sz="800"/>
            </a:br>
            <a:r>
              <a:rPr lang="en" sz="800"/>
              <a:t>What metrics would you use to measure the success? </a:t>
            </a:r>
            <a:br>
              <a:rPr lang="en" sz="800"/>
            </a:br>
            <a:br>
              <a:rPr lang="en" sz="800"/>
            </a:br>
            <a:br>
              <a:rPr lang="en" sz="800"/>
            </a:br>
            <a:r>
              <a:rPr lang="en" sz="800"/>
              <a:t>Market Sizing </a:t>
            </a:r>
            <a:br>
              <a:rPr lang="en" sz="800"/>
            </a:br>
            <a:r>
              <a:rPr lang="en" sz="800"/>
              <a:t>Jointly, what opportunities do Microsoft and LinkedIn have? </a:t>
            </a:r>
            <a:br>
              <a:rPr lang="en" sz="800"/>
            </a:br>
            <a:r>
              <a:rPr lang="en" sz="800"/>
              <a:t>Can you size the market for the opportunity? </a:t>
            </a:r>
            <a:br>
              <a:rPr lang="en" sz="800"/>
            </a:br>
            <a:r>
              <a:rPr lang="en" sz="800"/>
              <a:t>What are the risks to make it successful? </a:t>
            </a:r>
            <a:br>
              <a:rPr lang="en" sz="800"/>
            </a:br>
            <a:br>
              <a:rPr lang="en" sz="800"/>
            </a:br>
            <a:br>
              <a:rPr lang="en" sz="800"/>
            </a:br>
            <a:r>
              <a:rPr lang="en" sz="800"/>
              <a:t>Technical / System Design </a:t>
            </a:r>
            <a:br>
              <a:rPr lang="en" sz="800"/>
            </a:br>
            <a:r>
              <a:rPr lang="en" sz="800"/>
              <a:t>&lt;More conversational rather than a direct question.&gt; </a:t>
            </a:r>
            <a:br>
              <a:rPr lang="en" sz="800"/>
            </a:br>
            <a:r>
              <a:rPr lang="en" sz="800"/>
              <a:t>Topics: Data Fabric at Scale for LinkedIn, Microservice Architecture, HDFS/Gobblin/Kafka</a:t>
            </a:r>
            <a:endParaRPr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