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Roboto"/>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Roboto-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bold.fntdata"/><Relationship Id="rId23" Type="http://schemas.openxmlformats.org/officeDocument/2006/relationships/slide" Target="slides/slide18.xml"/><Relationship Id="rId67" Type="http://schemas.openxmlformats.org/officeDocument/2006/relationships/font" Target="fonts/Roboto-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earchenterpriseai.techtarget.com/definition/AI-Artificial-Intelligence"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earchenterpriseai.techtarget.com/definition/AI-Artificial-Intelligence"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7a06809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7a06809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407e09cf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407e09cf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77a06809e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77a06809e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77a06809e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77a06809e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7a06809e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7a06809e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7a06809e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7a06809e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77a06809e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77a06809e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77a06809e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7a06809e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7a06809e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7a06809e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84d57d794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84d57d794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77a06809e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77a06809e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875a935e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875a935e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77a06809e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77a06809e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4d57d794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84d57d794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407e09cf5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407e09cf5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84f592de0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84f592de0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52aa7892c275be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52aa7892c275be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84f592de0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84f592de0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https://searchenterpriseai.techtarget.com/definition/AI-Artificial-Intelligence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84f592de0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84f592de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rgbClr val="2200CC"/>
                </a:solidFill>
                <a:hlinkClick r:id="rId2">
                  <a:extLst>
                    <a:ext uri="{A12FA001-AC4F-418D-AE19-62706E023703}">
                      <ahyp:hlinkClr val="tx"/>
                    </a:ext>
                  </a:extLst>
                </a:hlinkClick>
              </a:rPr>
              <a:t>https://searchenterpriseai.techtarget.com/definition/AI-Artificial-Intelligence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77a06809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77a06809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4f6d952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4f6d952a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770798a61b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770798a61b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770798a61b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770798a61b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770798a61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70798a61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87ceae1e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87ceae1e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770798a61b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770798a61b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476f710b5826b87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476f710b5826b87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8774382d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8774382d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8774382d4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8774382d4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407e09cf5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407e09cf5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770798a61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770798a61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7732f77c7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7732f77c7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854e81417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854e81417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770798a61b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770798a61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407e09cf5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407e09cf5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407e09cf5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407e09cf5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407e09cf53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407e09cf53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07e09cf5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407e09cf5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407e09cf53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407e09cf53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854e8141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854e8141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407e09cf5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407e09cf5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7732f77c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7732f77c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407e09cf5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407e09cf5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40e0ac9c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40e0ac9c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42dc6fb6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42dc6fb6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42ee4b5c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42ee4b5c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779ae2b7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779ae2b7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779ae2b7f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779ae2b7f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engadget.com/2019-05-09-google-nest-smart-home-privacy.html?guccounter=1&amp;guce_referrer=aHR0cHM6Ly93d3cuZ29vZ2xlLmNvbS8&amp;guce_referrer_sig=AQAAADlRkd_DW_amdMr29h8tsO389iwFJsJ3qhNG_yeGKv7xhqwpq7MsP6xDx0Js6fCGoP3-TUlP_LDVRRXbOYmKQ5JiHJ3MSKC-OhWdnrXzqyCaqwzaM22vKT-3mg93ru6zqjN02VgOoHznNmHzNOZZQvCur2YE4T3SkXfMOr3R5H0N</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779ae2b7f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779ae2b7f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854e81417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854e81417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84b96c18f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84b96c18f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84b96c18f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84b96c18f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84b96c18f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84b96c18f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77577d5f7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77577d5f7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77577d5f7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77577d5f7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854e81417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854e81417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854e81417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854e81417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854e81417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854e81417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https://library.gv.com/how-to-choose-the-right-ux-metrics-for-your-product-5f46359ab5be</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84f592d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84f592d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84d57d79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84d57d79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oogle.com/about/produc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searchenterpriseai.techtarget.com/definition/expert-system" TargetMode="External"/><Relationship Id="rId4" Type="http://schemas.openxmlformats.org/officeDocument/2006/relationships/hyperlink" Target="https://searchbusinessanalytics.techtarget.com/definition/natural-language-processing-NLP" TargetMode="External"/><Relationship Id="rId5" Type="http://schemas.openxmlformats.org/officeDocument/2006/relationships/hyperlink" Target="https://searchenterpriseai.techtarget.com/definition/machine-vision-computer-visio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hyperlink" Target="https://link.medium.com/5uzqZeqvi6"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s://www.engadget.com/2018/11/08/facebook-portal-portal-plus-review/"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s://www.zdnet.com/article/google-raises-g-suite-prices-basic-from-5-per-user-a-month-to-6-business-from-10-to-12-per-user-a-month/" TargetMode="External"/><Relationship Id="rId4" Type="http://schemas.openxmlformats.org/officeDocument/2006/relationships/hyperlink" Target="https://www.zdnet.com/article/game-of-clouds-lock-in-is-coming/" TargetMode="External"/><Relationship Id="rId10" Type="http://schemas.openxmlformats.org/officeDocument/2006/relationships/hyperlink" Target="https://www.zdnet.com/article/multicloud-everything-you-need-to-know-about-the-biggest-trend-in-cloud-computing/" TargetMode="External"/><Relationship Id="rId9" Type="http://schemas.openxmlformats.org/officeDocument/2006/relationships/hyperlink" Target="https://www.zdnet.com/article/multicloud-everything-you-need-to-know-about-the-biggest-trend-in-cloud-computing/" TargetMode="External"/><Relationship Id="rId5" Type="http://schemas.openxmlformats.org/officeDocument/2006/relationships/hyperlink" Target="https://www.zdnet.com/article/game-of-clouds-lock-in-is-coming/" TargetMode="External"/><Relationship Id="rId6" Type="http://schemas.openxmlformats.org/officeDocument/2006/relationships/hyperlink" Target="https://www.zdnet.com/topic/managing-the-multicloud/" TargetMode="External"/><Relationship Id="rId7" Type="http://schemas.openxmlformats.org/officeDocument/2006/relationships/hyperlink" Target="https://www.zdnet.com/article/cloud-customers-pairing-aws-microsoft-azure-more-according-to-kentik/" TargetMode="External"/><Relationship Id="rId8" Type="http://schemas.openxmlformats.org/officeDocument/2006/relationships/hyperlink" Target="https://www.zdnet.com/article/cloud-customers-pairing-aws-microsoft-azure-more-according-to-kentik/"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youtubecreator.blogspot.com/2012/03/changes-to-related-and-recommended.html" TargetMode="External"/></Relationships>
</file>

<file path=ppt/slides/_rels/slide60.xml.rels><?xml version="1.0" encoding="UTF-8" standalone="yes"?><Relationships xmlns="http://schemas.openxmlformats.org/package/2006/relationships"><Relationship Id="rId11" Type="http://schemas.openxmlformats.org/officeDocument/2006/relationships/hyperlink" Target="https://gsuite.google.com/intl/en_uk/products/slides/" TargetMode="External"/><Relationship Id="rId10" Type="http://schemas.openxmlformats.org/officeDocument/2006/relationships/hyperlink" Target="https://gsuite.google.com/intl/en_uk/products/forms/" TargetMode="External"/><Relationship Id="rId13" Type="http://schemas.openxmlformats.org/officeDocument/2006/relationships/hyperlink" Target="https://gsuite.google.com/intl/en_uk/products/apps-script/" TargetMode="External"/><Relationship Id="rId12" Type="http://schemas.openxmlformats.org/officeDocument/2006/relationships/hyperlink" Target="https://gsuite.google.com/intl/en_uk/products/sites/" TargetMode="External"/><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gsuite.google.com/intl/en_uk/products/gmail/" TargetMode="External"/><Relationship Id="rId4" Type="http://schemas.openxmlformats.org/officeDocument/2006/relationships/hyperlink" Target="https://gsuite.google.com/intl/en_uk/products/calendar/" TargetMode="External"/><Relationship Id="rId9" Type="http://schemas.openxmlformats.org/officeDocument/2006/relationships/hyperlink" Target="https://gsuite.google.com/intl/en_uk/products/sheets/" TargetMode="External"/><Relationship Id="rId14" Type="http://schemas.openxmlformats.org/officeDocument/2006/relationships/hyperlink" Target="https://gsuite.google.com/intl/en_uk/products/keep/" TargetMode="External"/><Relationship Id="rId5" Type="http://schemas.openxmlformats.org/officeDocument/2006/relationships/hyperlink" Target="https://gsuite.google.com/intl/en_uk/products/googleplus/" TargetMode="External"/><Relationship Id="rId6" Type="http://schemas.openxmlformats.org/officeDocument/2006/relationships/hyperlink" Target="https://gsuite.google.com/intl/en_uk/products/hangouts/" TargetMode="External"/><Relationship Id="rId7" Type="http://schemas.openxmlformats.org/officeDocument/2006/relationships/hyperlink" Target="https://gsuite.google.com/intl/en_uk/products/hangouts-meet-hardware/" TargetMode="External"/><Relationship Id="rId8" Type="http://schemas.openxmlformats.org/officeDocument/2006/relationships/hyperlink" Target="https://gsuite.google.com/intl/en_uk/products/docs/"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Google Products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Products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u="sng">
                <a:solidFill>
                  <a:schemeClr val="hlink"/>
                </a:solidFill>
                <a:hlinkClick r:id="rId3"/>
              </a:rPr>
              <a:t>https://www.google.com/about/products/</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Internet users/Mobile users</a:t>
            </a:r>
            <a:endParaRPr/>
          </a:p>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Desktop Internet 600m In Western Markets, Mobile Internet 5B+ WW </a:t>
            </a:r>
            <a:endParaRPr>
              <a:solidFill>
                <a:schemeClr val="dk1"/>
              </a:solidFill>
            </a:endParaRPr>
          </a:p>
          <a:p>
            <a:pPr indent="0" lvl="0" marL="0" rtl="0" algn="l">
              <a:spcBef>
                <a:spcPts val="1600"/>
              </a:spcBef>
              <a:spcAft>
                <a:spcPts val="0"/>
              </a:spcAft>
              <a:buNone/>
            </a:pPr>
            <a:r>
              <a:t/>
            </a:r>
            <a:endParaRPr>
              <a:solidFill>
                <a:schemeClr val="dk1"/>
              </a:solidFill>
            </a:endParaRPr>
          </a:p>
          <a:p>
            <a:pPr indent="0" lvl="0" marL="0" rtl="0" algn="l">
              <a:spcBef>
                <a:spcPts val="1600"/>
              </a:spcBef>
              <a:spcAft>
                <a:spcPts val="0"/>
              </a:spcAft>
              <a:buNone/>
            </a:pPr>
            <a:r>
              <a:rPr lang="en">
                <a:solidFill>
                  <a:schemeClr val="dk1"/>
                </a:solidFill>
              </a:rPr>
              <a:t>		 	 	 		</a:t>
            </a:r>
            <a:endParaRPr>
              <a:solidFill>
                <a:schemeClr val="dk1"/>
              </a:solidFill>
            </a:endParaRPr>
          </a:p>
          <a:p>
            <a:pPr indent="0" lvl="0" marL="0" rtl="0" algn="l">
              <a:spcBef>
                <a:spcPts val="1600"/>
              </a:spcBef>
              <a:spcAft>
                <a:spcPts val="0"/>
              </a:spcAft>
              <a:buNone/>
            </a:pPr>
            <a:r>
              <a:rPr lang="en">
                <a:solidFill>
                  <a:schemeClr val="dk1"/>
                </a:solidFill>
              </a:rPr>
              <a:t>			</a:t>
            </a:r>
            <a:endParaRPr>
              <a:solidFill>
                <a:schemeClr val="dk1"/>
              </a:solidFill>
            </a:endParaRPr>
          </a:p>
          <a:p>
            <a:pPr indent="0" lvl="0" marL="0" rtl="0" algn="l">
              <a:spcBef>
                <a:spcPts val="1600"/>
              </a:spcBef>
              <a:spcAft>
                <a:spcPts val="0"/>
              </a:spcAft>
              <a:buNone/>
            </a:pPr>
            <a:r>
              <a:rPr lang="en">
                <a:solidFill>
                  <a:schemeClr val="dk1"/>
                </a:solidFill>
              </a:rPr>
              <a:t>				 			</a:t>
            </a:r>
            <a:endParaRPr>
              <a:solidFill>
                <a:schemeClr val="dk1"/>
              </a:solidFill>
            </a:endParaRPr>
          </a:p>
          <a:p>
            <a:pPr indent="0" lvl="0" marL="0" rtl="0" algn="l">
              <a:spcBef>
                <a:spcPts val="1600"/>
              </a:spcBef>
              <a:spcAft>
                <a:spcPts val="0"/>
              </a:spcAft>
              <a:buNone/>
            </a:pPr>
            <a:r>
              <a:rPr lang="en">
                <a:solidFill>
                  <a:schemeClr val="dk1"/>
                </a:solidFill>
              </a:rPr>
              <a:t>		</a:t>
            </a:r>
            <a:endParaRPr>
              <a:solidFill>
                <a:schemeClr val="dk1"/>
              </a:solidFill>
            </a:endParaRPr>
          </a:p>
          <a:p>
            <a:pPr indent="0" lvl="0" marL="0" rtl="0" algn="l">
              <a:spcBef>
                <a:spcPts val="1600"/>
              </a:spcBef>
              <a:spcAft>
                <a:spcPts val="0"/>
              </a:spcAft>
              <a:buClr>
                <a:schemeClr val="dk1"/>
              </a:buClr>
              <a:buSzPts val="1100"/>
              <a:buFont typeface="Arial"/>
              <a:buNone/>
            </a:pPr>
            <a:r>
              <a:t/>
            </a:r>
            <a:endParaRPr>
              <a:solidFill>
                <a:schemeClr val="dk1"/>
              </a:solidFill>
            </a:endParaRPr>
          </a:p>
          <a:p>
            <a:pPr indent="0" lvl="0" marL="0" rtl="0" algn="l">
              <a:spcBef>
                <a:spcPts val="160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l">
              <a:spcBef>
                <a:spcPts val="160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l">
              <a:spcBef>
                <a:spcPts val="160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l">
              <a:spcBef>
                <a:spcPts val="1600"/>
              </a:spcBef>
              <a:spcAft>
                <a:spcPts val="1600"/>
              </a:spcAft>
              <a:buNone/>
            </a:pPr>
            <a:r>
              <a:t/>
            </a:r>
            <a:endParaRPr/>
          </a:p>
        </p:txBody>
      </p:sp>
      <p:pic>
        <p:nvPicPr>
          <p:cNvPr id="74" name="Google Shape;74;p16"/>
          <p:cNvPicPr preferRelativeResize="0"/>
          <p:nvPr/>
        </p:nvPicPr>
        <p:blipFill>
          <a:blip r:embed="rId3">
            <a:alphaModFix/>
          </a:blip>
          <a:stretch>
            <a:fillRect/>
          </a:stretch>
        </p:blipFill>
        <p:spPr>
          <a:xfrm>
            <a:off x="450089" y="1727100"/>
            <a:ext cx="6060913" cy="3416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81" name="Google Shape;81;p17"/>
          <p:cNvPicPr preferRelativeResize="0"/>
          <p:nvPr/>
        </p:nvPicPr>
        <p:blipFill>
          <a:blip r:embed="rId3">
            <a:alphaModFix/>
          </a:blip>
          <a:stretch>
            <a:fillRect/>
          </a:stretch>
        </p:blipFill>
        <p:spPr>
          <a:xfrm>
            <a:off x="586538" y="563723"/>
            <a:ext cx="7970927" cy="4253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88" name="Google Shape;88;p18"/>
          <p:cNvPicPr preferRelativeResize="0"/>
          <p:nvPr/>
        </p:nvPicPr>
        <p:blipFill>
          <a:blip r:embed="rId3">
            <a:alphaModFix/>
          </a:blip>
          <a:stretch>
            <a:fillRect/>
          </a:stretch>
        </p:blipFill>
        <p:spPr>
          <a:xfrm>
            <a:off x="0" y="785556"/>
            <a:ext cx="9144002" cy="35723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94" name="Google Shape;94;p19"/>
          <p:cNvPicPr preferRelativeResize="0"/>
          <p:nvPr/>
        </p:nvPicPr>
        <p:blipFill>
          <a:blip r:embed="rId3">
            <a:alphaModFix/>
          </a:blip>
          <a:stretch>
            <a:fillRect/>
          </a:stretch>
        </p:blipFill>
        <p:spPr>
          <a:xfrm>
            <a:off x="0" y="756095"/>
            <a:ext cx="9144002" cy="363131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0"/>
          <p:cNvPicPr preferRelativeResize="0"/>
          <p:nvPr/>
        </p:nvPicPr>
        <p:blipFill>
          <a:blip r:embed="rId3">
            <a:alphaModFix/>
          </a:blip>
          <a:stretch>
            <a:fillRect/>
          </a:stretch>
        </p:blipFill>
        <p:spPr>
          <a:xfrm>
            <a:off x="629826" y="0"/>
            <a:ext cx="7214376" cy="4740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06" name="Google Shape;106;p21"/>
          <p:cNvPicPr preferRelativeResize="0"/>
          <p:nvPr/>
        </p:nvPicPr>
        <p:blipFill>
          <a:blip r:embed="rId3">
            <a:alphaModFix/>
          </a:blip>
          <a:stretch>
            <a:fillRect/>
          </a:stretch>
        </p:blipFill>
        <p:spPr>
          <a:xfrm>
            <a:off x="166015" y="0"/>
            <a:ext cx="881197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3" name="Google Shape;113;p22"/>
          <p:cNvPicPr preferRelativeResize="0"/>
          <p:nvPr/>
        </p:nvPicPr>
        <p:blipFill>
          <a:blip r:embed="rId3">
            <a:alphaModFix/>
          </a:blip>
          <a:stretch>
            <a:fillRect/>
          </a:stretch>
        </p:blipFill>
        <p:spPr>
          <a:xfrm>
            <a:off x="166015" y="0"/>
            <a:ext cx="881197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mission and Slogan</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 </a:t>
            </a:r>
            <a:endParaRPr/>
          </a:p>
          <a:p>
            <a:pPr indent="-342900" lvl="0" marL="457200" rtl="0" algn="l">
              <a:spcBef>
                <a:spcPts val="1600"/>
              </a:spcBef>
              <a:spcAft>
                <a:spcPts val="0"/>
              </a:spcAft>
              <a:buSzPts val="1800"/>
              <a:buChar char="-"/>
            </a:pPr>
            <a:r>
              <a:rPr lang="en"/>
              <a:t>building a hopeful Google for everyone</a:t>
            </a:r>
            <a:endParaRPr/>
          </a:p>
          <a:p>
            <a:pPr indent="-317500" lvl="1" marL="914400" rtl="0" algn="l">
              <a:spcBef>
                <a:spcPts val="0"/>
              </a:spcBef>
              <a:spcAft>
                <a:spcPts val="0"/>
              </a:spcAft>
              <a:buSzPts val="1400"/>
              <a:buChar char="-"/>
            </a:pPr>
            <a:r>
              <a:rPr lang="en"/>
              <a:t>Experience</a:t>
            </a:r>
            <a:r>
              <a:rPr lang="en"/>
              <a:t> in lost cost phone company</a:t>
            </a:r>
            <a:endParaRPr/>
          </a:p>
          <a:p>
            <a:pPr indent="-317500" lvl="1" marL="914400" rtl="0" algn="l">
              <a:spcBef>
                <a:spcPts val="0"/>
              </a:spcBef>
              <a:spcAft>
                <a:spcPts val="0"/>
              </a:spcAft>
              <a:buSzPts val="1400"/>
              <a:buChar char="-"/>
            </a:pPr>
            <a:r>
              <a:rPr lang="en"/>
              <a:t>Education in all </a:t>
            </a:r>
            <a:r>
              <a:rPr lang="en"/>
              <a:t>classes</a:t>
            </a:r>
            <a:endParaRPr/>
          </a:p>
          <a:p>
            <a:pPr indent="-317500" lvl="1" marL="914400" rtl="0" algn="l">
              <a:spcBef>
                <a:spcPts val="0"/>
              </a:spcBef>
              <a:spcAft>
                <a:spcPts val="0"/>
              </a:spcAft>
              <a:buSzPts val="1400"/>
              <a:buChar char="-"/>
            </a:pPr>
            <a:r>
              <a:rPr lang="en"/>
              <a:t>Free training (grow with Google)</a:t>
            </a:r>
            <a:endParaRPr/>
          </a:p>
          <a:p>
            <a:pPr indent="-342900" lvl="0" marL="457200" rtl="0" algn="l">
              <a:spcBef>
                <a:spcPts val="0"/>
              </a:spcBef>
              <a:spcAft>
                <a:spcPts val="0"/>
              </a:spcAft>
              <a:buSzPts val="1800"/>
              <a:buChar char="-"/>
            </a:pPr>
            <a:r>
              <a:rPr lang="en"/>
              <a:t>Privacy and security for everyone</a:t>
            </a:r>
            <a:endParaRPr/>
          </a:p>
          <a:p>
            <a:pPr indent="-317500" lvl="1" marL="914400" rtl="0" algn="l">
              <a:spcBef>
                <a:spcPts val="0"/>
              </a:spcBef>
              <a:spcAft>
                <a:spcPts val="0"/>
              </a:spcAft>
              <a:buSzPts val="1400"/>
              <a:buChar char="-"/>
            </a:pPr>
            <a:r>
              <a:rPr lang="en"/>
              <a:t>AI for veryone </a:t>
            </a:r>
            <a:endParaRPr/>
          </a:p>
          <a:p>
            <a:pPr indent="-317500" lvl="1" marL="914400" rtl="0" algn="l">
              <a:spcBef>
                <a:spcPts val="0"/>
              </a:spcBef>
              <a:spcAft>
                <a:spcPts val="0"/>
              </a:spcAft>
              <a:buSzPts val="1400"/>
              <a:buChar char="-"/>
            </a:pPr>
            <a:r>
              <a:rPr lang="en"/>
              <a:t>TCAP ( train to detect the zebra)</a:t>
            </a:r>
            <a:endParaRPr/>
          </a:p>
          <a:p>
            <a:pPr indent="-317500" lvl="2" marL="1371600" rtl="0" algn="l">
              <a:spcBef>
                <a:spcPts val="0"/>
              </a:spcBef>
              <a:spcAft>
                <a:spcPts val="0"/>
              </a:spcAft>
              <a:buSzPts val="1400"/>
              <a:buChar char="-"/>
            </a:pPr>
            <a:r>
              <a:rPr lang="en"/>
              <a:t>Variable to decide</a:t>
            </a:r>
            <a:endParaRPr/>
          </a:p>
          <a:p>
            <a:pPr indent="-317500" lvl="2" marL="1371600" rtl="0" algn="l">
              <a:spcBef>
                <a:spcPts val="0"/>
              </a:spcBef>
              <a:spcAft>
                <a:spcPts val="0"/>
              </a:spcAft>
              <a:buSzPts val="1400"/>
              <a:buChar char="-"/>
            </a:pPr>
            <a:r>
              <a:rPr lang="en"/>
              <a:t>Concept of stripes is important preductor for moel</a:t>
            </a:r>
            <a:endParaRPr/>
          </a:p>
          <a:p>
            <a:pPr indent="-317500" lvl="2" marL="1371600" rtl="0" algn="l">
              <a:spcBef>
                <a:spcPts val="0"/>
              </a:spcBef>
              <a:spcAft>
                <a:spcPts val="0"/>
              </a:spcAft>
              <a:buSzPts val="1400"/>
              <a:buChar char="-"/>
            </a:pPr>
            <a:r>
              <a:rPr lang="en"/>
              <a:t>Picture od doctor, male </a:t>
            </a:r>
            <a:r>
              <a:rPr lang="en"/>
              <a:t>wearing</a:t>
            </a:r>
            <a:r>
              <a:rPr lang="en"/>
              <a:t> coat and stetocope</a:t>
            </a:r>
            <a:endParaRPr/>
          </a:p>
          <a:p>
            <a:pPr indent="-317500" lvl="2" marL="1371600" rtl="0" algn="l">
              <a:spcBef>
                <a:spcPts val="0"/>
              </a:spcBef>
              <a:spcAft>
                <a:spcPts val="0"/>
              </a:spcAft>
              <a:buSzPts val="1400"/>
              <a:buChar char="-"/>
            </a:pPr>
            <a:r>
              <a:rPr lang="en"/>
              <a:t>Skin - wide varietu of skin tone ( AI which is fair which)</a:t>
            </a:r>
            <a:endParaRPr/>
          </a:p>
          <a:p>
            <a:pPr indent="-317500" lvl="2" marL="1371600" rtl="0" algn="l">
              <a:spcBef>
                <a:spcPts val="0"/>
              </a:spcBef>
              <a:spcAft>
                <a:spcPts val="0"/>
              </a:spcAft>
              <a:buSzPts val="1400"/>
              <a:buChar char="-"/>
            </a:pPr>
            <a:r>
              <a:rPr lang="en"/>
              <a:t>Reducing bIas </a:t>
            </a:r>
            <a:endParaRPr/>
          </a:p>
          <a:p>
            <a:pPr indent="-317500" lvl="2" marL="1371600" rtl="0" algn="l">
              <a:spcBef>
                <a:spcPts val="0"/>
              </a:spcBef>
              <a:spcAft>
                <a:spcPts val="0"/>
              </a:spcAft>
              <a:buSzPts val="1400"/>
              <a:buChar char="-"/>
            </a:pPr>
            <a:r>
              <a:rPr lang="en"/>
              <a:t>Safe , secure and private (clear meaningful) - ignotio/ activity/ auto delete ( how long you wnat t be saved) odl data will be deleted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Google mission and Slogan (more helpful Google)</a:t>
            </a:r>
            <a:endParaRPr/>
          </a:p>
          <a:p>
            <a:pPr indent="0" lvl="0" marL="0" rtl="0" algn="l">
              <a:spcBef>
                <a:spcPts val="0"/>
              </a:spcBef>
              <a:spcAft>
                <a:spcPts val="0"/>
              </a:spcAft>
              <a:buNone/>
            </a:pPr>
            <a:r>
              <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Igcognito in App ( places to search and will be saved in map )</a:t>
            </a:r>
            <a:endParaRPr/>
          </a:p>
          <a:p>
            <a:pPr indent="-342900" lvl="0" marL="457200" rtl="0" algn="l">
              <a:spcBef>
                <a:spcPts val="1600"/>
              </a:spcBef>
              <a:spcAft>
                <a:spcPts val="0"/>
              </a:spcAft>
              <a:buSzPts val="1800"/>
              <a:buChar char="-"/>
            </a:pPr>
            <a:r>
              <a:rPr lang="en"/>
              <a:t>Live transacript</a:t>
            </a:r>
            <a:endParaRPr/>
          </a:p>
          <a:p>
            <a:pPr indent="-342900" lvl="0" marL="457200" rtl="0" algn="l">
              <a:spcBef>
                <a:spcPts val="0"/>
              </a:spcBef>
              <a:spcAft>
                <a:spcPts val="0"/>
              </a:spcAft>
              <a:buSzPts val="1800"/>
              <a:buChar char="-"/>
            </a:pPr>
            <a:r>
              <a:rPr lang="en"/>
              <a:t>Live caption</a:t>
            </a:r>
            <a:endParaRPr/>
          </a:p>
          <a:p>
            <a:pPr indent="-342900" lvl="0" marL="457200" rtl="0" algn="l">
              <a:spcBef>
                <a:spcPts val="0"/>
              </a:spcBef>
              <a:spcAft>
                <a:spcPts val="0"/>
              </a:spcAft>
              <a:buSzPts val="1800"/>
              <a:buChar char="-"/>
            </a:pPr>
            <a:r>
              <a:rPr lang="en"/>
              <a:t>Understand</a:t>
            </a:r>
            <a:r>
              <a:rPr lang="en"/>
              <a:t> eye </a:t>
            </a:r>
            <a:r>
              <a:rPr lang="en"/>
              <a:t>expression</a:t>
            </a:r>
            <a:r>
              <a:rPr lang="en"/>
              <a:t> and covert that in speech</a:t>
            </a:r>
            <a:endParaRPr/>
          </a:p>
          <a:p>
            <a:pPr indent="-342900" lvl="0" marL="457200" rtl="0" algn="l">
              <a:spcBef>
                <a:spcPts val="0"/>
              </a:spcBef>
              <a:spcAft>
                <a:spcPts val="0"/>
              </a:spcAft>
              <a:buSzPts val="1800"/>
              <a:buChar char="-"/>
            </a:pPr>
            <a:r>
              <a:rPr lang="en"/>
              <a:t>Read </a:t>
            </a:r>
            <a:r>
              <a:rPr lang="en"/>
              <a:t>different</a:t>
            </a:r>
            <a:r>
              <a:rPr lang="en"/>
              <a:t> type of </a:t>
            </a:r>
            <a:r>
              <a:rPr lang="en"/>
              <a:t>voice</a:t>
            </a:r>
            <a:r>
              <a:rPr lang="en"/>
              <a:t> disablity ajd convert that in speech</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Weakness</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Hardware is their 2nd class citizen</a:t>
            </a:r>
            <a:endParaRPr/>
          </a:p>
          <a:p>
            <a:pPr indent="-342900" lvl="0" marL="457200" rtl="0" algn="l">
              <a:spcBef>
                <a:spcPts val="0"/>
              </a:spcBef>
              <a:spcAft>
                <a:spcPts val="0"/>
              </a:spcAft>
              <a:buSzPts val="1800"/>
              <a:buAutoNum type="arabicPeriod"/>
            </a:pPr>
            <a:r>
              <a:rPr lang="en"/>
              <a:t>Minimal physical presence</a:t>
            </a:r>
            <a:endParaRPr/>
          </a:p>
          <a:p>
            <a:pPr indent="-342900" lvl="0" marL="457200" rtl="0" algn="l">
              <a:spcBef>
                <a:spcPts val="0"/>
              </a:spcBef>
              <a:spcAft>
                <a:spcPts val="0"/>
              </a:spcAft>
              <a:buSzPts val="1800"/>
              <a:buAutoNum type="arabicPeriod"/>
            </a:pPr>
            <a:r>
              <a:rPr lang="en"/>
              <a:t>Relies on one source of income (ads)</a:t>
            </a:r>
            <a:endParaRPr/>
          </a:p>
          <a:p>
            <a:pPr indent="-342900" lvl="0" marL="457200" rtl="0" algn="l">
              <a:spcBef>
                <a:spcPts val="0"/>
              </a:spcBef>
              <a:spcAft>
                <a:spcPts val="0"/>
              </a:spcAft>
              <a:buSzPts val="1800"/>
              <a:buAutoNum type="arabicPeriod"/>
            </a:pPr>
            <a:r>
              <a:rPr lang="en"/>
              <a:t>Confusion in customer mind about multiple products</a:t>
            </a:r>
            <a:endParaRPr/>
          </a:p>
          <a:p>
            <a:pPr indent="-317500" lvl="1" marL="914400" rtl="0" algn="l">
              <a:spcBef>
                <a:spcPts val="0"/>
              </a:spcBef>
              <a:spcAft>
                <a:spcPts val="0"/>
              </a:spcAft>
              <a:buSzPts val="1400"/>
              <a:buAutoNum type="alphaLcPeriod"/>
            </a:pPr>
            <a:r>
              <a:rPr lang="en"/>
              <a:t>Android tv vs chromecast</a:t>
            </a:r>
            <a:endParaRPr/>
          </a:p>
          <a:p>
            <a:pPr indent="-317500" lvl="1" marL="914400" rtl="0" algn="l">
              <a:spcBef>
                <a:spcPts val="0"/>
              </a:spcBef>
              <a:spcAft>
                <a:spcPts val="0"/>
              </a:spcAft>
              <a:buSzPts val="1400"/>
              <a:buAutoNum type="alphaLcPeriod"/>
            </a:pPr>
            <a:r>
              <a:rPr lang="en"/>
              <a:t>Duo vs hangout vs meet</a:t>
            </a:r>
            <a:endParaRPr/>
          </a:p>
          <a:p>
            <a:pPr indent="-317500" lvl="1" marL="914400" rtl="0" algn="l">
              <a:spcBef>
                <a:spcPts val="0"/>
              </a:spcBef>
              <a:spcAft>
                <a:spcPts val="0"/>
              </a:spcAft>
              <a:buSzPts val="1400"/>
              <a:buAutoNum type="alphaLcPeriod"/>
            </a:pPr>
            <a:r>
              <a:rPr lang="en"/>
              <a:t>Youtube music vs google music</a:t>
            </a:r>
            <a:endParaRPr/>
          </a:p>
          <a:p>
            <a:pPr indent="-342900" lvl="0" marL="457200" rtl="0" algn="l">
              <a:spcBef>
                <a:spcPts val="0"/>
              </a:spcBef>
              <a:spcAft>
                <a:spcPts val="0"/>
              </a:spcAft>
              <a:buSzPts val="1800"/>
              <a:buAutoNum type="arabicPeriod"/>
            </a:pPr>
            <a:r>
              <a:rPr lang="en"/>
              <a:t>Lack of logistics chops</a:t>
            </a:r>
            <a:endParaRPr/>
          </a:p>
          <a:p>
            <a:pPr indent="-342900" lvl="0" marL="457200" rtl="0" algn="l">
              <a:spcBef>
                <a:spcPts val="0"/>
              </a:spcBef>
              <a:spcAft>
                <a:spcPts val="0"/>
              </a:spcAft>
              <a:buSzPts val="1800"/>
              <a:buAutoNum type="arabicPeriod"/>
            </a:pPr>
            <a:r>
              <a:rPr lang="en"/>
              <a:t>Increased </a:t>
            </a:r>
            <a:r>
              <a:rPr lang="en"/>
              <a:t>scrutiny</a:t>
            </a:r>
            <a:r>
              <a:rPr lang="en"/>
              <a:t> from regulators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android</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innovation/security and privacy</a:t>
            </a:r>
            <a:endParaRPr/>
          </a:p>
          <a:p>
            <a:pPr indent="-342900" lvl="0" marL="457200" rtl="0" algn="l">
              <a:spcBef>
                <a:spcPts val="1600"/>
              </a:spcBef>
              <a:spcAft>
                <a:spcPts val="0"/>
              </a:spcAft>
              <a:buSzPts val="1800"/>
              <a:buChar char="-"/>
            </a:pPr>
            <a:r>
              <a:rPr lang="en"/>
              <a:t>On device learning</a:t>
            </a:r>
            <a:endParaRPr/>
          </a:p>
          <a:p>
            <a:pPr indent="-342900" lvl="0" marL="457200" rtl="0" algn="l">
              <a:spcBef>
                <a:spcPts val="0"/>
              </a:spcBef>
              <a:spcAft>
                <a:spcPts val="0"/>
              </a:spcAft>
              <a:buSzPts val="1800"/>
              <a:buChar char="-"/>
            </a:pPr>
            <a:r>
              <a:rPr lang="en"/>
              <a:t>Privacy ( share)- activity/loaction</a:t>
            </a:r>
            <a:endParaRPr/>
          </a:p>
          <a:p>
            <a:pPr indent="-342900" lvl="0" marL="457200" rtl="0" algn="l">
              <a:spcBef>
                <a:spcPts val="0"/>
              </a:spcBef>
              <a:spcAft>
                <a:spcPts val="0"/>
              </a:spcAft>
              <a:buSzPts val="1800"/>
              <a:buChar char="-"/>
            </a:pPr>
            <a:r>
              <a:rPr lang="en"/>
              <a:t>Security and privacy</a:t>
            </a:r>
            <a:endParaRPr/>
          </a:p>
          <a:p>
            <a:pPr indent="-342900" lvl="0" marL="457200" rtl="0" algn="l">
              <a:spcBef>
                <a:spcPts val="0"/>
              </a:spcBef>
              <a:spcAft>
                <a:spcPts val="0"/>
              </a:spcAft>
              <a:buSzPts val="1800"/>
              <a:buChar char="-"/>
            </a:pPr>
            <a:r>
              <a:rPr lang="en"/>
              <a:t>File based encryption</a:t>
            </a:r>
            <a:endParaRPr/>
          </a:p>
          <a:p>
            <a:pPr indent="-342900" lvl="0" marL="457200" rtl="0" algn="l">
              <a:spcBef>
                <a:spcPts val="0"/>
              </a:spcBef>
              <a:spcAft>
                <a:spcPts val="0"/>
              </a:spcAft>
              <a:buSzPts val="1800"/>
              <a:buChar char="-"/>
            </a:pPr>
            <a:r>
              <a:rPr lang="en"/>
              <a:t>Work profilles</a:t>
            </a:r>
            <a:endParaRPr/>
          </a:p>
          <a:p>
            <a:pPr indent="-342900" lvl="0" marL="457200" rtl="0" algn="l">
              <a:spcBef>
                <a:spcPts val="0"/>
              </a:spcBef>
              <a:spcAft>
                <a:spcPts val="0"/>
              </a:spcAft>
              <a:buSzPts val="1800"/>
              <a:buChar char="-"/>
            </a:pPr>
            <a:r>
              <a:rPr lang="en"/>
              <a:t>Google play protect ( 60 millin apps)</a:t>
            </a:r>
            <a:endParaRPr/>
          </a:p>
          <a:p>
            <a:pPr indent="-342900" lvl="0" marL="457200" rtl="0" algn="l">
              <a:spcBef>
                <a:spcPts val="0"/>
              </a:spcBef>
              <a:spcAft>
                <a:spcPts val="0"/>
              </a:spcAft>
              <a:buSzPts val="1800"/>
              <a:buChar char="-"/>
            </a:pPr>
            <a:r>
              <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Think BIG ideaa</a:t>
            </a:r>
            <a:endParaRPr/>
          </a:p>
        </p:txBody>
      </p:sp>
      <p:sp>
        <p:nvSpPr>
          <p:cNvPr id="143" name="Google Shape;143;p27"/>
          <p:cNvSpPr txBox="1"/>
          <p:nvPr>
            <p:ph idx="1" type="body"/>
          </p:nvPr>
        </p:nvSpPr>
        <p:spPr>
          <a:xfrm>
            <a:off x="-3363362" y="3208288"/>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 Products</a:t>
            </a:r>
            <a:endParaRPr/>
          </a:p>
        </p:txBody>
      </p:sp>
      <p:sp>
        <p:nvSpPr>
          <p:cNvPr id="149" name="Google Shape;149;p28"/>
          <p:cNvSpPr txBox="1"/>
          <p:nvPr>
            <p:ph idx="1" type="body"/>
          </p:nvPr>
        </p:nvSpPr>
        <p:spPr>
          <a:xfrm>
            <a:off x="311700" y="101772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F0000"/>
              </a:buClr>
              <a:buSzPts val="1400"/>
              <a:buAutoNum type="arabicPeriod"/>
            </a:pPr>
            <a:r>
              <a:rPr lang="en">
                <a:solidFill>
                  <a:srgbClr val="FF0000"/>
                </a:solidFill>
              </a:rPr>
              <a:t>Gmail</a:t>
            </a:r>
            <a:endParaRPr>
              <a:solidFill>
                <a:srgbClr val="FF0000"/>
              </a:solidFill>
            </a:endParaRPr>
          </a:p>
          <a:p>
            <a:pPr indent="-317500" lvl="0" marL="457200" rtl="0" algn="l">
              <a:spcBef>
                <a:spcPts val="0"/>
              </a:spcBef>
              <a:spcAft>
                <a:spcPts val="0"/>
              </a:spcAft>
              <a:buClr>
                <a:srgbClr val="FF0000"/>
              </a:buClr>
              <a:buSzPts val="1400"/>
              <a:buAutoNum type="arabicPeriod"/>
            </a:pPr>
            <a:r>
              <a:rPr lang="en">
                <a:solidFill>
                  <a:srgbClr val="FF0000"/>
                </a:solidFill>
              </a:rPr>
              <a:t>Google.com</a:t>
            </a:r>
            <a:endParaRPr>
              <a:solidFill>
                <a:srgbClr val="FF0000"/>
              </a:solidFill>
            </a:endParaRPr>
          </a:p>
          <a:p>
            <a:pPr indent="-317500" lvl="0" marL="457200" rtl="0" algn="l">
              <a:spcBef>
                <a:spcPts val="0"/>
              </a:spcBef>
              <a:spcAft>
                <a:spcPts val="0"/>
              </a:spcAft>
              <a:buClr>
                <a:srgbClr val="FF0000"/>
              </a:buClr>
              <a:buSzPts val="1400"/>
              <a:buAutoNum type="arabicPeriod"/>
            </a:pPr>
            <a:r>
              <a:rPr b="1" lang="en">
                <a:solidFill>
                  <a:srgbClr val="FF0000"/>
                </a:solidFill>
              </a:rPr>
              <a:t>Youtube</a:t>
            </a:r>
            <a:endParaRPr b="1">
              <a:solidFill>
                <a:srgbClr val="FF0000"/>
              </a:solidFill>
            </a:endParaRPr>
          </a:p>
          <a:p>
            <a:pPr indent="-317500" lvl="0" marL="457200" rtl="0" algn="l">
              <a:spcBef>
                <a:spcPts val="0"/>
              </a:spcBef>
              <a:spcAft>
                <a:spcPts val="0"/>
              </a:spcAft>
              <a:buClr>
                <a:srgbClr val="FF0000"/>
              </a:buClr>
              <a:buSzPts val="1400"/>
              <a:buAutoNum type="arabicPeriod"/>
            </a:pPr>
            <a:r>
              <a:rPr lang="en">
                <a:solidFill>
                  <a:srgbClr val="FF0000"/>
                </a:solidFill>
              </a:rPr>
              <a:t>Google Maps</a:t>
            </a:r>
            <a:endParaRPr>
              <a:solidFill>
                <a:srgbClr val="FF0000"/>
              </a:solidFill>
            </a:endParaRPr>
          </a:p>
          <a:p>
            <a:pPr indent="-317500" lvl="0" marL="457200" rtl="0" algn="l">
              <a:spcBef>
                <a:spcPts val="0"/>
              </a:spcBef>
              <a:spcAft>
                <a:spcPts val="0"/>
              </a:spcAft>
              <a:buClr>
                <a:srgbClr val="FF0000"/>
              </a:buClr>
              <a:buSzPts val="1400"/>
              <a:buAutoNum type="arabicPeriod"/>
            </a:pPr>
            <a:r>
              <a:rPr b="1" lang="en">
                <a:solidFill>
                  <a:srgbClr val="FF0000"/>
                </a:solidFill>
              </a:rPr>
              <a:t>Google Photos</a:t>
            </a:r>
            <a:endParaRPr b="1">
              <a:solidFill>
                <a:srgbClr val="FF0000"/>
              </a:solidFill>
            </a:endParaRPr>
          </a:p>
          <a:p>
            <a:pPr indent="-317500" lvl="0" marL="457200" rtl="0" algn="l">
              <a:spcBef>
                <a:spcPts val="0"/>
              </a:spcBef>
              <a:spcAft>
                <a:spcPts val="0"/>
              </a:spcAft>
              <a:buSzPts val="1400"/>
              <a:buAutoNum type="arabicPeriod"/>
            </a:pPr>
            <a:r>
              <a:rPr lang="en"/>
              <a:t>Google Hangout</a:t>
            </a:r>
            <a:endParaRPr/>
          </a:p>
          <a:p>
            <a:pPr indent="-317500" lvl="0" marL="457200" rtl="0" algn="l">
              <a:spcBef>
                <a:spcPts val="0"/>
              </a:spcBef>
              <a:spcAft>
                <a:spcPts val="0"/>
              </a:spcAft>
              <a:buClr>
                <a:srgbClr val="FF0000"/>
              </a:buClr>
              <a:buSzPts val="1400"/>
              <a:buAutoNum type="arabicPeriod"/>
            </a:pPr>
            <a:r>
              <a:rPr lang="en">
                <a:solidFill>
                  <a:srgbClr val="FF0000"/>
                </a:solidFill>
              </a:rPr>
              <a:t>Google Pixel</a:t>
            </a:r>
            <a:endParaRPr>
              <a:solidFill>
                <a:srgbClr val="FF0000"/>
              </a:solidFill>
            </a:endParaRPr>
          </a:p>
          <a:p>
            <a:pPr indent="-317500" lvl="0" marL="457200" rtl="0" algn="l">
              <a:spcBef>
                <a:spcPts val="0"/>
              </a:spcBef>
              <a:spcAft>
                <a:spcPts val="0"/>
              </a:spcAft>
              <a:buSzPts val="1400"/>
              <a:buAutoNum type="arabicPeriod"/>
            </a:pPr>
            <a:r>
              <a:rPr lang="en"/>
              <a:t>Android</a:t>
            </a:r>
            <a:endParaRPr/>
          </a:p>
          <a:p>
            <a:pPr indent="-317500" lvl="0" marL="457200" rtl="0" algn="l">
              <a:spcBef>
                <a:spcPts val="0"/>
              </a:spcBef>
              <a:spcAft>
                <a:spcPts val="0"/>
              </a:spcAft>
              <a:buClr>
                <a:srgbClr val="FF0000"/>
              </a:buClr>
              <a:buSzPts val="1400"/>
              <a:buAutoNum type="arabicPeriod"/>
            </a:pPr>
            <a:r>
              <a:rPr b="1" lang="en">
                <a:solidFill>
                  <a:srgbClr val="FF0000"/>
                </a:solidFill>
              </a:rPr>
              <a:t>Google Home</a:t>
            </a:r>
            <a:endParaRPr b="1">
              <a:solidFill>
                <a:srgbClr val="FF0000"/>
              </a:solidFill>
            </a:endParaRPr>
          </a:p>
          <a:p>
            <a:pPr indent="-317500" lvl="0" marL="457200" rtl="0" algn="l">
              <a:spcBef>
                <a:spcPts val="0"/>
              </a:spcBef>
              <a:spcAft>
                <a:spcPts val="0"/>
              </a:spcAft>
              <a:buSzPts val="1400"/>
              <a:buAutoNum type="arabicPeriod"/>
            </a:pPr>
            <a:r>
              <a:rPr lang="en"/>
              <a:t>Cardboard VR</a:t>
            </a:r>
            <a:endParaRPr/>
          </a:p>
          <a:p>
            <a:pPr indent="-317500" lvl="0" marL="457200" rtl="0" algn="l">
              <a:spcBef>
                <a:spcPts val="0"/>
              </a:spcBef>
              <a:spcAft>
                <a:spcPts val="0"/>
              </a:spcAft>
              <a:buClr>
                <a:srgbClr val="FF0000"/>
              </a:buClr>
              <a:buSzPts val="1400"/>
              <a:buAutoNum type="arabicPeriod"/>
            </a:pPr>
            <a:r>
              <a:rPr lang="en">
                <a:solidFill>
                  <a:srgbClr val="FF0000"/>
                </a:solidFill>
              </a:rPr>
              <a:t>Google Wallet/Google Pay</a:t>
            </a:r>
            <a:endParaRPr>
              <a:solidFill>
                <a:srgbClr val="FF0000"/>
              </a:solidFill>
            </a:endParaRPr>
          </a:p>
          <a:p>
            <a:pPr indent="-317500" lvl="0" marL="457200" rtl="0" algn="l">
              <a:spcBef>
                <a:spcPts val="0"/>
              </a:spcBef>
              <a:spcAft>
                <a:spcPts val="0"/>
              </a:spcAft>
              <a:buSzPts val="1400"/>
              <a:buAutoNum type="arabicPeriod"/>
            </a:pPr>
            <a:r>
              <a:rPr lang="en"/>
              <a:t>Translate</a:t>
            </a:r>
            <a:endParaRPr/>
          </a:p>
          <a:p>
            <a:pPr indent="-317500" lvl="0" marL="457200" rtl="0" algn="l">
              <a:spcBef>
                <a:spcPts val="0"/>
              </a:spcBef>
              <a:spcAft>
                <a:spcPts val="0"/>
              </a:spcAft>
              <a:buSzPts val="1400"/>
              <a:buAutoNum type="arabicPeriod"/>
            </a:pPr>
            <a:r>
              <a:rPr lang="en"/>
              <a:t>Chrome</a:t>
            </a:r>
            <a:endParaRPr/>
          </a:p>
          <a:p>
            <a:pPr indent="-317500" lvl="0" marL="457200" rtl="0" algn="l">
              <a:spcBef>
                <a:spcPts val="0"/>
              </a:spcBef>
              <a:spcAft>
                <a:spcPts val="0"/>
              </a:spcAft>
              <a:buSzPts val="1400"/>
              <a:buAutoNum type="arabicPeriod"/>
            </a:pPr>
            <a:r>
              <a:rPr lang="en"/>
              <a:t>App store</a:t>
            </a:r>
            <a:endParaRPr/>
          </a:p>
          <a:p>
            <a:pPr indent="0" lvl="0" marL="457200" rtl="0" algn="l">
              <a:spcBef>
                <a:spcPts val="1600"/>
              </a:spcBef>
              <a:spcAft>
                <a:spcPts val="1600"/>
              </a:spcAft>
              <a:buNone/>
            </a:pPr>
            <a:r>
              <a:t/>
            </a:r>
            <a:endParaRPr/>
          </a:p>
        </p:txBody>
      </p:sp>
      <p:sp>
        <p:nvSpPr>
          <p:cNvPr id="150" name="Google Shape;150;p28"/>
          <p:cNvSpPr txBox="1"/>
          <p:nvPr>
            <p:ph idx="2" type="body"/>
          </p:nvPr>
        </p:nvSpPr>
        <p:spPr>
          <a:xfrm>
            <a:off x="4832400" y="13662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Chromebook</a:t>
            </a:r>
            <a:endParaRPr/>
          </a:p>
          <a:p>
            <a:pPr indent="-317500" lvl="0" marL="457200" rtl="0" algn="l">
              <a:spcBef>
                <a:spcPts val="0"/>
              </a:spcBef>
              <a:spcAft>
                <a:spcPts val="0"/>
              </a:spcAft>
              <a:buClr>
                <a:srgbClr val="FF0000"/>
              </a:buClr>
              <a:buSzPts val="1400"/>
              <a:buAutoNum type="arabicPeriod"/>
            </a:pPr>
            <a:r>
              <a:rPr b="1" lang="en">
                <a:solidFill>
                  <a:srgbClr val="FF0000"/>
                </a:solidFill>
              </a:rPr>
              <a:t>Calendar </a:t>
            </a:r>
            <a:endParaRPr b="1">
              <a:solidFill>
                <a:srgbClr val="FF0000"/>
              </a:solidFill>
            </a:endParaRPr>
          </a:p>
          <a:p>
            <a:pPr indent="-317500" lvl="0" marL="457200" rtl="0" algn="l">
              <a:spcBef>
                <a:spcPts val="0"/>
              </a:spcBef>
              <a:spcAft>
                <a:spcPts val="0"/>
              </a:spcAft>
              <a:buSzPts val="1400"/>
              <a:buAutoNum type="arabicPeriod"/>
            </a:pPr>
            <a:r>
              <a:rPr lang="en"/>
              <a:t>Keep</a:t>
            </a:r>
            <a:endParaRPr/>
          </a:p>
          <a:p>
            <a:pPr indent="-317500" lvl="0" marL="457200" rtl="0" algn="l">
              <a:spcBef>
                <a:spcPts val="0"/>
              </a:spcBef>
              <a:spcAft>
                <a:spcPts val="0"/>
              </a:spcAft>
              <a:buSzPts val="1400"/>
              <a:buAutoNum type="arabicPeriod"/>
            </a:pPr>
            <a:r>
              <a:rPr lang="en"/>
              <a:t>Google drive</a:t>
            </a:r>
            <a:endParaRPr/>
          </a:p>
          <a:p>
            <a:pPr indent="-317500" lvl="0" marL="457200" rtl="0" algn="l">
              <a:spcBef>
                <a:spcPts val="0"/>
              </a:spcBef>
              <a:spcAft>
                <a:spcPts val="0"/>
              </a:spcAft>
              <a:buSzPts val="1400"/>
              <a:buAutoNum type="arabicPeriod"/>
            </a:pPr>
            <a:r>
              <a:rPr lang="en"/>
              <a:t>Google analytics</a:t>
            </a:r>
            <a:endParaRPr/>
          </a:p>
          <a:p>
            <a:pPr indent="-317500" lvl="0" marL="457200" rtl="0" algn="l">
              <a:spcBef>
                <a:spcPts val="0"/>
              </a:spcBef>
              <a:spcAft>
                <a:spcPts val="0"/>
              </a:spcAft>
              <a:buSzPts val="1400"/>
              <a:buAutoNum type="arabicPeriod"/>
            </a:pPr>
            <a:r>
              <a:rPr lang="en"/>
              <a:t>adsense</a:t>
            </a:r>
            <a:endParaRPr/>
          </a:p>
          <a:p>
            <a:pPr indent="-317500" lvl="0" marL="457200" rtl="0" algn="l">
              <a:spcBef>
                <a:spcPts val="0"/>
              </a:spcBef>
              <a:spcAft>
                <a:spcPts val="0"/>
              </a:spcAft>
              <a:buSzPts val="1400"/>
              <a:buAutoNum type="arabicPeriod"/>
            </a:pPr>
            <a:r>
              <a:rPr lang="en"/>
              <a:t>Adwords</a:t>
            </a:r>
            <a:endParaRPr/>
          </a:p>
          <a:p>
            <a:pPr indent="-317500" lvl="0" marL="457200" rtl="0" algn="l">
              <a:spcBef>
                <a:spcPts val="0"/>
              </a:spcBef>
              <a:spcAft>
                <a:spcPts val="0"/>
              </a:spcAft>
              <a:buSzPts val="1400"/>
              <a:buAutoNum type="arabicPeriod"/>
            </a:pPr>
            <a:r>
              <a:rPr lang="en"/>
              <a:t>GCP</a:t>
            </a:r>
            <a:endParaRPr/>
          </a:p>
          <a:p>
            <a:pPr indent="-317500" lvl="0" marL="457200" rtl="0" algn="l">
              <a:spcBef>
                <a:spcPts val="0"/>
              </a:spcBef>
              <a:spcAft>
                <a:spcPts val="0"/>
              </a:spcAft>
              <a:buSzPts val="1400"/>
              <a:buAutoNum type="arabicPeriod"/>
            </a:pPr>
            <a:r>
              <a:rPr lang="en"/>
              <a:t>YT Kids</a:t>
            </a:r>
            <a:endParaRPr/>
          </a:p>
          <a:p>
            <a:pPr indent="-317500" lvl="0" marL="457200" rtl="0" algn="l">
              <a:spcBef>
                <a:spcPts val="0"/>
              </a:spcBef>
              <a:spcAft>
                <a:spcPts val="0"/>
              </a:spcAft>
              <a:buSzPts val="1400"/>
              <a:buAutoNum type="arabicPeriod"/>
            </a:pPr>
            <a:r>
              <a:rPr lang="en"/>
              <a:t>Google trips </a:t>
            </a:r>
            <a:endParaRPr/>
          </a:p>
          <a:p>
            <a:pPr indent="-317500" lvl="0" marL="457200" rtl="0" algn="l">
              <a:spcBef>
                <a:spcPts val="0"/>
              </a:spcBef>
              <a:spcAft>
                <a:spcPts val="0"/>
              </a:spcAft>
              <a:buSzPts val="1400"/>
              <a:buAutoNum type="arabicPeriod"/>
            </a:pPr>
            <a:r>
              <a:rPr lang="en"/>
              <a:t>Google voice</a:t>
            </a:r>
            <a:endParaRPr/>
          </a:p>
          <a:p>
            <a:pPr indent="-317500" lvl="0" marL="457200" rtl="0" algn="l">
              <a:spcBef>
                <a:spcPts val="0"/>
              </a:spcBef>
              <a:spcAft>
                <a:spcPts val="0"/>
              </a:spcAft>
              <a:buSzPts val="1400"/>
              <a:buAutoNum type="arabicPeriod"/>
            </a:pPr>
            <a:r>
              <a:rPr lang="en"/>
              <a:t>Waze</a:t>
            </a:r>
            <a:endParaRPr/>
          </a:p>
          <a:p>
            <a:pPr indent="-317500" lvl="0" marL="457200" rtl="0" algn="l">
              <a:spcBef>
                <a:spcPts val="0"/>
              </a:spcBef>
              <a:spcAft>
                <a:spcPts val="0"/>
              </a:spcAft>
              <a:buSzPts val="1400"/>
              <a:buAutoNum type="arabicPeriod"/>
            </a:pPr>
            <a:r>
              <a:rPr lang="en"/>
              <a:t>Googel Fi</a:t>
            </a:r>
            <a:endParaRPr/>
          </a:p>
          <a:p>
            <a:pPr indent="-317500" lvl="0" marL="457200" rtl="0" algn="l">
              <a:spcBef>
                <a:spcPts val="0"/>
              </a:spcBef>
              <a:spcAft>
                <a:spcPts val="0"/>
              </a:spcAft>
              <a:buSzPts val="1400"/>
              <a:buAutoNum type="arabicPeriod"/>
            </a:pPr>
            <a:r>
              <a:rPr lang="en"/>
              <a:t>Google flights</a:t>
            </a:r>
            <a:endParaRPr/>
          </a:p>
          <a:p>
            <a:pPr indent="-317500" lvl="0" marL="457200" rtl="0" algn="l">
              <a:spcBef>
                <a:spcPts val="0"/>
              </a:spcBef>
              <a:spcAft>
                <a:spcPts val="0"/>
              </a:spcAft>
              <a:buSzPts val="1400"/>
              <a:buAutoNum type="arabicPeriod"/>
            </a:pPr>
            <a:r>
              <a:rPr lang="en"/>
              <a:t>Chromecast</a:t>
            </a:r>
            <a:endParaRPr/>
          </a:p>
          <a:p>
            <a:pPr indent="-317500" lvl="0" marL="457200" rtl="0" algn="l">
              <a:spcBef>
                <a:spcPts val="0"/>
              </a:spcBef>
              <a:spcAft>
                <a:spcPts val="0"/>
              </a:spcAft>
              <a:buSzPts val="1400"/>
              <a:buAutoNum type="arabicPeriod"/>
            </a:pPr>
            <a:r>
              <a:rPr lang="en"/>
              <a:t>Google groups</a:t>
            </a:r>
            <a:endParaRPr/>
          </a:p>
          <a:p>
            <a:pPr indent="-317500" lvl="0" marL="457200" rtl="0" algn="l">
              <a:spcBef>
                <a:spcPts val="0"/>
              </a:spcBef>
              <a:spcAft>
                <a:spcPts val="0"/>
              </a:spcAft>
              <a:buSzPts val="1400"/>
              <a:buAutoNum type="arabicPeriod"/>
            </a:pPr>
            <a:r>
              <a:rPr lang="en"/>
              <a:t>Classroom</a:t>
            </a:r>
            <a:endParaRPr/>
          </a:p>
          <a:p>
            <a:pPr indent="-317500" lvl="0" marL="457200" rtl="0" algn="l">
              <a:spcBef>
                <a:spcPts val="0"/>
              </a:spcBef>
              <a:spcAft>
                <a:spcPts val="0"/>
              </a:spcAft>
              <a:buSzPts val="1400"/>
              <a:buAutoNum type="arabicPeriod"/>
            </a:pPr>
            <a:r>
              <a:rPr lang="en"/>
              <a:t>Inbox</a:t>
            </a:r>
            <a:endParaRPr/>
          </a:p>
          <a:p>
            <a:pPr indent="-317500" lvl="0" marL="457200" rtl="0" algn="l">
              <a:spcBef>
                <a:spcPts val="0"/>
              </a:spcBef>
              <a:spcAft>
                <a:spcPts val="0"/>
              </a:spcAft>
              <a:buSzPts val="1400"/>
              <a:buAutoNum type="arabicPeriod"/>
            </a:pPr>
            <a:r>
              <a:rPr lang="en"/>
              <a:t>Waymo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 technologies</a:t>
            </a:r>
            <a:endParaRPr/>
          </a:p>
        </p:txBody>
      </p:sp>
      <p:sp>
        <p:nvSpPr>
          <p:cNvPr id="156" name="Google Shape;156;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Artificial Intelligence (AI)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Machine Learning.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Robotic Process Automation or RPA.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Edge Computing.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Virtual Reality and Augmented Reality.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Cybersecurity.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Blockchain. ...</a:t>
            </a:r>
            <a:endParaRPr sz="1200">
              <a:solidFill>
                <a:srgbClr val="222222"/>
              </a:solidFill>
              <a:highlight>
                <a:srgbClr val="FFFFFF"/>
              </a:highlight>
            </a:endParaRPr>
          </a:p>
          <a:p>
            <a:pPr indent="-304800" lvl="0" marL="457200" rtl="0" algn="l">
              <a:spcBef>
                <a:spcPts val="0"/>
              </a:spcBef>
              <a:spcAft>
                <a:spcPts val="0"/>
              </a:spcAft>
              <a:buClr>
                <a:srgbClr val="222222"/>
              </a:buClr>
              <a:buSzPts val="1200"/>
              <a:buChar char="●"/>
            </a:pPr>
            <a:r>
              <a:rPr lang="en" sz="1200">
                <a:solidFill>
                  <a:srgbClr val="222222"/>
                </a:solidFill>
                <a:highlight>
                  <a:srgbClr val="FFFFFF"/>
                </a:highlight>
              </a:rPr>
              <a:t>Internet of Things (IoT)</a:t>
            </a:r>
            <a:endParaRPr sz="1200">
              <a:solidFill>
                <a:srgbClr val="222222"/>
              </a:solidFill>
              <a:highlight>
                <a:srgbClr val="FFFFFF"/>
              </a:highlight>
            </a:endParaRPr>
          </a:p>
          <a:p>
            <a:pPr indent="0" lvl="0" marL="0" rtl="0" algn="l">
              <a:spcBef>
                <a:spcPts val="300"/>
              </a:spcBef>
              <a:spcAft>
                <a:spcPts val="1600"/>
              </a:spcAft>
              <a:buNone/>
            </a:pPr>
            <a:r>
              <a:t/>
            </a:r>
            <a:endParaRPr/>
          </a:p>
        </p:txBody>
      </p:sp>
      <p:sp>
        <p:nvSpPr>
          <p:cNvPr id="157" name="Google Shape;157;p2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idx="1" type="body"/>
          </p:nvPr>
        </p:nvSpPr>
        <p:spPr>
          <a:xfrm>
            <a:off x="0" y="13112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Hyperautomation often results in the creation of a digital twin of the organization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https://www.gartner.com/smarterwithgartner/gartner-top-10-strategic-technology-trends-for-2020/</a:t>
            </a:r>
            <a:endParaRPr/>
          </a:p>
        </p:txBody>
      </p:sp>
      <p:sp>
        <p:nvSpPr>
          <p:cNvPr id="163" name="Google Shape;16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 trends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technology you like</a:t>
            </a:r>
            <a:endParaRPr/>
          </a:p>
        </p:txBody>
      </p:sp>
      <p:sp>
        <p:nvSpPr>
          <p:cNvPr id="169" name="Google Shape;169;p31"/>
          <p:cNvSpPr txBox="1"/>
          <p:nvPr>
            <p:ph idx="1" type="body"/>
          </p:nvPr>
        </p:nvSpPr>
        <p:spPr>
          <a:xfrm>
            <a:off x="311700" y="1152475"/>
            <a:ext cx="7729800" cy="378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Artificial</a:t>
            </a:r>
            <a:r>
              <a:rPr b="1" lang="en"/>
              <a:t> technology:</a:t>
            </a:r>
            <a:endParaRPr b="1"/>
          </a:p>
          <a:p>
            <a:pPr indent="0" lvl="0" marL="0" rtl="0" algn="l">
              <a:spcBef>
                <a:spcPts val="1600"/>
              </a:spcBef>
              <a:spcAft>
                <a:spcPts val="0"/>
              </a:spcAft>
              <a:buNone/>
            </a:pPr>
            <a:r>
              <a:rPr lang="en" sz="1350">
                <a:solidFill>
                  <a:srgbClr val="6C6C6C"/>
                </a:solidFill>
                <a:highlight>
                  <a:srgbClr val="FFFFFF"/>
                </a:highlight>
              </a:rPr>
              <a:t>Artificial intelligence (AI) is the simulation of human intelligence processes by machines, especially computer systems.Specific applications of AI include </a:t>
            </a:r>
            <a:r>
              <a:rPr lang="en" sz="1350" u="sng">
                <a:solidFill>
                  <a:srgbClr val="00B3AC"/>
                </a:solidFill>
                <a:highlight>
                  <a:srgbClr val="FFFFFF"/>
                </a:highlight>
                <a:hlinkClick r:id="rId3">
                  <a:extLst>
                    <a:ext uri="{A12FA001-AC4F-418D-AE19-62706E023703}">
                      <ahyp:hlinkClr val="tx"/>
                    </a:ext>
                  </a:extLst>
                </a:hlinkClick>
              </a:rPr>
              <a:t>expert systems</a:t>
            </a:r>
            <a:r>
              <a:rPr lang="en" sz="1350">
                <a:solidFill>
                  <a:srgbClr val="6C6C6C"/>
                </a:solidFill>
                <a:highlight>
                  <a:srgbClr val="FFFFFF"/>
                </a:highlight>
              </a:rPr>
              <a:t>, natural language processing (</a:t>
            </a:r>
            <a:r>
              <a:rPr lang="en" sz="1350" u="sng">
                <a:solidFill>
                  <a:srgbClr val="00B3AC"/>
                </a:solidFill>
                <a:highlight>
                  <a:srgbClr val="FFFFFF"/>
                </a:highlight>
                <a:hlinkClick r:id="rId4">
                  <a:extLst>
                    <a:ext uri="{A12FA001-AC4F-418D-AE19-62706E023703}">
                      <ahyp:hlinkClr val="tx"/>
                    </a:ext>
                  </a:extLst>
                </a:hlinkClick>
              </a:rPr>
              <a:t>NLP</a:t>
            </a:r>
            <a:r>
              <a:rPr lang="en" sz="1350">
                <a:solidFill>
                  <a:srgbClr val="6C6C6C"/>
                </a:solidFill>
                <a:highlight>
                  <a:srgbClr val="FFFFFF"/>
                </a:highlight>
              </a:rPr>
              <a:t>), speech recognition and </a:t>
            </a:r>
            <a:r>
              <a:rPr lang="en" sz="1350" u="sng">
                <a:solidFill>
                  <a:srgbClr val="00B3AC"/>
                </a:solidFill>
                <a:highlight>
                  <a:srgbClr val="FFFFFF"/>
                </a:highlight>
                <a:hlinkClick r:id="rId5">
                  <a:extLst>
                    <a:ext uri="{A12FA001-AC4F-418D-AE19-62706E023703}">
                      <ahyp:hlinkClr val="tx"/>
                    </a:ext>
                  </a:extLst>
                </a:hlinkClick>
              </a:rPr>
              <a:t>machine vision</a:t>
            </a:r>
            <a:r>
              <a:rPr lang="en" sz="1350">
                <a:solidFill>
                  <a:srgbClr val="6C6C6C"/>
                </a:solidFill>
                <a:highlight>
                  <a:srgbClr val="FFFFFF"/>
                </a:highlight>
              </a:rPr>
              <a:t>.</a:t>
            </a:r>
            <a:endParaRPr sz="1350">
              <a:solidFill>
                <a:srgbClr val="6C6C6C"/>
              </a:solidFill>
              <a:highlight>
                <a:srgbClr val="FFFFFF"/>
              </a:highlight>
            </a:endParaRPr>
          </a:p>
          <a:p>
            <a:pPr indent="0" lvl="0" marL="0" rtl="0" algn="l">
              <a:spcBef>
                <a:spcPts val="1600"/>
              </a:spcBef>
              <a:spcAft>
                <a:spcPts val="0"/>
              </a:spcAft>
              <a:buNone/>
            </a:pPr>
            <a:r>
              <a:rPr lang="en" sz="1350">
                <a:solidFill>
                  <a:srgbClr val="6C6C6C"/>
                </a:solidFill>
                <a:highlight>
                  <a:srgbClr val="FFFFFF"/>
                </a:highlight>
              </a:rPr>
              <a:t>AI programming focuses on three cognitive skills: learning, reasoning and self-correction.</a:t>
            </a:r>
            <a:endParaRPr sz="1350">
              <a:solidFill>
                <a:srgbClr val="6C6C6C"/>
              </a:solidFill>
              <a:highlight>
                <a:srgbClr val="FFFFFF"/>
              </a:highlight>
            </a:endParaRPr>
          </a:p>
          <a:p>
            <a:pPr indent="0" lvl="0" marL="0" rtl="0" algn="l">
              <a:spcBef>
                <a:spcPts val="1600"/>
              </a:spcBef>
              <a:spcAft>
                <a:spcPts val="0"/>
              </a:spcAft>
              <a:buNone/>
            </a:pPr>
            <a:r>
              <a:rPr b="1" lang="en"/>
              <a:t>Because</a:t>
            </a:r>
            <a:r>
              <a:rPr b="1" lang="en"/>
              <a:t> of AI, what are the microtrends:</a:t>
            </a:r>
            <a:endParaRPr b="1"/>
          </a:p>
          <a:p>
            <a:pPr indent="-317500" lvl="0" marL="457200" rtl="0" algn="l">
              <a:spcBef>
                <a:spcPts val="1600"/>
              </a:spcBef>
              <a:spcAft>
                <a:spcPts val="0"/>
              </a:spcAft>
              <a:buSzPts val="1400"/>
              <a:buChar char="-"/>
            </a:pPr>
            <a:r>
              <a:rPr b="1" lang="en"/>
              <a:t>Jobs. home. </a:t>
            </a:r>
            <a:r>
              <a:rPr b="1" lang="en"/>
              <a:t>h</a:t>
            </a:r>
            <a:r>
              <a:rPr b="1" lang="en"/>
              <a:t>ospital . education</a:t>
            </a:r>
            <a:endParaRPr b="1"/>
          </a:p>
          <a:p>
            <a:pPr indent="-317500" lvl="0" marL="457200" rtl="0" algn="l">
              <a:spcBef>
                <a:spcPts val="0"/>
              </a:spcBef>
              <a:spcAft>
                <a:spcPts val="0"/>
              </a:spcAft>
              <a:buSzPts val="1400"/>
              <a:buChar char="-"/>
            </a:pPr>
            <a:r>
              <a:rPr b="1" lang="en"/>
              <a:t>AI allow people through augmentation - engineering work</a:t>
            </a:r>
            <a:endParaRPr b="1"/>
          </a:p>
          <a:p>
            <a:pPr indent="-317500" lvl="0" marL="457200" rtl="0" algn="l">
              <a:spcBef>
                <a:spcPts val="0"/>
              </a:spcBef>
              <a:spcAft>
                <a:spcPts val="0"/>
              </a:spcAft>
              <a:buSzPts val="1400"/>
              <a:buChar char="-"/>
            </a:pPr>
            <a:r>
              <a:rPr lang="en" sz="1200">
                <a:solidFill>
                  <a:srgbClr val="333333"/>
                </a:solidFill>
                <a:highlight>
                  <a:srgbClr val="FFFFFF"/>
                </a:highlight>
              </a:rPr>
              <a:t>AI-driven voice assistant so lifelike and sophisticated that some found it astounding but others deemed it unsettling and wondered if a new era of robocall abuse just dawned.</a:t>
            </a:r>
            <a:endParaRPr sz="1200">
              <a:solidFill>
                <a:srgbClr val="333333"/>
              </a:solidFill>
              <a:highlight>
                <a:srgbClr val="FFFFFF"/>
              </a:highlight>
            </a:endParaRPr>
          </a:p>
          <a:p>
            <a:pPr indent="-317500" lvl="0" marL="457200" rtl="0" algn="l">
              <a:spcBef>
                <a:spcPts val="0"/>
              </a:spcBef>
              <a:spcAft>
                <a:spcPts val="0"/>
              </a:spcAft>
              <a:buSzPts val="1400"/>
              <a:buChar char="-"/>
            </a:pPr>
            <a:r>
              <a:rPr lang="en" sz="1200">
                <a:solidFill>
                  <a:srgbClr val="333333"/>
                </a:solidFill>
                <a:highlight>
                  <a:srgbClr val="FFFFFF"/>
                </a:highlight>
              </a:rPr>
              <a:t>AI driven robots</a:t>
            </a:r>
            <a:endParaRPr sz="1200">
              <a:solidFill>
                <a:srgbClr val="333333"/>
              </a:solidFill>
              <a:highlight>
                <a:srgbClr val="FFFFFF"/>
              </a:highlight>
            </a:endParaRPr>
          </a:p>
          <a:p>
            <a:pPr indent="0" lvl="0" marL="0" rtl="0" algn="l">
              <a:spcBef>
                <a:spcPts val="1600"/>
              </a:spcBef>
              <a:spcAft>
                <a:spcPts val="1600"/>
              </a:spcAft>
              <a:buNone/>
            </a:pPr>
            <a:r>
              <a:t/>
            </a:r>
            <a:endParaRPr sz="1200">
              <a:solidFill>
                <a:srgbClr val="333333"/>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a:t>Why I like AI/UI?I	</a:t>
            </a:r>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a:p>
        </p:txBody>
      </p:sp>
      <p:sp>
        <p:nvSpPr>
          <p:cNvPr id="175" name="Google Shape;175;p32"/>
          <p:cNvSpPr txBox="1"/>
          <p:nvPr>
            <p:ph idx="1" type="body"/>
          </p:nvPr>
        </p:nvSpPr>
        <p:spPr>
          <a:xfrm>
            <a:off x="311700" y="1152475"/>
            <a:ext cx="6300000" cy="3693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AutoNum type="arabicPeriod"/>
            </a:pPr>
            <a:r>
              <a:rPr lang="en" sz="1100"/>
              <a:t>Solving pain points of multiple users</a:t>
            </a:r>
            <a:endParaRPr sz="1100"/>
          </a:p>
          <a:p>
            <a:pPr indent="-298450" lvl="0" marL="457200" rtl="0" algn="l">
              <a:spcBef>
                <a:spcPts val="0"/>
              </a:spcBef>
              <a:spcAft>
                <a:spcPts val="0"/>
              </a:spcAft>
              <a:buClr>
                <a:schemeClr val="dk2"/>
              </a:buClr>
              <a:buSzPts val="1100"/>
              <a:buAutoNum type="arabicPeriod"/>
            </a:pPr>
            <a:r>
              <a:rPr lang="en" sz="1100"/>
              <a:t>Simplity, innovative</a:t>
            </a:r>
            <a:endParaRPr sz="1100"/>
          </a:p>
          <a:p>
            <a:pPr indent="-298450" lvl="0" marL="457200" rtl="0" algn="l">
              <a:spcBef>
                <a:spcPts val="0"/>
              </a:spcBef>
              <a:spcAft>
                <a:spcPts val="0"/>
              </a:spcAft>
              <a:buClr>
                <a:schemeClr val="dk2"/>
              </a:buClr>
              <a:buSzPts val="1100"/>
              <a:buAutoNum type="arabicPeriod"/>
            </a:pPr>
            <a:r>
              <a:rPr lang="en" sz="1100"/>
              <a:t>Opportunities</a:t>
            </a:r>
            <a:endParaRPr sz="1100"/>
          </a:p>
          <a:p>
            <a:pPr indent="-298450" lvl="0" marL="457200" rtl="0" algn="l">
              <a:spcBef>
                <a:spcPts val="0"/>
              </a:spcBef>
              <a:spcAft>
                <a:spcPts val="0"/>
              </a:spcAft>
              <a:buClr>
                <a:schemeClr val="dk2"/>
              </a:buClr>
              <a:buSzPts val="1100"/>
              <a:buAutoNum type="arabicPeriod"/>
            </a:pPr>
            <a:r>
              <a:rPr lang="en" sz="1100"/>
              <a:t>Opening the lot of </a:t>
            </a:r>
            <a:r>
              <a:rPr lang="en" sz="1100"/>
              <a:t>opportunities</a:t>
            </a:r>
            <a:r>
              <a:rPr lang="en" sz="1100"/>
              <a:t> and it enables lot of treds</a:t>
            </a:r>
            <a:endParaRPr sz="1100"/>
          </a:p>
          <a:p>
            <a:pPr indent="0" lvl="0" marL="0" rtl="0" algn="l">
              <a:lnSpc>
                <a:spcPct val="138000"/>
              </a:lnSpc>
              <a:spcBef>
                <a:spcPts val="0"/>
              </a:spcBef>
              <a:spcAft>
                <a:spcPts val="0"/>
              </a:spcAft>
              <a:buNone/>
            </a:pPr>
            <a:r>
              <a:rPr b="1" lang="en" sz="1100"/>
              <a:t>Opportunities</a:t>
            </a:r>
            <a:r>
              <a:rPr b="1" lang="en" sz="1100"/>
              <a:t> of</a:t>
            </a:r>
            <a:r>
              <a:rPr b="1" lang="en" sz="1100"/>
              <a:t> </a:t>
            </a:r>
            <a:endParaRPr b="1" sz="1100"/>
          </a:p>
          <a:p>
            <a:pPr indent="-273050" lvl="0" marL="457200" rtl="0" algn="l">
              <a:spcBef>
                <a:spcPts val="1600"/>
              </a:spcBef>
              <a:spcAft>
                <a:spcPts val="0"/>
              </a:spcAft>
              <a:buClr>
                <a:schemeClr val="dk2"/>
              </a:buClr>
              <a:buSzPts val="700"/>
              <a:buChar char="●"/>
            </a:pPr>
            <a:r>
              <a:rPr lang="en" sz="700"/>
              <a:t>Understanding human </a:t>
            </a:r>
            <a:r>
              <a:rPr lang="en" sz="700"/>
              <a:t>intentions</a:t>
            </a:r>
            <a:endParaRPr sz="700"/>
          </a:p>
          <a:p>
            <a:pPr indent="-254000" lvl="0" marL="457200" rtl="0" algn="l">
              <a:spcBef>
                <a:spcPts val="0"/>
              </a:spcBef>
              <a:spcAft>
                <a:spcPts val="0"/>
              </a:spcAft>
              <a:buClr>
                <a:schemeClr val="dk1"/>
              </a:buClr>
              <a:buSzPts val="400"/>
              <a:buChar char="●"/>
            </a:pPr>
            <a:r>
              <a:rPr lang="en" sz="700"/>
              <a:t>Machine get smarted to understand the pattern</a:t>
            </a:r>
            <a:endParaRPr sz="700"/>
          </a:p>
          <a:p>
            <a:pPr indent="0" lvl="0" marL="0" rtl="0" algn="l">
              <a:spcBef>
                <a:spcPts val="0"/>
              </a:spcBef>
              <a:spcAft>
                <a:spcPts val="0"/>
              </a:spcAft>
              <a:buNone/>
            </a:pPr>
            <a:r>
              <a:rPr i="1" lang="en" sz="1100" u="sng"/>
              <a:t>Product: ( affect everyone and it is a real problem)</a:t>
            </a:r>
            <a:endParaRPr i="1" sz="1100" u="sng"/>
          </a:p>
          <a:p>
            <a:pPr indent="-298450" lvl="0" marL="457200" rtl="0" algn="l">
              <a:spcBef>
                <a:spcPts val="0"/>
              </a:spcBef>
              <a:spcAft>
                <a:spcPts val="0"/>
              </a:spcAft>
              <a:buSzPts val="1100"/>
              <a:buChar char="-"/>
            </a:pPr>
            <a:r>
              <a:rPr b="1" lang="en" sz="1100"/>
              <a:t>Jobs:  </a:t>
            </a:r>
            <a:r>
              <a:rPr lang="en" sz="1100"/>
              <a:t>office jobs/field jobs</a:t>
            </a:r>
            <a:endParaRPr sz="1100"/>
          </a:p>
          <a:p>
            <a:pPr indent="-285750" lvl="1" marL="914400" rtl="0" algn="l">
              <a:spcBef>
                <a:spcPts val="0"/>
              </a:spcBef>
              <a:spcAft>
                <a:spcPts val="0"/>
              </a:spcAft>
              <a:buSzPts val="900"/>
              <a:buChar char="-"/>
            </a:pPr>
            <a:r>
              <a:rPr lang="en" sz="900"/>
              <a:t>Problem solving</a:t>
            </a:r>
            <a:endParaRPr sz="900"/>
          </a:p>
          <a:p>
            <a:pPr indent="-285750" lvl="1" marL="914400" rtl="0" algn="l">
              <a:spcBef>
                <a:spcPts val="0"/>
              </a:spcBef>
              <a:spcAft>
                <a:spcPts val="0"/>
              </a:spcAft>
              <a:buSzPts val="900"/>
              <a:buChar char="-"/>
            </a:pPr>
            <a:r>
              <a:rPr lang="en" sz="900"/>
              <a:t>Move stuff</a:t>
            </a:r>
            <a:endParaRPr sz="900"/>
          </a:p>
          <a:p>
            <a:pPr indent="-285750" lvl="1" marL="914400" rtl="0" algn="l">
              <a:spcBef>
                <a:spcPts val="0"/>
              </a:spcBef>
              <a:spcAft>
                <a:spcPts val="0"/>
              </a:spcAft>
              <a:buSzPts val="900"/>
              <a:buChar char="-"/>
            </a:pPr>
            <a:r>
              <a:rPr b="1" lang="en" sz="900"/>
              <a:t>Communicate: </a:t>
            </a:r>
            <a:endParaRPr b="1" sz="900"/>
          </a:p>
          <a:p>
            <a:pPr indent="-285750" lvl="2" marL="1371600" rtl="0" algn="l">
              <a:spcBef>
                <a:spcPts val="0"/>
              </a:spcBef>
              <a:spcAft>
                <a:spcPts val="0"/>
              </a:spcAft>
              <a:buSzPts val="900"/>
              <a:buChar char="-"/>
            </a:pPr>
            <a:r>
              <a:rPr b="1" lang="en" sz="900"/>
              <a:t>Language: Translation is one of the common problem</a:t>
            </a:r>
            <a:endParaRPr b="1" sz="900"/>
          </a:p>
          <a:p>
            <a:pPr indent="-285750" lvl="2" marL="1371600" rtl="0" algn="l">
              <a:spcBef>
                <a:spcPts val="0"/>
              </a:spcBef>
              <a:spcAft>
                <a:spcPts val="0"/>
              </a:spcAft>
              <a:buSzPts val="900"/>
              <a:buChar char="-"/>
            </a:pPr>
            <a:r>
              <a:rPr b="1" lang="en" sz="900"/>
              <a:t>Voice </a:t>
            </a:r>
            <a:endParaRPr b="1" sz="900"/>
          </a:p>
          <a:p>
            <a:pPr indent="-285750" lvl="2" marL="1371600" rtl="0" algn="l">
              <a:spcBef>
                <a:spcPts val="0"/>
              </a:spcBef>
              <a:spcAft>
                <a:spcPts val="0"/>
              </a:spcAft>
              <a:buSzPts val="900"/>
              <a:buChar char="-"/>
            </a:pPr>
            <a:r>
              <a:rPr b="1" lang="en" sz="900"/>
              <a:t>AR </a:t>
            </a:r>
            <a:endParaRPr b="1" sz="900"/>
          </a:p>
          <a:p>
            <a:pPr indent="-285750" lvl="2" marL="1371600" rtl="0" algn="l">
              <a:spcBef>
                <a:spcPts val="0"/>
              </a:spcBef>
              <a:spcAft>
                <a:spcPts val="0"/>
              </a:spcAft>
              <a:buSzPts val="900"/>
              <a:buChar char="-"/>
            </a:pPr>
            <a:r>
              <a:rPr b="1" lang="en" sz="900"/>
              <a:t>Senses and gesture.</a:t>
            </a:r>
            <a:endParaRPr b="1" sz="900"/>
          </a:p>
          <a:p>
            <a:pPr indent="-285750" lvl="1" marL="914400" rtl="0" algn="l">
              <a:spcBef>
                <a:spcPts val="0"/>
              </a:spcBef>
              <a:spcAft>
                <a:spcPts val="0"/>
              </a:spcAft>
              <a:buSzPts val="900"/>
              <a:buChar char="-"/>
            </a:pPr>
            <a:r>
              <a:rPr lang="en" sz="900"/>
              <a:t>Health issues</a:t>
            </a:r>
            <a:endParaRPr sz="900"/>
          </a:p>
          <a:p>
            <a:pPr indent="-285750" lvl="1" marL="914400" rtl="0" algn="l">
              <a:spcBef>
                <a:spcPts val="0"/>
              </a:spcBef>
              <a:spcAft>
                <a:spcPts val="0"/>
              </a:spcAft>
              <a:buSzPts val="900"/>
              <a:buChar char="-"/>
            </a:pPr>
            <a:r>
              <a:rPr lang="en" sz="900"/>
              <a:t>Autonomous driving</a:t>
            </a:r>
            <a:endParaRPr sz="900"/>
          </a:p>
          <a:p>
            <a:pPr indent="-285750" lvl="1" marL="914400" rtl="0" algn="l">
              <a:spcBef>
                <a:spcPts val="0"/>
              </a:spcBef>
              <a:spcAft>
                <a:spcPts val="0"/>
              </a:spcAft>
              <a:buSzPts val="900"/>
              <a:buChar char="-"/>
            </a:pPr>
            <a:r>
              <a:rPr lang="en" sz="900"/>
              <a:t>Food </a:t>
            </a:r>
            <a:endParaRPr sz="900"/>
          </a:p>
          <a:p>
            <a:pPr indent="-285750" lvl="1" marL="914400" rtl="0" algn="l">
              <a:spcBef>
                <a:spcPts val="0"/>
              </a:spcBef>
              <a:spcAft>
                <a:spcPts val="0"/>
              </a:spcAft>
              <a:buSzPts val="900"/>
              <a:buChar char="-"/>
            </a:pPr>
            <a:r>
              <a:rPr lang="en" sz="900"/>
              <a:t>Voice affects everyone </a:t>
            </a:r>
            <a:endParaRPr sz="900"/>
          </a:p>
          <a:p>
            <a:pPr indent="0" lvl="0" marL="0" rtl="0" algn="l">
              <a:spcBef>
                <a:spcPts val="0"/>
              </a:spcBef>
              <a:spcAft>
                <a:spcPts val="0"/>
              </a:spcAft>
              <a:buNone/>
            </a:pPr>
            <a:r>
              <a:t/>
            </a:r>
            <a:endParaRPr b="1" sz="1100"/>
          </a:p>
          <a:p>
            <a:pPr indent="0" lvl="0" marL="0" rtl="0" algn="l">
              <a:spcBef>
                <a:spcPts val="0"/>
              </a:spcBef>
              <a:spcAft>
                <a:spcPts val="1600"/>
              </a:spcAft>
              <a:buNone/>
            </a:pPr>
            <a:r>
              <a:t/>
            </a:r>
            <a:endParaRPr sz="1100"/>
          </a:p>
        </p:txBody>
      </p:sp>
      <p:sp>
        <p:nvSpPr>
          <p:cNvPr id="176" name="Google Shape;176;p32"/>
          <p:cNvSpPr txBox="1"/>
          <p:nvPr>
            <p:ph idx="2" type="body"/>
          </p:nvPr>
        </p:nvSpPr>
        <p:spPr>
          <a:xfrm>
            <a:off x="6179875" y="758100"/>
            <a:ext cx="2652300" cy="38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u="sng"/>
              <a:t>Decision</a:t>
            </a:r>
            <a:r>
              <a:rPr b="1" lang="en" u="sng"/>
              <a:t> tree:</a:t>
            </a:r>
            <a:endParaRPr b="1" u="sng"/>
          </a:p>
          <a:p>
            <a:pPr indent="-317500" lvl="0" marL="457200" rtl="0" algn="l">
              <a:spcBef>
                <a:spcPts val="1600"/>
              </a:spcBef>
              <a:spcAft>
                <a:spcPts val="0"/>
              </a:spcAft>
              <a:buSzPts val="1400"/>
              <a:buChar char="-"/>
            </a:pPr>
            <a:r>
              <a:rPr lang="en" u="sng"/>
              <a:t>4, 5 technology</a:t>
            </a:r>
            <a:endParaRPr u="sng"/>
          </a:p>
          <a:p>
            <a:pPr indent="-317500" lvl="0" marL="457200" rtl="0" algn="l">
              <a:spcBef>
                <a:spcPts val="0"/>
              </a:spcBef>
              <a:spcAft>
                <a:spcPts val="0"/>
              </a:spcAft>
              <a:buSzPts val="1400"/>
              <a:buChar char="-"/>
            </a:pPr>
            <a:r>
              <a:rPr lang="en" u="sng"/>
              <a:t>Opportunities</a:t>
            </a:r>
            <a:endParaRPr u="sng"/>
          </a:p>
          <a:p>
            <a:pPr indent="-317500" lvl="0" marL="457200" rtl="0" algn="l">
              <a:spcBef>
                <a:spcPts val="0"/>
              </a:spcBef>
              <a:spcAft>
                <a:spcPts val="0"/>
              </a:spcAft>
              <a:buSzPts val="1400"/>
              <a:buChar char="-"/>
            </a:pPr>
            <a:r>
              <a:rPr lang="en" u="sng"/>
              <a:t>Choose one technology</a:t>
            </a:r>
            <a:endParaRPr u="sng"/>
          </a:p>
          <a:p>
            <a:pPr indent="-317500" lvl="0" marL="457200" rtl="0" algn="l">
              <a:spcBef>
                <a:spcPts val="0"/>
              </a:spcBef>
              <a:spcAft>
                <a:spcPts val="0"/>
              </a:spcAft>
              <a:buSzPts val="1400"/>
              <a:buChar char="-"/>
            </a:pPr>
            <a:r>
              <a:rPr lang="en" u="sng"/>
              <a:t>Are we most likely to execute (impact/alin with the Goal)</a:t>
            </a:r>
            <a:endParaRPr u="sng"/>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Machine learning	</a:t>
            </a:r>
            <a:endParaRPr/>
          </a:p>
        </p:txBody>
      </p:sp>
      <p:sp>
        <p:nvSpPr>
          <p:cNvPr id="182" name="Google Shape;182;p3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183" name="Google Shape;183;p3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Job </a:t>
            </a:r>
            <a:r>
              <a:rPr lang="en"/>
              <a:t>augmentation</a:t>
            </a:r>
            <a:endParaRPr/>
          </a:p>
        </p:txBody>
      </p:sp>
      <p:sp>
        <p:nvSpPr>
          <p:cNvPr id="189" name="Google Shape;189;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Trends - technology (5-10 yrs)</a:t>
            </a:r>
            <a:endParaRPr/>
          </a:p>
        </p:txBody>
      </p:sp>
      <p:sp>
        <p:nvSpPr>
          <p:cNvPr id="195" name="Google Shape;195;p35"/>
          <p:cNvSpPr txBox="1"/>
          <p:nvPr>
            <p:ph idx="1" type="body"/>
          </p:nvPr>
        </p:nvSpPr>
        <p:spPr>
          <a:xfrm>
            <a:off x="311700" y="958275"/>
            <a:ext cx="3999900" cy="4031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IOT</a:t>
            </a:r>
            <a:endParaRPr/>
          </a:p>
          <a:p>
            <a:pPr indent="-317500" lvl="0" marL="457200" rtl="0" algn="l">
              <a:spcBef>
                <a:spcPts val="0"/>
              </a:spcBef>
              <a:spcAft>
                <a:spcPts val="0"/>
              </a:spcAft>
              <a:buSzPts val="1400"/>
              <a:buAutoNum type="arabicPeriod"/>
            </a:pPr>
            <a:r>
              <a:rPr lang="en"/>
              <a:t>5G</a:t>
            </a:r>
            <a:endParaRPr/>
          </a:p>
          <a:p>
            <a:pPr indent="-317500" lvl="0" marL="457200" rtl="0" algn="l">
              <a:spcBef>
                <a:spcPts val="0"/>
              </a:spcBef>
              <a:spcAft>
                <a:spcPts val="0"/>
              </a:spcAft>
              <a:buSzPts val="1400"/>
              <a:buAutoNum type="arabicPeriod"/>
            </a:pPr>
            <a:r>
              <a:rPr lang="en"/>
              <a:t>AI</a:t>
            </a:r>
            <a:endParaRPr/>
          </a:p>
          <a:p>
            <a:pPr indent="-317500" lvl="0" marL="457200" rtl="0" algn="l">
              <a:spcBef>
                <a:spcPts val="0"/>
              </a:spcBef>
              <a:spcAft>
                <a:spcPts val="0"/>
              </a:spcAft>
              <a:buSzPts val="1400"/>
              <a:buAutoNum type="arabicPeriod"/>
            </a:pPr>
            <a:r>
              <a:rPr lang="en"/>
              <a:t>Blockchain</a:t>
            </a:r>
            <a:endParaRPr/>
          </a:p>
          <a:p>
            <a:pPr indent="-317500" lvl="0" marL="457200" rtl="0" algn="l">
              <a:spcBef>
                <a:spcPts val="0"/>
              </a:spcBef>
              <a:spcAft>
                <a:spcPts val="0"/>
              </a:spcAft>
              <a:buSzPts val="1400"/>
              <a:buAutoNum type="arabicPeriod"/>
            </a:pPr>
            <a:r>
              <a:rPr lang="en"/>
              <a:t>Autonomous vehicles</a:t>
            </a:r>
            <a:endParaRPr/>
          </a:p>
          <a:p>
            <a:pPr indent="-317500" lvl="0" marL="457200" rtl="0" algn="l">
              <a:spcBef>
                <a:spcPts val="0"/>
              </a:spcBef>
              <a:spcAft>
                <a:spcPts val="0"/>
              </a:spcAft>
              <a:buSzPts val="1400"/>
              <a:buAutoNum type="arabicPeriod"/>
            </a:pPr>
            <a:r>
              <a:rPr lang="en"/>
              <a:t>VR/AR</a:t>
            </a:r>
            <a:endParaRPr/>
          </a:p>
          <a:p>
            <a:pPr indent="-317500" lvl="0" marL="457200" rtl="0" algn="l">
              <a:spcBef>
                <a:spcPts val="0"/>
              </a:spcBef>
              <a:spcAft>
                <a:spcPts val="0"/>
              </a:spcAft>
              <a:buSzPts val="1400"/>
              <a:buAutoNum type="arabicPeriod"/>
            </a:pPr>
            <a:r>
              <a:rPr lang="en"/>
              <a:t>3D printing</a:t>
            </a:r>
            <a:endParaRPr/>
          </a:p>
          <a:p>
            <a:pPr indent="-317500" lvl="0" marL="457200" rtl="0" algn="l">
              <a:spcBef>
                <a:spcPts val="0"/>
              </a:spcBef>
              <a:spcAft>
                <a:spcPts val="0"/>
              </a:spcAft>
              <a:buSzPts val="1400"/>
              <a:buAutoNum type="arabicPeriod"/>
            </a:pPr>
            <a:r>
              <a:rPr lang="en"/>
              <a:t>Video calling</a:t>
            </a:r>
            <a:endParaRPr/>
          </a:p>
          <a:p>
            <a:pPr indent="-317500" lvl="0" marL="457200" rtl="0" algn="l">
              <a:spcBef>
                <a:spcPts val="0"/>
              </a:spcBef>
              <a:spcAft>
                <a:spcPts val="0"/>
              </a:spcAft>
              <a:buSzPts val="1400"/>
              <a:buAutoNum type="arabicPeriod"/>
            </a:pPr>
            <a:r>
              <a:rPr lang="en"/>
              <a:t>Quantum computing</a:t>
            </a:r>
            <a:endParaRPr/>
          </a:p>
          <a:p>
            <a:pPr indent="-317500" lvl="0" marL="457200" rtl="0" algn="l">
              <a:spcBef>
                <a:spcPts val="0"/>
              </a:spcBef>
              <a:spcAft>
                <a:spcPts val="0"/>
              </a:spcAft>
              <a:buSzPts val="1400"/>
              <a:buAutoNum type="arabicPeriod"/>
            </a:pPr>
            <a:r>
              <a:rPr lang="en"/>
              <a:t>Better power/battery, storage, compute</a:t>
            </a:r>
            <a:endParaRPr/>
          </a:p>
          <a:p>
            <a:pPr indent="-317500" lvl="0" marL="457200" rtl="0" algn="l">
              <a:spcBef>
                <a:spcPts val="0"/>
              </a:spcBef>
              <a:spcAft>
                <a:spcPts val="0"/>
              </a:spcAft>
              <a:buSzPts val="1400"/>
              <a:buAutoNum type="arabicPeriod"/>
            </a:pPr>
            <a:r>
              <a:rPr lang="en"/>
              <a:t>Wearable</a:t>
            </a:r>
            <a:endParaRPr/>
          </a:p>
          <a:p>
            <a:pPr indent="-317500" lvl="0" marL="457200" rtl="0" algn="l">
              <a:spcBef>
                <a:spcPts val="0"/>
              </a:spcBef>
              <a:spcAft>
                <a:spcPts val="0"/>
              </a:spcAft>
              <a:buSzPts val="1400"/>
              <a:buAutoNum type="arabicPeriod"/>
            </a:pPr>
            <a:r>
              <a:rPr lang="en"/>
              <a:t>Health</a:t>
            </a:r>
            <a:endParaRPr/>
          </a:p>
          <a:p>
            <a:pPr indent="-317500" lvl="0" marL="457200" rtl="0" algn="l">
              <a:spcBef>
                <a:spcPts val="0"/>
              </a:spcBef>
              <a:spcAft>
                <a:spcPts val="0"/>
              </a:spcAft>
              <a:buSzPts val="1400"/>
              <a:buAutoNum type="arabicPeriod"/>
            </a:pPr>
            <a:r>
              <a:rPr lang="en"/>
              <a:t>Space related ?</a:t>
            </a:r>
            <a:endParaRPr/>
          </a:p>
          <a:p>
            <a:pPr indent="-317500" lvl="0" marL="457200" rtl="0" algn="l">
              <a:spcBef>
                <a:spcPts val="0"/>
              </a:spcBef>
              <a:spcAft>
                <a:spcPts val="0"/>
              </a:spcAft>
              <a:buSzPts val="1400"/>
              <a:buAutoNum type="arabicPeriod"/>
            </a:pPr>
            <a:r>
              <a:rPr lang="en"/>
              <a:t>Tunnels etc in transportation</a:t>
            </a:r>
            <a:endParaRPr/>
          </a:p>
          <a:p>
            <a:pPr indent="-317500" lvl="0" marL="457200" rtl="0" algn="l">
              <a:spcBef>
                <a:spcPts val="0"/>
              </a:spcBef>
              <a:spcAft>
                <a:spcPts val="0"/>
              </a:spcAft>
              <a:buSzPts val="1400"/>
              <a:buAutoNum type="arabicPeriod"/>
            </a:pPr>
            <a:r>
              <a:rPr lang="en"/>
              <a:t>Voice assistant</a:t>
            </a:r>
            <a:endParaRPr/>
          </a:p>
          <a:p>
            <a:pPr indent="-317500" lvl="0" marL="457200" rtl="0" algn="l">
              <a:spcBef>
                <a:spcPts val="0"/>
              </a:spcBef>
              <a:spcAft>
                <a:spcPts val="0"/>
              </a:spcAft>
              <a:buSzPts val="1400"/>
              <a:buAutoNum type="arabicPeriod"/>
            </a:pPr>
            <a:r>
              <a:rPr lang="en"/>
              <a:t>Translate </a:t>
            </a:r>
            <a:endParaRPr/>
          </a:p>
          <a:p>
            <a:pPr indent="-317500" lvl="0" marL="457200" rtl="0" algn="l">
              <a:spcBef>
                <a:spcPts val="0"/>
              </a:spcBef>
              <a:spcAft>
                <a:spcPts val="0"/>
              </a:spcAft>
              <a:buSzPts val="1400"/>
              <a:buAutoNum type="arabicPeriod"/>
            </a:pPr>
            <a:r>
              <a:rPr lang="en"/>
              <a:t>Robotics</a:t>
            </a:r>
            <a:endParaRPr/>
          </a:p>
        </p:txBody>
      </p:sp>
      <p:sp>
        <p:nvSpPr>
          <p:cNvPr id="196" name="Google Shape;196;p3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Change in behavior</a:t>
            </a:r>
            <a:endParaRPr/>
          </a:p>
        </p:txBody>
      </p:sp>
      <p:sp>
        <p:nvSpPr>
          <p:cNvPr id="202" name="Google Shape;202;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People will spend more time at home </a:t>
            </a:r>
            <a:endParaRPr/>
          </a:p>
          <a:p>
            <a:pPr indent="-304800" lvl="1" marL="914400" rtl="0" algn="l">
              <a:spcBef>
                <a:spcPts val="0"/>
              </a:spcBef>
              <a:spcAft>
                <a:spcPts val="0"/>
              </a:spcAft>
              <a:buSzPts val="1200"/>
              <a:buAutoNum type="alphaLcPeriod"/>
            </a:pPr>
            <a:r>
              <a:rPr lang="en"/>
              <a:t>Work hours to go down to 30 hrs/wk</a:t>
            </a:r>
            <a:endParaRPr/>
          </a:p>
          <a:p>
            <a:pPr indent="-317500" lvl="0" marL="457200" rtl="0" algn="l">
              <a:spcBef>
                <a:spcPts val="0"/>
              </a:spcBef>
              <a:spcAft>
                <a:spcPts val="0"/>
              </a:spcAft>
              <a:buSzPts val="1400"/>
              <a:buAutoNum type="arabicPeriod"/>
            </a:pPr>
            <a:r>
              <a:rPr lang="en"/>
              <a:t>MFG will be at home (3d printing)</a:t>
            </a:r>
            <a:endParaRPr/>
          </a:p>
          <a:p>
            <a:pPr indent="-317500" lvl="0" marL="457200" rtl="0" algn="l">
              <a:spcBef>
                <a:spcPts val="0"/>
              </a:spcBef>
              <a:spcAft>
                <a:spcPts val="0"/>
              </a:spcAft>
              <a:buSzPts val="1400"/>
              <a:buAutoNum type="arabicPeriod"/>
            </a:pPr>
            <a:r>
              <a:rPr lang="en"/>
              <a:t>Environment awareness</a:t>
            </a:r>
            <a:endParaRPr/>
          </a:p>
          <a:p>
            <a:pPr indent="-317500" lvl="0" marL="457200" rtl="0" algn="l">
              <a:spcBef>
                <a:spcPts val="0"/>
              </a:spcBef>
              <a:spcAft>
                <a:spcPts val="0"/>
              </a:spcAft>
              <a:buSzPts val="1400"/>
              <a:buAutoNum type="arabicPeriod"/>
            </a:pPr>
            <a:r>
              <a:rPr lang="en"/>
              <a:t>Virtual experiences </a:t>
            </a:r>
            <a:endParaRPr/>
          </a:p>
          <a:p>
            <a:pPr indent="-304800" lvl="1" marL="914400" rtl="0" algn="l">
              <a:spcBef>
                <a:spcPts val="0"/>
              </a:spcBef>
              <a:spcAft>
                <a:spcPts val="0"/>
              </a:spcAft>
              <a:buSzPts val="1200"/>
              <a:buAutoNum type="alphaLcPeriod"/>
            </a:pPr>
            <a:r>
              <a:rPr lang="en"/>
              <a:t>Events, </a:t>
            </a:r>
            <a:r>
              <a:rPr lang="en"/>
              <a:t>celebrations, meetings, sports, travel</a:t>
            </a:r>
            <a:endParaRPr/>
          </a:p>
          <a:p>
            <a:pPr indent="-317500" lvl="0" marL="457200" rtl="0" algn="l">
              <a:spcBef>
                <a:spcPts val="0"/>
              </a:spcBef>
              <a:spcAft>
                <a:spcPts val="0"/>
              </a:spcAft>
              <a:buSzPts val="1400"/>
              <a:buAutoNum type="arabicPeriod"/>
            </a:pPr>
            <a:r>
              <a:rPr lang="en"/>
              <a:t> Online games will gain traction</a:t>
            </a:r>
            <a:endParaRPr/>
          </a:p>
          <a:p>
            <a:pPr indent="-317500" lvl="0" marL="457200" rtl="0" algn="l">
              <a:spcBef>
                <a:spcPts val="0"/>
              </a:spcBef>
              <a:spcAft>
                <a:spcPts val="0"/>
              </a:spcAft>
              <a:buSzPts val="1400"/>
              <a:buAutoNum type="arabicPeriod"/>
            </a:pPr>
            <a:r>
              <a:rPr lang="en"/>
              <a:t>Education will evolve</a:t>
            </a:r>
            <a:endParaRPr/>
          </a:p>
          <a:p>
            <a:pPr indent="-317500" lvl="0" marL="457200" rtl="0" algn="l">
              <a:spcBef>
                <a:spcPts val="0"/>
              </a:spcBef>
              <a:spcAft>
                <a:spcPts val="0"/>
              </a:spcAft>
              <a:buSzPts val="1400"/>
              <a:buAutoNum type="arabicPeriod"/>
            </a:pPr>
            <a:r>
              <a:rPr lang="en"/>
              <a:t>Health will be a focus</a:t>
            </a:r>
            <a:endParaRPr/>
          </a:p>
          <a:p>
            <a:pPr indent="-317500" lvl="0" marL="457200" rtl="0" algn="l">
              <a:spcBef>
                <a:spcPts val="0"/>
              </a:spcBef>
              <a:spcAft>
                <a:spcPts val="0"/>
              </a:spcAft>
              <a:buSzPts val="1400"/>
              <a:buAutoNum type="arabicPeriod"/>
            </a:pPr>
            <a:r>
              <a:rPr lang="en"/>
              <a:t>Privacy </a:t>
            </a:r>
            <a:r>
              <a:rPr lang="en"/>
              <a:t>awareness</a:t>
            </a:r>
            <a:endParaRPr/>
          </a:p>
          <a:p>
            <a:pPr indent="-317500" lvl="0" marL="457200" rtl="0" algn="l">
              <a:spcBef>
                <a:spcPts val="0"/>
              </a:spcBef>
              <a:spcAft>
                <a:spcPts val="0"/>
              </a:spcAft>
              <a:buSzPts val="1400"/>
              <a:buAutoNum type="arabicPeriod"/>
            </a:pPr>
            <a:r>
              <a:rPr lang="en"/>
              <a:t>Smart cities</a:t>
            </a:r>
            <a:endParaRPr/>
          </a:p>
          <a:p>
            <a:pPr indent="-317500" lvl="0" marL="457200" rtl="0" algn="l">
              <a:spcBef>
                <a:spcPts val="0"/>
              </a:spcBef>
              <a:spcAft>
                <a:spcPts val="0"/>
              </a:spcAft>
              <a:buSzPts val="1400"/>
              <a:buAutoNum type="arabicPeriod"/>
            </a:pPr>
            <a:r>
              <a:rPr lang="en"/>
              <a:t>Custom medicine</a:t>
            </a:r>
            <a:endParaRPr/>
          </a:p>
          <a:p>
            <a:pPr indent="-317500" lvl="0" marL="457200" rtl="0" algn="l">
              <a:spcBef>
                <a:spcPts val="0"/>
              </a:spcBef>
              <a:spcAft>
                <a:spcPts val="0"/>
              </a:spcAft>
              <a:buSzPts val="1400"/>
              <a:buAutoNum type="arabicPeriod"/>
            </a:pPr>
            <a:r>
              <a:rPr lang="en"/>
              <a:t>Remote visitation (hospital, exams, DMV)</a:t>
            </a:r>
            <a:endParaRPr/>
          </a:p>
        </p:txBody>
      </p:sp>
      <p:sp>
        <p:nvSpPr>
          <p:cNvPr id="203" name="Google Shape;203;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Technology dependency will be high</a:t>
            </a:r>
            <a:endParaRPr/>
          </a:p>
          <a:p>
            <a:pPr indent="-304800" lvl="1" marL="914400" rtl="0" algn="l">
              <a:spcBef>
                <a:spcPts val="0"/>
              </a:spcBef>
              <a:spcAft>
                <a:spcPts val="0"/>
              </a:spcAft>
              <a:buSzPts val="1200"/>
              <a:buAutoNum type="alphaLcPeriod"/>
            </a:pPr>
            <a:r>
              <a:rPr lang="en"/>
              <a:t>Pros/cons </a:t>
            </a:r>
            <a:endParaRPr/>
          </a:p>
          <a:p>
            <a:pPr indent="-304800" lvl="1" marL="914400" rtl="0" algn="l">
              <a:spcBef>
                <a:spcPts val="0"/>
              </a:spcBef>
              <a:spcAft>
                <a:spcPts val="0"/>
              </a:spcAft>
              <a:buSzPts val="1200"/>
              <a:buAutoNum type="alphaLcPeriod"/>
            </a:pPr>
            <a:r>
              <a:rPr lang="en"/>
              <a:t>Smart kitchen </a:t>
            </a:r>
            <a:endParaRPr/>
          </a:p>
          <a:p>
            <a:pPr indent="-304800" lvl="1" marL="914400" rtl="0" algn="l">
              <a:spcBef>
                <a:spcPts val="0"/>
              </a:spcBef>
              <a:spcAft>
                <a:spcPts val="0"/>
              </a:spcAft>
              <a:buSzPts val="1200"/>
              <a:buAutoNum type="alphaLcPeriod"/>
            </a:pPr>
            <a:r>
              <a:rPr lang="en"/>
              <a:t>Smart homes</a:t>
            </a:r>
            <a:endParaRPr/>
          </a:p>
          <a:p>
            <a:pPr indent="-304800" lvl="1" marL="914400" rtl="0" algn="l">
              <a:spcBef>
                <a:spcPts val="0"/>
              </a:spcBef>
              <a:spcAft>
                <a:spcPts val="0"/>
              </a:spcAft>
              <a:buSzPts val="1200"/>
              <a:buAutoNum type="alphaLcPeriod"/>
            </a:pPr>
            <a:r>
              <a:rPr lang="en"/>
              <a:t>Smart cities</a:t>
            </a:r>
            <a:endParaRPr/>
          </a:p>
          <a:p>
            <a:pPr indent="-317500" lvl="0" marL="457200" rtl="0" algn="l">
              <a:spcBef>
                <a:spcPts val="0"/>
              </a:spcBef>
              <a:spcAft>
                <a:spcPts val="0"/>
              </a:spcAft>
              <a:buSzPts val="1400"/>
              <a:buAutoNum type="arabicPeriod"/>
            </a:pPr>
            <a:r>
              <a:rPr lang="en"/>
              <a:t>People will be more technology aware</a:t>
            </a:r>
            <a:endParaRPr/>
          </a:p>
          <a:p>
            <a:pPr indent="-304800" lvl="1" marL="914400" rtl="0" algn="l">
              <a:spcBef>
                <a:spcPts val="0"/>
              </a:spcBef>
              <a:spcAft>
                <a:spcPts val="0"/>
              </a:spcAft>
              <a:buSzPts val="1200"/>
              <a:buAutoNum type="alphaLcPeriod"/>
            </a:pPr>
            <a:r>
              <a:rPr lang="en"/>
              <a:t>Elderly people can access smart devices </a:t>
            </a:r>
            <a:endParaRPr/>
          </a:p>
          <a:p>
            <a:pPr indent="-317500" lvl="0" marL="457200" rtl="0" algn="l">
              <a:spcBef>
                <a:spcPts val="0"/>
              </a:spcBef>
              <a:spcAft>
                <a:spcPts val="0"/>
              </a:spcAft>
              <a:buSzPts val="1400"/>
              <a:buAutoNum type="arabicPeriod"/>
            </a:pPr>
            <a:r>
              <a:rPr lang="en"/>
              <a:t>Ownership will decrease</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10X</a:t>
            </a:r>
            <a:endParaRPr/>
          </a:p>
        </p:txBody>
      </p:sp>
      <p:sp>
        <p:nvSpPr>
          <p:cNvPr id="209" name="Google Shape;209;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What end purpose does this product solve </a:t>
            </a:r>
            <a:endParaRPr/>
          </a:p>
          <a:p>
            <a:pPr indent="-342900" lvl="0" marL="457200" rtl="0" algn="l">
              <a:spcBef>
                <a:spcPts val="0"/>
              </a:spcBef>
              <a:spcAft>
                <a:spcPts val="0"/>
              </a:spcAft>
              <a:buSzPts val="1800"/>
              <a:buAutoNum type="arabicPeriod"/>
            </a:pPr>
            <a:r>
              <a:rPr lang="en"/>
              <a:t>Why does the problem exist </a:t>
            </a:r>
            <a:endParaRPr/>
          </a:p>
          <a:p>
            <a:pPr indent="-342900" lvl="0" marL="457200" rtl="0" algn="l">
              <a:spcBef>
                <a:spcPts val="0"/>
              </a:spcBef>
              <a:spcAft>
                <a:spcPts val="0"/>
              </a:spcAft>
              <a:buSzPts val="1800"/>
              <a:buAutoNum type="arabicPeriod"/>
            </a:pPr>
            <a:r>
              <a:rPr lang="en"/>
              <a:t>Understanding</a:t>
            </a:r>
            <a:r>
              <a:rPr lang="en"/>
              <a:t> the technology trends in </a:t>
            </a:r>
            <a:r>
              <a:rPr lang="en"/>
              <a:t>next</a:t>
            </a:r>
            <a:r>
              <a:rPr lang="en"/>
              <a:t> 10 years</a:t>
            </a:r>
            <a:endParaRPr/>
          </a:p>
          <a:p>
            <a:pPr indent="-342900" lvl="0" marL="457200" rtl="0" algn="l">
              <a:spcBef>
                <a:spcPts val="0"/>
              </a:spcBef>
              <a:spcAft>
                <a:spcPts val="0"/>
              </a:spcAft>
              <a:buSzPts val="1800"/>
              <a:buAutoNum type="arabicPeriod"/>
            </a:pPr>
            <a:r>
              <a:rPr lang="en"/>
              <a:t>How</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DNA as data storage</a:t>
            </a:r>
            <a:endParaRPr/>
          </a:p>
          <a:p>
            <a:pPr indent="-342900" lvl="0" marL="457200" rtl="0" algn="l">
              <a:spcBef>
                <a:spcPts val="0"/>
              </a:spcBef>
              <a:spcAft>
                <a:spcPts val="0"/>
              </a:spcAft>
              <a:buSzPts val="1800"/>
              <a:buAutoNum type="arabicPeriod"/>
            </a:pPr>
            <a:r>
              <a:rPr lang="en"/>
              <a:t>Haptic design</a:t>
            </a:r>
            <a:endParaRPr/>
          </a:p>
          <a:p>
            <a:pPr indent="-342900" lvl="0" marL="457200" rtl="0" algn="l">
              <a:spcBef>
                <a:spcPts val="0"/>
              </a:spcBef>
              <a:spcAft>
                <a:spcPts val="0"/>
              </a:spcAft>
              <a:buSzPts val="1800"/>
              <a:buAutoNum type="arabicPeriod"/>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2621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Mop</a:t>
            </a:r>
            <a:endParaRPr/>
          </a:p>
        </p:txBody>
      </p:sp>
      <p:sp>
        <p:nvSpPr>
          <p:cNvPr id="221" name="Google Shape;221;p39"/>
          <p:cNvSpPr txBox="1"/>
          <p:nvPr>
            <p:ph idx="1" type="body"/>
          </p:nvPr>
        </p:nvSpPr>
        <p:spPr>
          <a:xfrm>
            <a:off x="254550" y="889575"/>
            <a:ext cx="8520600" cy="3947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Objective: Provide a clean environment in living spaces around them</a:t>
            </a:r>
            <a:endParaRPr/>
          </a:p>
          <a:p>
            <a:pPr indent="-342900" lvl="0" marL="457200" rtl="0" algn="l">
              <a:spcBef>
                <a:spcPts val="0"/>
              </a:spcBef>
              <a:spcAft>
                <a:spcPts val="0"/>
              </a:spcAft>
              <a:buSzPts val="1800"/>
              <a:buAutoNum type="arabicPeriod"/>
            </a:pPr>
            <a:r>
              <a:rPr lang="en"/>
              <a:t>Business Goal: Revenue</a:t>
            </a:r>
            <a:endParaRPr/>
          </a:p>
          <a:p>
            <a:pPr indent="-342900" lvl="0" marL="457200" rtl="0" algn="l">
              <a:spcBef>
                <a:spcPts val="0"/>
              </a:spcBef>
              <a:spcAft>
                <a:spcPts val="0"/>
              </a:spcAft>
              <a:buSzPts val="1800"/>
              <a:buAutoNum type="arabicPeriod"/>
            </a:pPr>
            <a:r>
              <a:rPr lang="en"/>
              <a:t>Users: </a:t>
            </a:r>
            <a:endParaRPr/>
          </a:p>
          <a:p>
            <a:pPr indent="-317500" lvl="1" marL="914400" rtl="0" algn="l">
              <a:spcBef>
                <a:spcPts val="0"/>
              </a:spcBef>
              <a:spcAft>
                <a:spcPts val="0"/>
              </a:spcAft>
              <a:buSzPts val="1400"/>
              <a:buAutoNum type="alphaLcPeriod"/>
            </a:pPr>
            <a:r>
              <a:rPr lang="en"/>
              <a:t>Spaces - Home, Commercial, vehicles, community</a:t>
            </a:r>
            <a:endParaRPr/>
          </a:p>
          <a:p>
            <a:pPr indent="-317500" lvl="1" marL="914400" rtl="0" algn="l">
              <a:spcBef>
                <a:spcPts val="0"/>
              </a:spcBef>
              <a:spcAft>
                <a:spcPts val="0"/>
              </a:spcAft>
              <a:buSzPts val="1400"/>
              <a:buAutoNum type="alphaLcPeriod"/>
            </a:pPr>
            <a:r>
              <a:rPr lang="en"/>
              <a:t>Who - Owners, professional cleaners</a:t>
            </a:r>
            <a:endParaRPr/>
          </a:p>
          <a:p>
            <a:pPr indent="-317500" lvl="1" marL="914400" rtl="0" algn="l">
              <a:spcBef>
                <a:spcPts val="0"/>
              </a:spcBef>
              <a:spcAft>
                <a:spcPts val="0"/>
              </a:spcAft>
              <a:buSzPts val="1400"/>
              <a:buAutoNum type="alphaLcPeriod"/>
            </a:pPr>
            <a:r>
              <a:rPr lang="en"/>
              <a:t>Since we believe people will spend more time at home - hence Home</a:t>
            </a:r>
            <a:endParaRPr/>
          </a:p>
          <a:p>
            <a:pPr indent="-317500" lvl="2" marL="1371600" rtl="0" algn="l">
              <a:spcBef>
                <a:spcPts val="0"/>
              </a:spcBef>
              <a:spcAft>
                <a:spcPts val="0"/>
              </a:spcAft>
              <a:buSzPts val="1400"/>
              <a:buAutoNum type="romanLcPeriod"/>
            </a:pPr>
            <a:r>
              <a:rPr lang="en"/>
              <a:t> Big home</a:t>
            </a:r>
            <a:endParaRPr/>
          </a:p>
          <a:p>
            <a:pPr indent="-342900" lvl="0" marL="457200" rtl="0" algn="l">
              <a:spcBef>
                <a:spcPts val="0"/>
              </a:spcBef>
              <a:spcAft>
                <a:spcPts val="0"/>
              </a:spcAft>
              <a:buSzPts val="1800"/>
              <a:buAutoNum type="arabicPeriod"/>
            </a:pPr>
            <a:r>
              <a:rPr lang="en"/>
              <a:t>User flow (cleaning): Awareness -&gt; what to clean -&gt; identify tools -&gt; how -&gt; </a:t>
            </a:r>
            <a:r>
              <a:rPr lang="en"/>
              <a:t>maintenance</a:t>
            </a:r>
            <a:r>
              <a:rPr lang="en"/>
              <a:t> -&gt; storage</a:t>
            </a:r>
            <a:endParaRPr/>
          </a:p>
          <a:p>
            <a:pPr indent="-342900" lvl="0" marL="457200" rtl="0" algn="l">
              <a:spcBef>
                <a:spcPts val="0"/>
              </a:spcBef>
              <a:spcAft>
                <a:spcPts val="0"/>
              </a:spcAft>
              <a:buSzPts val="1800"/>
              <a:buAutoNum type="arabicPeriod"/>
            </a:pPr>
            <a:r>
              <a:rPr lang="en"/>
              <a:t>Pain point: </a:t>
            </a:r>
            <a:r>
              <a:rPr lang="en"/>
              <a:t>Maintenance</a:t>
            </a:r>
            <a:r>
              <a:rPr lang="en"/>
              <a:t> - time</a:t>
            </a:r>
            <a:endParaRPr/>
          </a:p>
          <a:p>
            <a:pPr indent="-342900" lvl="0" marL="457200" rtl="0" algn="l">
              <a:spcBef>
                <a:spcPts val="0"/>
              </a:spcBef>
              <a:spcAft>
                <a:spcPts val="0"/>
              </a:spcAft>
              <a:buSzPts val="1800"/>
              <a:buAutoNum type="arabicPeriod"/>
            </a:pPr>
            <a:r>
              <a:rPr lang="en"/>
              <a:t>Solution</a:t>
            </a:r>
            <a:endParaRPr/>
          </a:p>
          <a:p>
            <a:pPr indent="-317500" lvl="1" marL="914400" rtl="0" algn="l">
              <a:spcBef>
                <a:spcPts val="0"/>
              </a:spcBef>
              <a:spcAft>
                <a:spcPts val="0"/>
              </a:spcAft>
              <a:buSzPts val="1400"/>
              <a:buAutoNum type="alphaLcPeriod"/>
            </a:pPr>
            <a:r>
              <a:rPr lang="en"/>
              <a:t>Drone to deliver the cleaning tools and take it back for </a:t>
            </a:r>
            <a:r>
              <a:rPr lang="en"/>
              <a:t>maintenance</a:t>
            </a:r>
            <a:r>
              <a:rPr lang="en"/>
              <a:t> </a:t>
            </a:r>
            <a:endParaRPr/>
          </a:p>
          <a:p>
            <a:pPr indent="-317500" lvl="1" marL="914400" rtl="0" algn="l">
              <a:spcBef>
                <a:spcPts val="0"/>
              </a:spcBef>
              <a:spcAft>
                <a:spcPts val="0"/>
              </a:spcAft>
              <a:buSzPts val="1400"/>
              <a:buAutoNum type="alphaLcPeriod"/>
            </a:pPr>
            <a:r>
              <a:rPr lang="en"/>
              <a:t>Sensors and camera to detect dirt </a:t>
            </a:r>
            <a:endParaRPr/>
          </a:p>
          <a:p>
            <a:pPr indent="-317500" lvl="1" marL="914400" rtl="0" algn="l">
              <a:spcBef>
                <a:spcPts val="0"/>
              </a:spcBef>
              <a:spcAft>
                <a:spcPts val="0"/>
              </a:spcAft>
              <a:buSzPts val="1400"/>
              <a:buAutoNum type="alphaLcPeriod"/>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Vending </a:t>
            </a:r>
            <a:r>
              <a:rPr lang="en"/>
              <a:t>machine for blind </a:t>
            </a:r>
            <a:endParaRPr/>
          </a:p>
        </p:txBody>
      </p:sp>
      <p:sp>
        <p:nvSpPr>
          <p:cNvPr id="227" name="Google Shape;227;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Focus on </a:t>
            </a:r>
            <a:r>
              <a:rPr lang="en"/>
              <a:t>creativity</a:t>
            </a:r>
            <a:endParaRPr/>
          </a:p>
          <a:p>
            <a:pPr indent="0" lvl="0" marL="0" rtl="0" algn="l">
              <a:spcBef>
                <a:spcPts val="1600"/>
              </a:spcBef>
              <a:spcAft>
                <a:spcPts val="0"/>
              </a:spcAft>
              <a:buNone/>
            </a:pPr>
            <a:r>
              <a:rPr lang="en"/>
              <a:t>Different type of approach - voice/sensor/senses/directional gesture </a:t>
            </a:r>
            <a:endParaRPr/>
          </a:p>
          <a:p>
            <a:pPr indent="-342900" lvl="0" marL="457200" rtl="0" algn="l">
              <a:spcBef>
                <a:spcPts val="1600"/>
              </a:spcBef>
              <a:spcAft>
                <a:spcPts val="0"/>
              </a:spcAft>
              <a:buSzPts val="1800"/>
              <a:buChar char="-"/>
            </a:pPr>
            <a:r>
              <a:rPr lang="en"/>
              <a:t>This prototype has a voice synthesis and is based on making simple gestures on the screen.</a:t>
            </a:r>
            <a:endParaRPr/>
          </a:p>
          <a:p>
            <a:pPr indent="-342900" lvl="0" marL="457200" rtl="0" algn="l">
              <a:spcBef>
                <a:spcPts val="0"/>
              </a:spcBef>
              <a:spcAft>
                <a:spcPts val="0"/>
              </a:spcAft>
              <a:buSzPts val="1800"/>
              <a:buChar char="-"/>
            </a:pPr>
            <a:r>
              <a:rPr lang="en"/>
              <a:t>The concept uses gestures instead of pointing and touching and is based on the user’s single directional stroke on the screen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Simplify products</a:t>
            </a:r>
            <a:endParaRPr/>
          </a:p>
        </p:txBody>
      </p:sp>
      <p:sp>
        <p:nvSpPr>
          <p:cNvPr id="233" name="Google Shape;233;p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System design - using a restaurant </a:t>
            </a:r>
            <a:endParaRPr/>
          </a:p>
          <a:p>
            <a:pPr indent="-317500" lvl="0" marL="457200" rtl="0" algn="l">
              <a:spcBef>
                <a:spcPts val="0"/>
              </a:spcBef>
              <a:spcAft>
                <a:spcPts val="0"/>
              </a:spcAft>
              <a:buSzPts val="1400"/>
              <a:buAutoNum type="arabicPeriod"/>
            </a:pPr>
            <a:r>
              <a:rPr lang="en"/>
              <a:t>Cloud computing</a:t>
            </a:r>
            <a:endParaRPr/>
          </a:p>
          <a:p>
            <a:pPr indent="-304800" lvl="1" marL="914400" rtl="0" algn="l">
              <a:spcBef>
                <a:spcPts val="0"/>
              </a:spcBef>
              <a:spcAft>
                <a:spcPts val="0"/>
              </a:spcAft>
              <a:buSzPts val="1200"/>
              <a:buAutoNum type="alphaLcPeriod"/>
            </a:pPr>
            <a:r>
              <a:rPr lang="en"/>
              <a:t>Park</a:t>
            </a:r>
            <a:endParaRPr/>
          </a:p>
          <a:p>
            <a:pPr indent="-304800" lvl="1" marL="914400" rtl="0" algn="l">
              <a:spcBef>
                <a:spcPts val="0"/>
              </a:spcBef>
              <a:spcAft>
                <a:spcPts val="0"/>
              </a:spcAft>
              <a:buSzPts val="1200"/>
              <a:buAutoNum type="alphaLcPeriod"/>
            </a:pPr>
            <a:r>
              <a:t/>
            </a:r>
            <a:endParaRPr/>
          </a:p>
          <a:p>
            <a:pPr indent="-317500" lvl="0" marL="457200" rtl="0" algn="l">
              <a:spcBef>
                <a:spcPts val="0"/>
              </a:spcBef>
              <a:spcAft>
                <a:spcPts val="0"/>
              </a:spcAft>
              <a:buSzPts val="1400"/>
              <a:buAutoNum type="arabicPeriod"/>
            </a:pPr>
            <a:r>
              <a:rPr lang="en"/>
              <a:t>Encryption </a:t>
            </a:r>
            <a:endParaRPr/>
          </a:p>
          <a:p>
            <a:pPr indent="-304800" lvl="1" marL="914400" rtl="0" algn="l">
              <a:spcBef>
                <a:spcPts val="0"/>
              </a:spcBef>
              <a:spcAft>
                <a:spcPts val="0"/>
              </a:spcAft>
              <a:buSzPts val="1200"/>
              <a:buAutoNum type="alphaLcPeriod"/>
            </a:pPr>
            <a:r>
              <a:rPr lang="en"/>
              <a:t>Envelope</a:t>
            </a:r>
            <a:r>
              <a:rPr lang="en"/>
              <a:t> for a letter</a:t>
            </a:r>
            <a:endParaRPr/>
          </a:p>
          <a:p>
            <a:pPr indent="-317500" lvl="0" marL="457200" rtl="0" algn="l">
              <a:spcBef>
                <a:spcPts val="0"/>
              </a:spcBef>
              <a:spcAft>
                <a:spcPts val="0"/>
              </a:spcAft>
              <a:buSzPts val="1400"/>
              <a:buAutoNum type="arabicPeriod"/>
            </a:pPr>
            <a:r>
              <a:rPr lang="en"/>
              <a:t>Machine learning</a:t>
            </a:r>
            <a:endParaRPr/>
          </a:p>
          <a:p>
            <a:pPr indent="-304800" lvl="1" marL="914400" rtl="0" algn="l">
              <a:spcBef>
                <a:spcPts val="0"/>
              </a:spcBef>
              <a:spcAft>
                <a:spcPts val="0"/>
              </a:spcAft>
              <a:buSzPts val="1200"/>
              <a:buAutoNum type="alphaLcPeriod"/>
            </a:pPr>
            <a:r>
              <a:t/>
            </a:r>
            <a:endParaRPr/>
          </a:p>
          <a:p>
            <a:pPr indent="-317500" lvl="0" marL="457200" rtl="0" algn="l">
              <a:spcBef>
                <a:spcPts val="0"/>
              </a:spcBef>
              <a:spcAft>
                <a:spcPts val="0"/>
              </a:spcAft>
              <a:buSzPts val="1400"/>
              <a:buAutoNum type="arabicPeriod"/>
            </a:pPr>
            <a:r>
              <a:rPr lang="en"/>
              <a:t>Blockchain</a:t>
            </a:r>
            <a:endParaRPr/>
          </a:p>
          <a:p>
            <a:pPr indent="-317500" lvl="0" marL="457200" rtl="0" algn="l">
              <a:spcBef>
                <a:spcPts val="0"/>
              </a:spcBef>
              <a:spcAft>
                <a:spcPts val="0"/>
              </a:spcAft>
              <a:buSzPts val="1400"/>
              <a:buAutoNum type="arabicPeriod"/>
            </a:pPr>
            <a:r>
              <a:t/>
            </a:r>
            <a:endParaRPr/>
          </a:p>
        </p:txBody>
      </p:sp>
      <p:sp>
        <p:nvSpPr>
          <p:cNvPr id="240" name="Google Shape;240;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Recursion </a:t>
            </a:r>
            <a:endParaRPr/>
          </a:p>
          <a:p>
            <a:pPr indent="-317500" lvl="0" marL="457200" rtl="0" algn="l">
              <a:spcBef>
                <a:spcPts val="0"/>
              </a:spcBef>
              <a:spcAft>
                <a:spcPts val="0"/>
              </a:spcAft>
              <a:buSzPts val="1400"/>
              <a:buAutoNum type="arabicPeriod"/>
            </a:pPr>
            <a:r>
              <a:rPr lang="en"/>
              <a:t>Function</a:t>
            </a:r>
            <a:endParaRPr/>
          </a:p>
          <a:p>
            <a:pPr indent="-317500" lvl="0" marL="457200" rtl="0" algn="l">
              <a:spcBef>
                <a:spcPts val="0"/>
              </a:spcBef>
              <a:spcAft>
                <a:spcPts val="0"/>
              </a:spcAft>
              <a:buSzPts val="1400"/>
              <a:buAutoNum type="arabicPeriod"/>
            </a:pPr>
            <a:r>
              <a:rPr lang="en"/>
              <a:t>BigO</a:t>
            </a:r>
            <a:endParaRPr/>
          </a:p>
          <a:p>
            <a:pPr indent="-317500" lvl="0" marL="457200" rtl="0" algn="l">
              <a:spcBef>
                <a:spcPts val="0"/>
              </a:spcBef>
              <a:spcAft>
                <a:spcPts val="0"/>
              </a:spcAft>
              <a:buSzPts val="1400"/>
              <a:buAutoNum type="arabicPeriod"/>
            </a:pPr>
            <a:r>
              <a:rPr lang="en"/>
              <a:t>Database - sql vs nosql</a:t>
            </a:r>
            <a:endParaRPr/>
          </a:p>
          <a:p>
            <a:pPr indent="-304800" lvl="1" marL="914400" rtl="0" algn="l">
              <a:spcBef>
                <a:spcPts val="0"/>
              </a:spcBef>
              <a:spcAft>
                <a:spcPts val="0"/>
              </a:spcAft>
              <a:buSzPts val="1200"/>
              <a:buAutoNum type="alphaLcPeriod"/>
            </a:pPr>
            <a:r>
              <a:rPr lang="en"/>
              <a:t>SQL - individual items in grocery store (join)</a:t>
            </a:r>
            <a:endParaRPr/>
          </a:p>
          <a:p>
            <a:pPr indent="-304800" lvl="1" marL="914400" rtl="0" algn="l">
              <a:spcBef>
                <a:spcPts val="0"/>
              </a:spcBef>
              <a:spcAft>
                <a:spcPts val="0"/>
              </a:spcAft>
              <a:buSzPts val="1200"/>
              <a:buAutoNum type="alphaLcPeriod"/>
            </a:pPr>
            <a:r>
              <a:rPr lang="en"/>
              <a:t>Pre-built recipe boxes</a:t>
            </a:r>
            <a:endParaRPr/>
          </a:p>
          <a:p>
            <a:pPr indent="-317500" lvl="0" marL="457200" rtl="0" algn="l">
              <a:spcBef>
                <a:spcPts val="0"/>
              </a:spcBef>
              <a:spcAft>
                <a:spcPts val="0"/>
              </a:spcAft>
              <a:buSzPts val="1400"/>
              <a:buAutoNum type="arabicPeriod"/>
            </a:pPr>
            <a:r>
              <a:rPr lang="en"/>
              <a:t>Map reduce</a:t>
            </a:r>
            <a:endParaRPr/>
          </a:p>
          <a:p>
            <a:pPr indent="-304800" lvl="1" marL="914400" rtl="0" algn="l">
              <a:spcBef>
                <a:spcPts val="0"/>
              </a:spcBef>
              <a:spcAft>
                <a:spcPts val="0"/>
              </a:spcAft>
              <a:buSzPts val="1200"/>
              <a:buAutoNum type="alphaLcPeriod"/>
            </a:pPr>
            <a:r>
              <a:rPr lang="en"/>
              <a:t>Counting a box of red and blue chocolates in a giant box</a:t>
            </a:r>
            <a:endParaRPr/>
          </a:p>
          <a:p>
            <a:pPr indent="-304800" lvl="1" marL="914400" rtl="0" algn="l">
              <a:spcBef>
                <a:spcPts val="0"/>
              </a:spcBef>
              <a:spcAft>
                <a:spcPts val="0"/>
              </a:spcAft>
              <a:buSzPts val="1200"/>
              <a:buAutoNum type="alphaLcPeriod"/>
            </a:pPr>
            <a:r>
              <a:rPr lang="en"/>
              <a:t>Kids (mappers) - get a section of the box and separate red and blue chocolates</a:t>
            </a:r>
            <a:endParaRPr/>
          </a:p>
          <a:p>
            <a:pPr indent="-304800" lvl="1" marL="914400" rtl="0" algn="l">
              <a:spcBef>
                <a:spcPts val="0"/>
              </a:spcBef>
              <a:spcAft>
                <a:spcPts val="0"/>
              </a:spcAft>
              <a:buSzPts val="1200"/>
              <a:buAutoNum type="alphaLcPeriod"/>
            </a:pPr>
            <a:r>
              <a:rPr lang="en"/>
              <a:t>Kids hand off red chocolate to the mom &amp; blue to dad (reducers) </a:t>
            </a:r>
            <a:endParaRPr/>
          </a:p>
          <a:p>
            <a:pPr indent="-304800" lvl="1" marL="914400" rtl="0" algn="l">
              <a:spcBef>
                <a:spcPts val="0"/>
              </a:spcBef>
              <a:spcAft>
                <a:spcPts val="0"/>
              </a:spcAft>
              <a:buSzPts val="1200"/>
              <a:buAutoNum type="alphaLcPeriod"/>
            </a:pPr>
            <a:r>
              <a:rPr lang="en"/>
              <a:t>The parents (reducers) count the number of chocolates </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Analysis</a:t>
            </a:r>
            <a:endParaRPr/>
          </a:p>
        </p:txBody>
      </p:sp>
      <p:sp>
        <p:nvSpPr>
          <p:cNvPr id="246" name="Google Shape;246;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photos</a:t>
            </a:r>
            <a:endParaRPr/>
          </a:p>
        </p:txBody>
      </p:sp>
      <p:sp>
        <p:nvSpPr>
          <p:cNvPr id="252" name="Google Shape;252;p4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FF0000"/>
              </a:buClr>
              <a:buSzPts val="1400"/>
              <a:buAutoNum type="arabicPeriod"/>
            </a:pPr>
            <a:r>
              <a:rPr b="1" lang="en">
                <a:solidFill>
                  <a:srgbClr val="FF0000"/>
                </a:solidFill>
              </a:rPr>
              <a:t>Current challenges (for improvements)</a:t>
            </a:r>
            <a:endParaRPr b="1">
              <a:solidFill>
                <a:srgbClr val="FF0000"/>
              </a:solidFill>
            </a:endParaRPr>
          </a:p>
          <a:p>
            <a:pPr indent="-317500" lvl="0" marL="457200" rtl="0" algn="l">
              <a:spcBef>
                <a:spcPts val="0"/>
              </a:spcBef>
              <a:spcAft>
                <a:spcPts val="0"/>
              </a:spcAft>
              <a:buClr>
                <a:srgbClr val="FF0000"/>
              </a:buClr>
              <a:buSzPts val="1400"/>
              <a:buChar char="-"/>
            </a:pPr>
            <a:r>
              <a:rPr lang="en">
                <a:solidFill>
                  <a:srgbClr val="FF0000"/>
                </a:solidFill>
              </a:rPr>
              <a:t>Storage issue</a:t>
            </a:r>
            <a:endParaRPr>
              <a:solidFill>
                <a:srgbClr val="FF0000"/>
              </a:solidFill>
            </a:endParaRPr>
          </a:p>
          <a:p>
            <a:pPr indent="-317500" lvl="0" marL="457200" rtl="0" algn="l">
              <a:spcBef>
                <a:spcPts val="0"/>
              </a:spcBef>
              <a:spcAft>
                <a:spcPts val="0"/>
              </a:spcAft>
              <a:buClr>
                <a:srgbClr val="FF0000"/>
              </a:buClr>
              <a:buSzPts val="1400"/>
              <a:buChar char="-"/>
            </a:pPr>
            <a:r>
              <a:rPr lang="en">
                <a:solidFill>
                  <a:srgbClr val="FF0000"/>
                </a:solidFill>
              </a:rPr>
              <a:t>Need to log in photos</a:t>
            </a:r>
            <a:endParaRPr>
              <a:solidFill>
                <a:srgbClr val="FF0000"/>
              </a:solidFill>
            </a:endParaRPr>
          </a:p>
          <a:p>
            <a:pPr indent="-317500" lvl="0" marL="457200" rtl="0" algn="l">
              <a:spcBef>
                <a:spcPts val="0"/>
              </a:spcBef>
              <a:spcAft>
                <a:spcPts val="0"/>
              </a:spcAft>
              <a:buClr>
                <a:srgbClr val="FF0000"/>
              </a:buClr>
              <a:buSzPts val="1400"/>
              <a:buChar char="-"/>
            </a:pPr>
            <a:r>
              <a:rPr lang="en">
                <a:solidFill>
                  <a:srgbClr val="FF0000"/>
                </a:solidFill>
              </a:rPr>
              <a:t>Random selection of photos</a:t>
            </a:r>
            <a:endParaRPr>
              <a:solidFill>
                <a:srgbClr val="FF0000"/>
              </a:solidFill>
            </a:endParaRPr>
          </a:p>
          <a:p>
            <a:pPr indent="-317500" lvl="0" marL="457200" rtl="0" algn="l">
              <a:spcBef>
                <a:spcPts val="0"/>
              </a:spcBef>
              <a:spcAft>
                <a:spcPts val="0"/>
              </a:spcAft>
              <a:buClr>
                <a:srgbClr val="FF0000"/>
              </a:buClr>
              <a:buSzPts val="1400"/>
              <a:buChar char="-"/>
            </a:pPr>
            <a:r>
              <a:rPr lang="en">
                <a:solidFill>
                  <a:srgbClr val="FF0000"/>
                </a:solidFill>
              </a:rPr>
              <a:t>Photos get compressed?</a:t>
            </a:r>
            <a:endParaRPr>
              <a:solidFill>
                <a:srgbClr val="FF0000"/>
              </a:solidFill>
            </a:endParaRPr>
          </a:p>
          <a:p>
            <a:pPr indent="-317500" lvl="0" marL="457200" rtl="0" algn="l">
              <a:spcBef>
                <a:spcPts val="0"/>
              </a:spcBef>
              <a:spcAft>
                <a:spcPts val="0"/>
              </a:spcAft>
              <a:buSzPts val="1400"/>
              <a:buAutoNum type="arabicPeriod"/>
            </a:pPr>
            <a:r>
              <a:rPr b="1" lang="en"/>
              <a:t>What will be true in 5-10 yrs</a:t>
            </a:r>
            <a:endParaRPr b="1"/>
          </a:p>
          <a:p>
            <a:pPr indent="-304800" lvl="1" marL="914400" rtl="0" algn="l">
              <a:spcBef>
                <a:spcPts val="0"/>
              </a:spcBef>
              <a:spcAft>
                <a:spcPts val="0"/>
              </a:spcAft>
              <a:buSzPts val="1200"/>
              <a:buAutoNum type="alphaLcPeriod"/>
            </a:pPr>
            <a:r>
              <a:rPr lang="en"/>
              <a:t>It will be more than photos and videos </a:t>
            </a:r>
            <a:endParaRPr/>
          </a:p>
          <a:p>
            <a:pPr indent="-304800" lvl="1" marL="914400" rtl="0" algn="l">
              <a:spcBef>
                <a:spcPts val="0"/>
              </a:spcBef>
              <a:spcAft>
                <a:spcPts val="0"/>
              </a:spcAft>
              <a:buSzPts val="1200"/>
              <a:buAutoNum type="alphaLcPeriod"/>
            </a:pPr>
            <a:r>
              <a:rPr lang="en"/>
              <a:t>AR on photos  (see kid crawling on floor)</a:t>
            </a:r>
            <a:endParaRPr/>
          </a:p>
          <a:p>
            <a:pPr indent="-304800" lvl="1" marL="914400" rtl="0" algn="l">
              <a:spcBef>
                <a:spcPts val="0"/>
              </a:spcBef>
              <a:spcAft>
                <a:spcPts val="0"/>
              </a:spcAft>
              <a:buSzPts val="1200"/>
              <a:buAutoNum type="alphaLcPeriod"/>
            </a:pPr>
            <a:r>
              <a:rPr lang="en"/>
              <a:t>Millions of pictures </a:t>
            </a:r>
            <a:endParaRPr/>
          </a:p>
          <a:p>
            <a:pPr indent="-304800" lvl="1" marL="914400" rtl="0" algn="l">
              <a:spcBef>
                <a:spcPts val="0"/>
              </a:spcBef>
              <a:spcAft>
                <a:spcPts val="0"/>
              </a:spcAft>
              <a:buClr>
                <a:srgbClr val="FF0000"/>
              </a:buClr>
              <a:buSzPts val="1200"/>
              <a:buAutoNum type="alphaLcPeriod"/>
            </a:pPr>
            <a:r>
              <a:rPr lang="en" sz="1000">
                <a:solidFill>
                  <a:srgbClr val="FF0000"/>
                </a:solidFill>
              </a:rPr>
              <a:t>Augmented reality on photos </a:t>
            </a:r>
            <a:endParaRPr sz="1000">
              <a:solidFill>
                <a:srgbClr val="FF0000"/>
              </a:solidFill>
            </a:endParaRPr>
          </a:p>
          <a:p>
            <a:pPr indent="-304800" lvl="1" marL="914400" rtl="0" algn="l">
              <a:spcBef>
                <a:spcPts val="0"/>
              </a:spcBef>
              <a:spcAft>
                <a:spcPts val="0"/>
              </a:spcAft>
              <a:buClr>
                <a:srgbClr val="FF0000"/>
              </a:buClr>
              <a:buSzPts val="1200"/>
              <a:buAutoNum type="alphaLcPeriod"/>
            </a:pPr>
            <a:r>
              <a:rPr lang="en" sz="1000">
                <a:solidFill>
                  <a:srgbClr val="FF0000"/>
                </a:solidFill>
              </a:rPr>
              <a:t>re- living the past </a:t>
            </a:r>
            <a:endParaRPr sz="1000">
              <a:solidFill>
                <a:srgbClr val="FF0000"/>
              </a:solidFill>
            </a:endParaRPr>
          </a:p>
          <a:p>
            <a:pPr indent="-304800" lvl="1" marL="914400" rtl="0" algn="l">
              <a:spcBef>
                <a:spcPts val="0"/>
              </a:spcBef>
              <a:spcAft>
                <a:spcPts val="0"/>
              </a:spcAft>
              <a:buClr>
                <a:srgbClr val="FF0000"/>
              </a:buClr>
              <a:buSzPts val="1200"/>
              <a:buAutoNum type="alphaLcPeriod"/>
            </a:pPr>
            <a:r>
              <a:rPr lang="en" sz="1000">
                <a:solidFill>
                  <a:srgbClr val="FF0000"/>
                </a:solidFill>
              </a:rPr>
              <a:t>Live the experience with others</a:t>
            </a:r>
            <a:endParaRPr sz="1000">
              <a:solidFill>
                <a:srgbClr val="FF0000"/>
              </a:solidFill>
            </a:endParaRPr>
          </a:p>
          <a:p>
            <a:pPr indent="0" lvl="0" marL="914400" rtl="0" algn="l">
              <a:spcBef>
                <a:spcPts val="0"/>
              </a:spcBef>
              <a:spcAft>
                <a:spcPts val="0"/>
              </a:spcAft>
              <a:buNone/>
            </a:pPr>
            <a:r>
              <a:t/>
            </a:r>
            <a:endParaRPr>
              <a:solidFill>
                <a:srgbClr val="FF0000"/>
              </a:solidFill>
            </a:endParaRPr>
          </a:p>
        </p:txBody>
      </p:sp>
      <p:sp>
        <p:nvSpPr>
          <p:cNvPr id="253" name="Google Shape;253;p4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Solution</a:t>
            </a:r>
            <a:endParaRPr b="1"/>
          </a:p>
          <a:p>
            <a:pPr indent="-317500" lvl="0" marL="457200" rtl="0" algn="l">
              <a:spcBef>
                <a:spcPts val="1600"/>
              </a:spcBef>
              <a:spcAft>
                <a:spcPts val="0"/>
              </a:spcAft>
              <a:buSzPts val="1400"/>
              <a:buAutoNum type="arabicPeriod"/>
            </a:pPr>
            <a:r>
              <a:rPr lang="en"/>
              <a:t>Relive the live/past via AR &amp; VR experiences </a:t>
            </a:r>
            <a:endParaRPr/>
          </a:p>
          <a:p>
            <a:pPr indent="-304800" lvl="1" marL="914400" rtl="0" algn="l">
              <a:spcBef>
                <a:spcPts val="0"/>
              </a:spcBef>
              <a:spcAft>
                <a:spcPts val="0"/>
              </a:spcAft>
              <a:buSzPts val="1200"/>
              <a:buAutoNum type="alphaLcPeriod"/>
            </a:pPr>
            <a:r>
              <a:rPr lang="en"/>
              <a:t>For your own past</a:t>
            </a:r>
            <a:endParaRPr/>
          </a:p>
          <a:p>
            <a:pPr indent="-304800" lvl="1" marL="914400" rtl="0" algn="l">
              <a:spcBef>
                <a:spcPts val="0"/>
              </a:spcBef>
              <a:spcAft>
                <a:spcPts val="0"/>
              </a:spcAft>
              <a:buSzPts val="1200"/>
              <a:buAutoNum type="alphaLcPeriod"/>
            </a:pPr>
            <a:r>
              <a:rPr lang="en"/>
              <a:t>For someone else’s picture </a:t>
            </a:r>
            <a:endParaRPr/>
          </a:p>
          <a:p>
            <a:pPr indent="-317500" lvl="0" marL="457200" rtl="0" algn="l">
              <a:spcBef>
                <a:spcPts val="0"/>
              </a:spcBef>
              <a:spcAft>
                <a:spcPts val="0"/>
              </a:spcAft>
              <a:buSzPts val="1400"/>
              <a:buAutoNum type="arabicPeriod"/>
            </a:pPr>
            <a:r>
              <a:rPr lang="en"/>
              <a:t>Allow custom editing</a:t>
            </a:r>
            <a:endParaRPr/>
          </a:p>
          <a:p>
            <a:pPr indent="-317500" lvl="0" marL="457200" rtl="0" algn="l">
              <a:spcBef>
                <a:spcPts val="0"/>
              </a:spcBef>
              <a:spcAft>
                <a:spcPts val="0"/>
              </a:spcAft>
              <a:buSzPts val="1400"/>
              <a:buAutoNum type="arabicPeriod"/>
            </a:pPr>
            <a:r>
              <a:rPr lang="en"/>
              <a:t>Insights into the document</a:t>
            </a:r>
            <a:endParaRPr/>
          </a:p>
          <a:p>
            <a:pPr indent="-317500" lvl="0" marL="457200" rtl="0" algn="l">
              <a:spcBef>
                <a:spcPts val="0"/>
              </a:spcBef>
              <a:spcAft>
                <a:spcPts val="0"/>
              </a:spcAft>
              <a:buSzPts val="1400"/>
              <a:buAutoNum type="arabicPeriod"/>
            </a:pPr>
            <a:r>
              <a:rPr lang="en"/>
              <a:t>Take a picture and allow you to visit these </a:t>
            </a:r>
            <a:r>
              <a:rPr lang="en"/>
              <a:t>scenes</a:t>
            </a:r>
            <a:r>
              <a:rPr lang="en"/>
              <a:t> via VR</a:t>
            </a:r>
            <a:endParaRPr sz="1000">
              <a:solidFill>
                <a:srgbClr val="000000"/>
              </a:solidFill>
            </a:endParaRPr>
          </a:p>
          <a:p>
            <a:pPr indent="-317500" lvl="0" marL="457200" rtl="0" algn="l">
              <a:spcBef>
                <a:spcPts val="0"/>
              </a:spcBef>
              <a:spcAft>
                <a:spcPts val="0"/>
              </a:spcAft>
              <a:buClr>
                <a:srgbClr val="FF0000"/>
              </a:buClr>
              <a:buSzPts val="1400"/>
              <a:buAutoNum type="arabicPeriod"/>
            </a:pPr>
            <a:r>
              <a:rPr lang="en" sz="1000">
                <a:solidFill>
                  <a:srgbClr val="FF0000"/>
                </a:solidFill>
              </a:rPr>
              <a:t>Personalised editing </a:t>
            </a:r>
            <a:r>
              <a:rPr lang="en" sz="1000">
                <a:solidFill>
                  <a:srgbClr val="FF0000"/>
                </a:solidFill>
              </a:rPr>
              <a:t>recommend</a:t>
            </a:r>
            <a:r>
              <a:rPr lang="en" sz="1000">
                <a:solidFill>
                  <a:srgbClr val="FF0000"/>
                </a:solidFill>
              </a:rPr>
              <a:t> best photo and clear the </a:t>
            </a:r>
            <a:r>
              <a:rPr lang="en" sz="1000">
                <a:solidFill>
                  <a:srgbClr val="FF0000"/>
                </a:solidFill>
              </a:rPr>
              <a:t>storage</a:t>
            </a:r>
            <a:r>
              <a:rPr lang="en" sz="1000">
                <a:solidFill>
                  <a:srgbClr val="FF0000"/>
                </a:solidFill>
              </a:rPr>
              <a:t> 2) maximum quality (better compression) 3) </a:t>
            </a:r>
            <a:r>
              <a:rPr lang="en" sz="1000">
                <a:solidFill>
                  <a:srgbClr val="FF0000"/>
                </a:solidFill>
              </a:rPr>
              <a:t>recognising</a:t>
            </a:r>
            <a:r>
              <a:rPr lang="en" sz="1000">
                <a:solidFill>
                  <a:srgbClr val="FF0000"/>
                </a:solidFill>
              </a:rPr>
              <a:t> the experiences (summarizing the exp)</a:t>
            </a:r>
            <a:endParaRPr sz="1000">
              <a:solidFill>
                <a:srgbClr val="FF0000"/>
              </a:solidFill>
            </a:endParaRPr>
          </a:p>
          <a:p>
            <a:pPr indent="0" lvl="0" marL="457200" rtl="0" algn="l">
              <a:spcBef>
                <a:spcPts val="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Chromecast</a:t>
            </a:r>
            <a:endParaRPr/>
          </a:p>
        </p:txBody>
      </p:sp>
      <p:sp>
        <p:nvSpPr>
          <p:cNvPr id="259" name="Google Shape;259;p45"/>
          <p:cNvSpPr txBox="1"/>
          <p:nvPr/>
        </p:nvSpPr>
        <p:spPr>
          <a:xfrm>
            <a:off x="188000" y="1204025"/>
            <a:ext cx="39999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F0000"/>
              </a:buClr>
              <a:buSzPts val="1400"/>
              <a:buAutoNum type="arabicPeriod"/>
            </a:pPr>
            <a:r>
              <a:rPr b="1" lang="en">
                <a:solidFill>
                  <a:srgbClr val="FF0000"/>
                </a:solidFill>
              </a:rPr>
              <a:t>Current challenges (for improvements)</a:t>
            </a:r>
            <a:endParaRPr b="1">
              <a:solidFill>
                <a:srgbClr val="FF0000"/>
              </a:solidFill>
            </a:endParaRPr>
          </a:p>
          <a:p>
            <a:pPr indent="-317500" lvl="0" marL="457200" rtl="0" algn="l">
              <a:lnSpc>
                <a:spcPct val="115000"/>
              </a:lnSpc>
              <a:spcBef>
                <a:spcPts val="0"/>
              </a:spcBef>
              <a:spcAft>
                <a:spcPts val="0"/>
              </a:spcAft>
              <a:buClr>
                <a:srgbClr val="FF0000"/>
              </a:buClr>
              <a:buSzPts val="1400"/>
              <a:buChar char="-"/>
            </a:pPr>
            <a:r>
              <a:t/>
            </a:r>
            <a:endParaRPr>
              <a:solidFill>
                <a:srgbClr val="FF0000"/>
              </a:solidFill>
            </a:endParaRPr>
          </a:p>
          <a:p>
            <a:pPr indent="-317500" lvl="0" marL="457200" rtl="0" algn="l">
              <a:lnSpc>
                <a:spcPct val="115000"/>
              </a:lnSpc>
              <a:spcBef>
                <a:spcPts val="0"/>
              </a:spcBef>
              <a:spcAft>
                <a:spcPts val="0"/>
              </a:spcAft>
              <a:buClr>
                <a:srgbClr val="595959"/>
              </a:buClr>
              <a:buSzPts val="1400"/>
              <a:buAutoNum type="arabicPeriod"/>
            </a:pPr>
            <a:r>
              <a:rPr b="1" lang="en">
                <a:solidFill>
                  <a:srgbClr val="595959"/>
                </a:solidFill>
              </a:rPr>
              <a:t>What will be true in 5-10 yrs</a:t>
            </a:r>
            <a:endParaRPr b="1">
              <a:solidFill>
                <a:srgbClr val="595959"/>
              </a:solidFill>
            </a:endParaRPr>
          </a:p>
          <a:p>
            <a:pPr indent="0" lvl="0" marL="914400" rtl="0" algn="l">
              <a:lnSpc>
                <a:spcPct val="115000"/>
              </a:lnSpc>
              <a:spcBef>
                <a:spcPts val="1600"/>
              </a:spcBef>
              <a:spcAft>
                <a:spcPts val="0"/>
              </a:spcAft>
              <a:buNone/>
            </a:pPr>
            <a:r>
              <a:t/>
            </a:r>
            <a:endParaRPr>
              <a:solidFill>
                <a:srgbClr val="FF0000"/>
              </a:solidFill>
            </a:endParaRPr>
          </a:p>
        </p:txBody>
      </p:sp>
      <p:sp>
        <p:nvSpPr>
          <p:cNvPr id="260" name="Google Shape;260;p45"/>
          <p:cNvSpPr txBox="1"/>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595959"/>
                </a:solidFill>
              </a:rPr>
              <a:t>Solution</a:t>
            </a:r>
            <a:endParaRPr b="1">
              <a:solidFill>
                <a:srgbClr val="595959"/>
              </a:solidFill>
            </a:endParaRPr>
          </a:p>
          <a:p>
            <a:pPr indent="-317500" lvl="0" marL="457200" rtl="0" algn="l">
              <a:lnSpc>
                <a:spcPct val="115000"/>
              </a:lnSpc>
              <a:spcBef>
                <a:spcPts val="1600"/>
              </a:spcBef>
              <a:spcAft>
                <a:spcPts val="0"/>
              </a:spcAft>
              <a:buClr>
                <a:srgbClr val="FF0000"/>
              </a:buClr>
              <a:buSzPts val="1400"/>
              <a:buAutoNum type="arabicPeriod"/>
            </a:pPr>
            <a:r>
              <a:t/>
            </a:r>
            <a:endParaRPr sz="1000">
              <a:solidFill>
                <a:srgbClr val="FF0000"/>
              </a:solidFill>
            </a:endParaRPr>
          </a:p>
          <a:p>
            <a:pPr indent="0" lvl="0" marL="457200" rtl="0" algn="l">
              <a:lnSpc>
                <a:spcPct val="115000"/>
              </a:lnSpc>
              <a:spcBef>
                <a:spcPts val="0"/>
              </a:spcBef>
              <a:spcAft>
                <a:spcPts val="1600"/>
              </a:spcAft>
              <a:buNone/>
            </a:pPr>
            <a:r>
              <a:t/>
            </a:r>
            <a:endParaRPr>
              <a:solidFill>
                <a:srgbClr val="59595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doc</a:t>
            </a:r>
            <a:endParaRPr/>
          </a:p>
        </p:txBody>
      </p:sp>
      <p:sp>
        <p:nvSpPr>
          <p:cNvPr id="266" name="Google Shape;266;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41600"/>
              </a:lnSpc>
              <a:spcBef>
                <a:spcPts val="700"/>
              </a:spcBef>
              <a:spcAft>
                <a:spcPts val="0"/>
              </a:spcAft>
              <a:buClr>
                <a:schemeClr val="dk1"/>
              </a:buClr>
              <a:buSzPts val="1100"/>
              <a:buFont typeface="Arial"/>
              <a:buNone/>
            </a:pPr>
            <a:r>
              <a:rPr lang="en" sz="1300">
                <a:solidFill>
                  <a:srgbClr val="33475B"/>
                </a:solidFill>
              </a:rPr>
              <a:t>The Research Tool</a:t>
            </a:r>
            <a:endParaRPr sz="1300">
              <a:solidFill>
                <a:srgbClr val="33475B"/>
              </a:solidFill>
            </a:endParaRPr>
          </a:p>
          <a:p>
            <a:pPr indent="0" lvl="0" marL="0" rtl="0" algn="l">
              <a:lnSpc>
                <a:spcPct val="161111"/>
              </a:lnSpc>
              <a:spcBef>
                <a:spcPts val="1200"/>
              </a:spcBef>
              <a:spcAft>
                <a:spcPts val="0"/>
              </a:spcAft>
              <a:buClr>
                <a:schemeClr val="dk1"/>
              </a:buClr>
              <a:buSzPts val="1100"/>
              <a:buFont typeface="Arial"/>
              <a:buNone/>
            </a:pPr>
            <a:r>
              <a:rPr lang="en" sz="1100">
                <a:solidFill>
                  <a:srgbClr val="33475B"/>
                </a:solidFill>
              </a:rPr>
              <a:t>The Research tool is a godsend for anyone writing something in Google Docs that requires online research. Why? It allows you to research and refer to information and images online without every having to leave the document. That means no more clicking back and forth endlessly between tabs.</a:t>
            </a:r>
            <a:endParaRPr sz="1100">
              <a:solidFill>
                <a:srgbClr val="33475B"/>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lang="en"/>
              <a:t>Mission:Organise your content across all devices real time:With Google Docs, you can write, edit, and collaborate wherever you are. For Free</a:t>
            </a:r>
            <a:endParaRPr/>
          </a:p>
          <a:p>
            <a:pPr indent="0" lvl="0" marL="0" rtl="0" algn="l">
              <a:spcBef>
                <a:spcPts val="1600"/>
              </a:spcBef>
              <a:spcAft>
                <a:spcPts val="1600"/>
              </a:spcAft>
              <a:buNone/>
            </a:pPr>
            <a:r>
              <a:rPr lang="en"/>
              <a:t>10X for Google doc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music</a:t>
            </a:r>
            <a:endParaRPr/>
          </a:p>
        </p:txBody>
      </p:sp>
      <p:sp>
        <p:nvSpPr>
          <p:cNvPr id="272" name="Google Shape;272;p47"/>
          <p:cNvSpPr txBox="1"/>
          <p:nvPr>
            <p:ph idx="1" type="body"/>
          </p:nvPr>
        </p:nvSpPr>
        <p:spPr>
          <a:xfrm>
            <a:off x="311700" y="1204000"/>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What is the future</a:t>
            </a:r>
            <a:endParaRPr/>
          </a:p>
          <a:p>
            <a:pPr indent="-317500" lvl="0" marL="457200" rtl="0" algn="l">
              <a:spcBef>
                <a:spcPts val="1600"/>
              </a:spcBef>
              <a:spcAft>
                <a:spcPts val="0"/>
              </a:spcAft>
              <a:buSzPts val="1400"/>
              <a:buAutoNum type="arabicPeriod"/>
            </a:pPr>
            <a:r>
              <a:rPr lang="en"/>
              <a:t>AI will be creating music</a:t>
            </a:r>
            <a:endParaRPr/>
          </a:p>
          <a:p>
            <a:pPr indent="-317500" lvl="0" marL="457200" rtl="0" algn="l">
              <a:spcBef>
                <a:spcPts val="0"/>
              </a:spcBef>
              <a:spcAft>
                <a:spcPts val="0"/>
              </a:spcAft>
              <a:buSzPts val="1400"/>
              <a:buAutoNum type="arabicPeriod"/>
            </a:pPr>
            <a:r>
              <a:rPr lang="en"/>
              <a:t>New music is formed on the fly </a:t>
            </a:r>
            <a:endParaRPr/>
          </a:p>
          <a:p>
            <a:pPr indent="-317500" lvl="0" marL="457200" rtl="0" algn="l">
              <a:spcBef>
                <a:spcPts val="0"/>
              </a:spcBef>
              <a:spcAft>
                <a:spcPts val="0"/>
              </a:spcAft>
              <a:buSzPts val="1400"/>
              <a:buAutoNum type="arabicPeriod"/>
            </a:pPr>
            <a:r>
              <a:rPr lang="en"/>
              <a:t>Listen to music without headphones in shared spaces</a:t>
            </a:r>
            <a:endParaRPr/>
          </a:p>
          <a:p>
            <a:pPr indent="-317500" lvl="0" marL="457200" rtl="0" algn="l">
              <a:spcBef>
                <a:spcPts val="0"/>
              </a:spcBef>
              <a:spcAft>
                <a:spcPts val="0"/>
              </a:spcAft>
              <a:buSzPts val="1400"/>
              <a:buAutoNum type="arabicPeriod"/>
            </a:pPr>
            <a:r>
              <a:rPr lang="en"/>
              <a:t>Enjoy music in any language </a:t>
            </a:r>
            <a:endParaRPr/>
          </a:p>
          <a:p>
            <a:pPr indent="-317500" lvl="0" marL="457200" rtl="0" algn="l">
              <a:spcBef>
                <a:spcPts val="0"/>
              </a:spcBef>
              <a:spcAft>
                <a:spcPts val="0"/>
              </a:spcAft>
              <a:buSzPts val="1400"/>
              <a:buAutoNum type="arabicPeriod"/>
            </a:pPr>
            <a:r>
              <a:rPr lang="en"/>
              <a:t>Align mood of the room with the music </a:t>
            </a:r>
            <a:endParaRPr/>
          </a:p>
        </p:txBody>
      </p:sp>
      <p:sp>
        <p:nvSpPr>
          <p:cNvPr id="273" name="Google Shape;273;p4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Calendar</a:t>
            </a:r>
            <a:endParaRPr/>
          </a:p>
        </p:txBody>
      </p:sp>
      <p:sp>
        <p:nvSpPr>
          <p:cNvPr id="279" name="Google Shape;279;p48"/>
          <p:cNvSpPr txBox="1"/>
          <p:nvPr>
            <p:ph idx="1" type="body"/>
          </p:nvPr>
        </p:nvSpPr>
        <p:spPr>
          <a:xfrm>
            <a:off x="311700" y="1152475"/>
            <a:ext cx="5466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Automatically schedule recurring meeting</a:t>
            </a:r>
            <a:endParaRPr/>
          </a:p>
          <a:p>
            <a:pPr indent="-317500" lvl="0" marL="457200" rtl="0" algn="l">
              <a:spcBef>
                <a:spcPts val="0"/>
              </a:spcBef>
              <a:spcAft>
                <a:spcPts val="0"/>
              </a:spcAft>
              <a:buSzPts val="1400"/>
              <a:buAutoNum type="arabicPeriod"/>
            </a:pPr>
            <a:r>
              <a:rPr lang="en"/>
              <a:t>Add meeting notes to calendar for easy search</a:t>
            </a:r>
            <a:endParaRPr/>
          </a:p>
          <a:p>
            <a:pPr indent="-317500" lvl="0" marL="457200" rtl="0" algn="l">
              <a:spcBef>
                <a:spcPts val="0"/>
              </a:spcBef>
              <a:spcAft>
                <a:spcPts val="0"/>
              </a:spcAft>
              <a:buSzPts val="1400"/>
              <a:buAutoNum type="arabicPeriod"/>
            </a:pPr>
            <a:r>
              <a:rPr lang="en"/>
              <a:t>Instruct calendar to make next week light or free up monday</a:t>
            </a:r>
            <a:endParaRPr/>
          </a:p>
          <a:p>
            <a:pPr indent="-317500" lvl="0" marL="457200" rtl="0" algn="l">
              <a:spcBef>
                <a:spcPts val="0"/>
              </a:spcBef>
              <a:spcAft>
                <a:spcPts val="0"/>
              </a:spcAft>
              <a:buSzPts val="1400"/>
              <a:buAutoNum type="arabicPeriod"/>
            </a:pPr>
            <a:r>
              <a:rPr lang="en"/>
              <a:t>Auto-schedule meetings with multiple people based on time and </a:t>
            </a:r>
            <a:r>
              <a:rPr lang="en"/>
              <a:t>availability</a:t>
            </a:r>
            <a:endParaRPr/>
          </a:p>
          <a:p>
            <a:pPr indent="-304800" lvl="1" marL="914400" rtl="0" algn="l">
              <a:spcBef>
                <a:spcPts val="0"/>
              </a:spcBef>
              <a:spcAft>
                <a:spcPts val="0"/>
              </a:spcAft>
              <a:buSzPts val="1200"/>
              <a:buAutoNum type="alphaLcPeriod"/>
            </a:pPr>
            <a:r>
              <a:rPr lang="en"/>
              <a:t>Extend it for recurring meetings - when this is required for a </a:t>
            </a:r>
            <a:r>
              <a:rPr lang="en"/>
              <a:t>different</a:t>
            </a:r>
            <a:r>
              <a:rPr lang="en"/>
              <a:t> time slot</a:t>
            </a:r>
            <a:endParaRPr/>
          </a:p>
          <a:p>
            <a:pPr indent="-317500" lvl="0" marL="457200" rtl="0" algn="l">
              <a:spcBef>
                <a:spcPts val="0"/>
              </a:spcBef>
              <a:spcAft>
                <a:spcPts val="0"/>
              </a:spcAft>
              <a:buSzPts val="1400"/>
              <a:buAutoNum type="arabicPeriod"/>
            </a:pPr>
            <a:r>
              <a:rPr lang="en"/>
              <a:t>Build calendly functionality</a:t>
            </a:r>
            <a:endParaRPr/>
          </a:p>
          <a:p>
            <a:pPr indent="-317500" lvl="0" marL="457200" rtl="0" algn="l">
              <a:spcBef>
                <a:spcPts val="0"/>
              </a:spcBef>
              <a:spcAft>
                <a:spcPts val="0"/>
              </a:spcAft>
              <a:buSzPts val="1400"/>
              <a:buAutoNum type="arabicPeriod"/>
            </a:pPr>
            <a:r>
              <a:rPr lang="en"/>
              <a:t>Automatically call people, who requested call on phones</a:t>
            </a:r>
            <a:endParaRPr/>
          </a:p>
          <a:p>
            <a:pPr indent="-317500" lvl="0" marL="457200" rtl="0" algn="l">
              <a:spcBef>
                <a:spcPts val="0"/>
              </a:spcBef>
              <a:spcAft>
                <a:spcPts val="0"/>
              </a:spcAft>
              <a:buSzPts val="1400"/>
              <a:buAutoNum type="arabicPeriod"/>
            </a:pPr>
            <a:r>
              <a:rPr lang="en"/>
              <a:t>Analyze all meetings - report meeting patterns</a:t>
            </a:r>
            <a:endParaRPr/>
          </a:p>
          <a:p>
            <a:pPr indent="-317500" lvl="0" marL="457200" rtl="0" algn="l">
              <a:spcBef>
                <a:spcPts val="0"/>
              </a:spcBef>
              <a:spcAft>
                <a:spcPts val="0"/>
              </a:spcAft>
              <a:buSzPts val="1400"/>
              <a:buAutoNum type="arabicPeriod"/>
            </a:pPr>
            <a:r>
              <a:rPr lang="en"/>
              <a:t>Build a device like real life for seniors</a:t>
            </a:r>
            <a:endParaRPr/>
          </a:p>
          <a:p>
            <a:pPr indent="-317500" lvl="0" marL="457200" rtl="0" algn="l">
              <a:spcBef>
                <a:spcPts val="0"/>
              </a:spcBef>
              <a:spcAft>
                <a:spcPts val="0"/>
              </a:spcAft>
              <a:buSzPts val="1400"/>
              <a:buAutoNum type="arabicPeriod"/>
            </a:pPr>
            <a:r>
              <a:rPr lang="en"/>
              <a:t>Predict and propose meeting and activity e.g. when to go for a run or go out monthly with friends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Youtube</a:t>
            </a:r>
            <a:endParaRPr/>
          </a:p>
        </p:txBody>
      </p:sp>
      <p:sp>
        <p:nvSpPr>
          <p:cNvPr id="285" name="Google Shape;285;p49"/>
          <p:cNvSpPr txBox="1"/>
          <p:nvPr>
            <p:ph idx="1" type="body"/>
          </p:nvPr>
        </p:nvSpPr>
        <p:spPr>
          <a:xfrm>
            <a:off x="311700" y="1152475"/>
            <a:ext cx="66783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Predict &amp; buffer videos based on browsing pattern</a:t>
            </a:r>
            <a:endParaRPr/>
          </a:p>
          <a:p>
            <a:pPr indent="-317500" lvl="0" marL="457200" rtl="0" algn="l">
              <a:spcBef>
                <a:spcPts val="0"/>
              </a:spcBef>
              <a:spcAft>
                <a:spcPts val="0"/>
              </a:spcAft>
              <a:buSzPts val="1400"/>
              <a:buAutoNum type="arabicPeriod"/>
            </a:pPr>
            <a:r>
              <a:rPr lang="en"/>
              <a:t>Auto-</a:t>
            </a:r>
            <a:r>
              <a:rPr lang="en"/>
              <a:t>narration</a:t>
            </a:r>
            <a:r>
              <a:rPr lang="en"/>
              <a:t> - e..g for blind or commuters</a:t>
            </a:r>
            <a:endParaRPr/>
          </a:p>
          <a:p>
            <a:pPr indent="-317500" lvl="0" marL="457200" rtl="0" algn="l">
              <a:spcBef>
                <a:spcPts val="0"/>
              </a:spcBef>
              <a:spcAft>
                <a:spcPts val="0"/>
              </a:spcAft>
              <a:buSzPts val="1400"/>
              <a:buAutoNum type="arabicPeriod"/>
            </a:pPr>
            <a:r>
              <a:rPr lang="en"/>
              <a:t>Search within a video for a scene</a:t>
            </a:r>
            <a:endParaRPr/>
          </a:p>
          <a:p>
            <a:pPr indent="-317500" lvl="0" marL="457200" rtl="0" algn="l">
              <a:spcBef>
                <a:spcPts val="0"/>
              </a:spcBef>
              <a:spcAft>
                <a:spcPts val="0"/>
              </a:spcAft>
              <a:buSzPts val="1400"/>
              <a:buAutoNum type="arabicPeriod"/>
            </a:pPr>
            <a:r>
              <a:rPr lang="en"/>
              <a:t>Same person multiple interest - detect </a:t>
            </a:r>
            <a:r>
              <a:rPr lang="en"/>
              <a:t>interest</a:t>
            </a:r>
            <a:r>
              <a:rPr lang="en"/>
              <a:t> </a:t>
            </a:r>
            <a:r>
              <a:rPr lang="en"/>
              <a:t>predictability</a:t>
            </a:r>
            <a:endParaRPr/>
          </a:p>
          <a:p>
            <a:pPr indent="-317500" lvl="0" marL="457200" rtl="0" algn="l">
              <a:spcBef>
                <a:spcPts val="0"/>
              </a:spcBef>
              <a:spcAft>
                <a:spcPts val="0"/>
              </a:spcAft>
              <a:buSzPts val="1400"/>
              <a:buAutoNum type="arabicPeriod"/>
            </a:pPr>
            <a:r>
              <a:rPr lang="en"/>
              <a:t>Change language on the fly - caption and audio</a:t>
            </a:r>
            <a:endParaRPr/>
          </a:p>
          <a:p>
            <a:pPr indent="-317500" lvl="0" marL="457200" rtl="0" algn="l">
              <a:spcBef>
                <a:spcPts val="0"/>
              </a:spcBef>
              <a:spcAft>
                <a:spcPts val="0"/>
              </a:spcAft>
              <a:buSzPts val="1400"/>
              <a:buAutoNum type="arabicPeriod"/>
            </a:pPr>
            <a:r>
              <a:rPr lang="en"/>
              <a:t>Key highlights - summarize a big scene, sports or movie </a:t>
            </a:r>
            <a:endParaRPr/>
          </a:p>
          <a:p>
            <a:pPr indent="-317500" lvl="0" marL="457200" rtl="0" algn="l">
              <a:spcBef>
                <a:spcPts val="0"/>
              </a:spcBef>
              <a:spcAft>
                <a:spcPts val="0"/>
              </a:spcAft>
              <a:buSzPts val="1400"/>
              <a:buAutoNum type="arabicPeriod"/>
            </a:pPr>
            <a:r>
              <a:rPr lang="en"/>
              <a:t>Detect opinion - let people search based on opinion</a:t>
            </a:r>
            <a:endParaRPr/>
          </a:p>
          <a:p>
            <a:pPr indent="-317500" lvl="0" marL="457200" rtl="0" algn="l">
              <a:spcBef>
                <a:spcPts val="0"/>
              </a:spcBef>
              <a:spcAft>
                <a:spcPts val="0"/>
              </a:spcAft>
              <a:buSzPts val="1400"/>
              <a:buAutoNum type="arabicPeriod"/>
            </a:pPr>
            <a:r>
              <a:rPr lang="en"/>
              <a:t>Auto create video stories - based on articles and books</a:t>
            </a:r>
            <a:endParaRPr/>
          </a:p>
          <a:p>
            <a:pPr indent="-317500" lvl="0" marL="457200" rtl="0" algn="l">
              <a:spcBef>
                <a:spcPts val="0"/>
              </a:spcBef>
              <a:spcAft>
                <a:spcPts val="0"/>
              </a:spcAft>
              <a:buSzPts val="1400"/>
              <a:buAutoNum type="arabicPeriod"/>
            </a:pPr>
            <a:r>
              <a:rPr lang="en"/>
              <a:t>Autocreate training series &amp; questions</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Over 2 Billion logged-in users visit YouTube each month and every day people watch over a billion hours of video and generate billions of views. More than 70% of YouTube watchtime comes from mobile devices. YouTube has launched local versions in more than 100 countries.</a:t>
            </a:r>
            <a:endParaRPr/>
          </a:p>
          <a:p>
            <a:pPr indent="0" lvl="0" marL="0" rtl="0" algn="l">
              <a:spcBef>
                <a:spcPts val="1600"/>
              </a:spcBef>
              <a:spcAft>
                <a:spcPts val="1600"/>
              </a:spcAft>
              <a:buNone/>
            </a:pPr>
            <a:r>
              <a:rPr lang="en"/>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Wifi</a:t>
            </a:r>
            <a:endParaRPr/>
          </a:p>
        </p:txBody>
      </p:sp>
      <p:sp>
        <p:nvSpPr>
          <p:cNvPr id="291" name="Google Shape;291;p50"/>
          <p:cNvSpPr txBox="1"/>
          <p:nvPr>
            <p:ph idx="1" type="body"/>
          </p:nvPr>
        </p:nvSpPr>
        <p:spPr>
          <a:xfrm>
            <a:off x="311700" y="1152475"/>
            <a:ext cx="51321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Local buffer for wifi</a:t>
            </a:r>
            <a:endParaRPr/>
          </a:p>
          <a:p>
            <a:pPr indent="-317500" lvl="0" marL="457200" rtl="0" algn="l">
              <a:spcBef>
                <a:spcPts val="0"/>
              </a:spcBef>
              <a:spcAft>
                <a:spcPts val="0"/>
              </a:spcAft>
              <a:buSzPts val="1400"/>
              <a:buAutoNum type="arabicPeriod"/>
            </a:pPr>
            <a:r>
              <a:rPr lang="en"/>
              <a:t>Qos on router</a:t>
            </a:r>
            <a:endParaRPr/>
          </a:p>
          <a:p>
            <a:pPr indent="-317500" lvl="0" marL="457200" rtl="0" algn="l">
              <a:spcBef>
                <a:spcPts val="0"/>
              </a:spcBef>
              <a:spcAft>
                <a:spcPts val="0"/>
              </a:spcAft>
              <a:buSzPts val="1400"/>
              <a:buAutoNum type="arabicPeriod"/>
            </a:pPr>
            <a:r>
              <a:rPr lang="en"/>
              <a:t>Send link to a friend to auto connect to guest wifi</a:t>
            </a:r>
            <a:endParaRPr/>
          </a:p>
          <a:p>
            <a:pPr indent="-317500" lvl="0" marL="457200" rtl="0" algn="l">
              <a:spcBef>
                <a:spcPts val="0"/>
              </a:spcBef>
              <a:spcAft>
                <a:spcPts val="0"/>
              </a:spcAft>
              <a:buSzPts val="1400"/>
              <a:buAutoNum type="arabicPeriod"/>
            </a:pPr>
            <a:r>
              <a:rPr lang="en"/>
              <a:t>Create user groups for security isolation </a:t>
            </a:r>
            <a:endParaRPr/>
          </a:p>
          <a:p>
            <a:pPr indent="-317500" lvl="0" marL="457200" rtl="0" algn="l">
              <a:spcBef>
                <a:spcPts val="0"/>
              </a:spcBef>
              <a:spcAft>
                <a:spcPts val="0"/>
              </a:spcAft>
              <a:buSzPts val="1400"/>
              <a:buAutoNum type="arabicPeriod"/>
            </a:pPr>
            <a:r>
              <a:rPr lang="en"/>
              <a:t>Kids - limited time, shut off after certain use,send reports</a:t>
            </a:r>
            <a:endParaRPr/>
          </a:p>
          <a:p>
            <a:pPr indent="-317500" lvl="0" marL="457200" rtl="0" algn="l">
              <a:spcBef>
                <a:spcPts val="0"/>
              </a:spcBef>
              <a:spcAft>
                <a:spcPts val="0"/>
              </a:spcAft>
              <a:buSzPts val="1400"/>
              <a:buAutoNum type="arabicPeriod"/>
            </a:pPr>
            <a:r>
              <a:rPr lang="en"/>
              <a:t>Intelligent</a:t>
            </a:r>
            <a:r>
              <a:rPr lang="en"/>
              <a:t> firewall based on cloud based </a:t>
            </a:r>
            <a:r>
              <a:rPr lang="en"/>
              <a:t>algorithm</a:t>
            </a:r>
            <a:r>
              <a:rPr lang="en"/>
              <a:t> - and restrictions for kids etc</a:t>
            </a:r>
            <a:endParaRPr/>
          </a:p>
          <a:p>
            <a:pPr indent="-317500" lvl="0" marL="457200" rtl="0" algn="l">
              <a:spcBef>
                <a:spcPts val="0"/>
              </a:spcBef>
              <a:spcAft>
                <a:spcPts val="0"/>
              </a:spcAft>
              <a:buSzPts val="1400"/>
              <a:buAutoNum type="arabicPeriod"/>
            </a:pPr>
            <a:r>
              <a:rPr lang="en"/>
              <a:t>Stop it from external attacks </a:t>
            </a:r>
            <a:endParaRPr/>
          </a:p>
          <a:p>
            <a:pPr indent="-317500" lvl="0" marL="457200" rtl="0" algn="l">
              <a:spcBef>
                <a:spcPts val="0"/>
              </a:spcBef>
              <a:spcAft>
                <a:spcPts val="0"/>
              </a:spcAft>
              <a:buSzPts val="1400"/>
              <a:buAutoNum type="arabicPeriod"/>
            </a:pPr>
            <a:r>
              <a:rPr lang="en"/>
              <a:t>Add smart home protocols </a:t>
            </a:r>
            <a:endParaRPr/>
          </a:p>
          <a:p>
            <a:pPr indent="-317500" lvl="0" marL="457200" rtl="0" algn="l">
              <a:spcBef>
                <a:spcPts val="0"/>
              </a:spcBef>
              <a:spcAft>
                <a:spcPts val="0"/>
              </a:spcAft>
              <a:buSzPts val="1400"/>
              <a:buAutoNum type="arabicPeriod"/>
            </a:pPr>
            <a:r>
              <a:rPr lang="en"/>
              <a:t>Offload local compute from iot to the router </a:t>
            </a:r>
            <a:endParaRPr/>
          </a:p>
          <a:p>
            <a:pPr indent="-317500" lvl="0" marL="457200" rtl="0" algn="l">
              <a:spcBef>
                <a:spcPts val="0"/>
              </a:spcBef>
              <a:spcAft>
                <a:spcPts val="0"/>
              </a:spcAft>
              <a:buSzPts val="1400"/>
              <a:buAutoNum type="arabicPeriod"/>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search</a:t>
            </a:r>
            <a:endParaRPr/>
          </a:p>
        </p:txBody>
      </p:sp>
      <p:sp>
        <p:nvSpPr>
          <p:cNvPr id="297" name="Google Shape;297;p5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a:t>Auto summarize based on various search results (can this impact revenue)</a:t>
            </a:r>
            <a:endParaRPr/>
          </a:p>
          <a:p>
            <a:pPr indent="-317500" lvl="0" marL="457200" rtl="0" algn="l">
              <a:spcBef>
                <a:spcPts val="0"/>
              </a:spcBef>
              <a:spcAft>
                <a:spcPts val="0"/>
              </a:spcAft>
              <a:buSzPts val="1400"/>
              <a:buAutoNum type="arabicPeriod"/>
            </a:pPr>
            <a:r>
              <a:rPr lang="en"/>
              <a:t>Better </a:t>
            </a:r>
            <a:r>
              <a:rPr lang="en"/>
              <a:t>understanding for context- for examples if you are looking for South America google understand that it would be animals</a:t>
            </a:r>
            <a:endParaRPr/>
          </a:p>
          <a:p>
            <a:pPr indent="0" lvl="0" marL="0" rtl="0" algn="l">
              <a:spcBef>
                <a:spcPts val="1600"/>
              </a:spcBef>
              <a:spcAft>
                <a:spcPts val="1600"/>
              </a:spcAft>
              <a:buNone/>
            </a:pPr>
            <a:r>
              <a:rPr lang="en" u="sng">
                <a:solidFill>
                  <a:schemeClr val="hlink"/>
                </a:solidFill>
                <a:hlinkClick r:id="rId3"/>
              </a:rPr>
              <a:t>https://link.medium.com/5uzqZeqvi6</a:t>
            </a:r>
            <a:r>
              <a:rPr lang="en"/>
              <a:t> </a:t>
            </a:r>
            <a:endParaRPr/>
          </a:p>
        </p:txBody>
      </p:sp>
      <p:sp>
        <p:nvSpPr>
          <p:cNvPr id="298" name="Google Shape;298;p5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Gmail</a:t>
            </a:r>
            <a:endParaRPr/>
          </a:p>
        </p:txBody>
      </p:sp>
      <p:sp>
        <p:nvSpPr>
          <p:cNvPr id="304" name="Google Shape;304;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Write complete email to responder - given a summary or intent</a:t>
            </a:r>
            <a:endParaRPr/>
          </a:p>
          <a:p>
            <a:pPr indent="-342900" lvl="0" marL="457200" rtl="0" algn="l">
              <a:spcBef>
                <a:spcPts val="0"/>
              </a:spcBef>
              <a:spcAft>
                <a:spcPts val="0"/>
              </a:spcAft>
              <a:buSzPts val="1800"/>
              <a:buAutoNum type="arabicPeriod"/>
            </a:pPr>
            <a:r>
              <a:rPr lang="en"/>
              <a:t>Calendar integration - to </a:t>
            </a:r>
            <a:r>
              <a:rPr lang="en"/>
              <a:t>auto schedule</a:t>
            </a:r>
            <a:r>
              <a:rPr lang="en"/>
              <a:t> appointments</a:t>
            </a:r>
            <a:endParaRPr/>
          </a:p>
          <a:p>
            <a:pPr indent="-342900" lvl="0" marL="457200" rtl="0" algn="l">
              <a:spcBef>
                <a:spcPts val="0"/>
              </a:spcBef>
              <a:spcAft>
                <a:spcPts val="0"/>
              </a:spcAft>
              <a:buSzPts val="1800"/>
              <a:buAutoNum type="arabicPeriod"/>
            </a:pPr>
            <a:r>
              <a:rPr lang="en"/>
              <a:t>Summarize a thread - either its long or old for </a:t>
            </a:r>
            <a:r>
              <a:rPr lang="en"/>
              <a:t>context</a:t>
            </a:r>
            <a:endParaRPr/>
          </a:p>
          <a:p>
            <a:pPr indent="-342900" lvl="0" marL="457200" rtl="0" algn="l">
              <a:spcBef>
                <a:spcPts val="0"/>
              </a:spcBef>
              <a:spcAft>
                <a:spcPts val="0"/>
              </a:spcAft>
              <a:buSzPts val="1800"/>
              <a:buAutoNum type="arabicPeriod"/>
            </a:pPr>
            <a:r>
              <a:rPr lang="en"/>
              <a:t>Allow searching all </a:t>
            </a:r>
            <a:r>
              <a:rPr lang="en"/>
              <a:t>attachments</a:t>
            </a:r>
            <a:r>
              <a:rPr lang="en"/>
              <a:t> with some kind of faceted search</a:t>
            </a:r>
            <a:endParaRPr/>
          </a:p>
          <a:p>
            <a:pPr indent="-342900" lvl="0" marL="457200" rtl="0" algn="l">
              <a:spcBef>
                <a:spcPts val="0"/>
              </a:spcBef>
              <a:spcAft>
                <a:spcPts val="0"/>
              </a:spcAft>
              <a:buSzPts val="1800"/>
              <a:buAutoNum type="arabicPeriod"/>
            </a:pPr>
            <a:r>
              <a:rPr lang="en"/>
              <a:t>Get email analytics - who is sending the most email</a:t>
            </a:r>
            <a:endParaRPr/>
          </a:p>
          <a:p>
            <a:pPr indent="-342900" lvl="0" marL="457200" rtl="0" algn="l">
              <a:spcBef>
                <a:spcPts val="0"/>
              </a:spcBef>
              <a:spcAft>
                <a:spcPts val="0"/>
              </a:spcAft>
              <a:buSzPts val="1800"/>
              <a:buAutoNum type="arabicPeriod"/>
            </a:pPr>
            <a:r>
              <a:rPr lang="en"/>
              <a:t>Will this email get a response? Measure </a:t>
            </a:r>
            <a:r>
              <a:rPr lang="en"/>
              <a:t>effectiveness</a:t>
            </a:r>
            <a:endParaRPr/>
          </a:p>
          <a:p>
            <a:pPr indent="-342900" lvl="0" marL="457200" rtl="0" algn="l">
              <a:spcBef>
                <a:spcPts val="0"/>
              </a:spcBef>
              <a:spcAft>
                <a:spcPts val="0"/>
              </a:spcAft>
              <a:buSzPts val="1800"/>
              <a:buAutoNum type="arabicPeriod"/>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Home	</a:t>
            </a:r>
            <a:endParaRPr/>
          </a:p>
        </p:txBody>
      </p:sp>
      <p:sp>
        <p:nvSpPr>
          <p:cNvPr id="310" name="Google Shape;310;p53"/>
          <p:cNvSpPr txBox="1"/>
          <p:nvPr>
            <p:ph idx="1" type="body"/>
          </p:nvPr>
        </p:nvSpPr>
        <p:spPr>
          <a:xfrm>
            <a:off x="311700" y="1152475"/>
            <a:ext cx="8634900" cy="356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Mission: </a:t>
            </a:r>
            <a:endParaRPr/>
          </a:p>
          <a:p>
            <a:pPr indent="457200" lvl="0" marL="0" rtl="0" algn="l">
              <a:spcBef>
                <a:spcPts val="1600"/>
              </a:spcBef>
              <a:spcAft>
                <a:spcPts val="0"/>
              </a:spcAft>
              <a:buNone/>
            </a:pPr>
            <a:r>
              <a:rPr b="1" lang="en"/>
              <a:t>Goal</a:t>
            </a:r>
            <a:r>
              <a:rPr lang="en"/>
              <a:t> : Business goal/User Goal : Google setting the trend.</a:t>
            </a:r>
            <a:endParaRPr/>
          </a:p>
          <a:p>
            <a:pPr indent="457200" lvl="0" marL="0" rtl="0" algn="l">
              <a:spcBef>
                <a:spcPts val="1600"/>
              </a:spcBef>
              <a:spcAft>
                <a:spcPts val="0"/>
              </a:spcAft>
              <a:buNone/>
            </a:pPr>
            <a:r>
              <a:rPr lang="en"/>
              <a:t>Competition</a:t>
            </a:r>
            <a:r>
              <a:rPr lang="en"/>
              <a:t> , Apple,</a:t>
            </a:r>
            <a:r>
              <a:rPr lang="en"/>
              <a:t>Industry life cycle: </a:t>
            </a:r>
            <a:endParaRPr/>
          </a:p>
          <a:p>
            <a:pPr indent="-342900" lvl="0" marL="457200" rtl="0" algn="l">
              <a:spcBef>
                <a:spcPts val="1600"/>
              </a:spcBef>
              <a:spcAft>
                <a:spcPts val="0"/>
              </a:spcAft>
              <a:buSzPts val="1800"/>
              <a:buChar char="-"/>
            </a:pPr>
            <a:r>
              <a:rPr lang="en"/>
              <a:t>Segment for next 5 years: </a:t>
            </a:r>
            <a:r>
              <a:rPr lang="en" sz="1200">
                <a:solidFill>
                  <a:srgbClr val="222222"/>
                </a:solidFill>
                <a:highlight>
                  <a:srgbClr val="FFFFFF"/>
                </a:highlight>
              </a:rPr>
              <a:t> </a:t>
            </a:r>
            <a:r>
              <a:rPr b="1" lang="en" sz="1200">
                <a:solidFill>
                  <a:srgbClr val="222222"/>
                </a:solidFill>
                <a:highlight>
                  <a:srgbClr val="FFFFFF"/>
                </a:highlight>
              </a:rPr>
              <a:t>Segmentation</a:t>
            </a:r>
            <a:r>
              <a:rPr lang="en" sz="1200">
                <a:solidFill>
                  <a:srgbClr val="222222"/>
                </a:solidFill>
                <a:highlight>
                  <a:srgbClr val="FFFFFF"/>
                </a:highlight>
              </a:rPr>
              <a:t>, Targeting, and </a:t>
            </a:r>
            <a:r>
              <a:rPr b="1" lang="en" sz="1200">
                <a:solidFill>
                  <a:srgbClr val="222222"/>
                </a:solidFill>
                <a:highlight>
                  <a:srgbClr val="FFFFFF"/>
                </a:highlight>
              </a:rPr>
              <a:t>Positioning</a:t>
            </a:r>
            <a:endParaRPr/>
          </a:p>
          <a:p>
            <a:pPr indent="-342900" lvl="0" marL="457200" rtl="0" algn="l">
              <a:spcBef>
                <a:spcPts val="0"/>
              </a:spcBef>
              <a:spcAft>
                <a:spcPts val="0"/>
              </a:spcAft>
              <a:buSzPts val="1800"/>
              <a:buChar char="-"/>
            </a:pPr>
            <a:r>
              <a:rPr lang="en"/>
              <a:t>threats/ weakness: developing worlds (pricing (demand/supply sides/distribution channels), product (better product), price , placement </a:t>
            </a:r>
            <a:endParaRPr/>
          </a:p>
          <a:p>
            <a:pPr indent="-342900" lvl="0" marL="457200" rtl="0" algn="l">
              <a:spcBef>
                <a:spcPts val="0"/>
              </a:spcBef>
              <a:spcAft>
                <a:spcPts val="0"/>
              </a:spcAft>
              <a:buSzPts val="1800"/>
              <a:buChar char="-"/>
            </a:pPr>
            <a:r>
              <a:rPr lang="en"/>
              <a:t>Market segment: 4p: </a:t>
            </a:r>
            <a:endParaRPr/>
          </a:p>
          <a:p>
            <a:pPr indent="-342900" lvl="0" marL="457200" rtl="0" algn="l">
              <a:spcBef>
                <a:spcPts val="0"/>
              </a:spcBef>
              <a:spcAft>
                <a:spcPts val="0"/>
              </a:spcAft>
              <a:buSzPts val="1800"/>
              <a:buChar char="-"/>
            </a:pPr>
            <a:r>
              <a:rPr lang="en"/>
              <a:t>To get the </a:t>
            </a:r>
            <a:r>
              <a:rPr lang="en"/>
              <a:t>vision</a:t>
            </a:r>
            <a:r>
              <a:rPr lang="en"/>
              <a:t> , merge with </a:t>
            </a:r>
            <a:r>
              <a:rPr lang="en"/>
              <a:t>assistant</a:t>
            </a:r>
            <a:endParaRPr/>
          </a:p>
          <a:p>
            <a:pPr indent="457200" lvl="0" marL="0" rtl="0" algn="l">
              <a:spcBef>
                <a:spcPts val="1600"/>
              </a:spcBef>
              <a:spcAft>
                <a:spcPts val="16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Home	</a:t>
            </a:r>
            <a:endParaRPr/>
          </a:p>
        </p:txBody>
      </p:sp>
      <p:sp>
        <p:nvSpPr>
          <p:cNvPr id="316" name="Google Shape;316;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Camera integration</a:t>
            </a:r>
            <a:endParaRPr/>
          </a:p>
          <a:p>
            <a:pPr indent="-342900" lvl="0" marL="457200" rtl="0" algn="l">
              <a:spcBef>
                <a:spcPts val="0"/>
              </a:spcBef>
              <a:spcAft>
                <a:spcPts val="0"/>
              </a:spcAft>
              <a:buSzPts val="1800"/>
              <a:buAutoNum type="arabicPeriod"/>
            </a:pPr>
            <a:r>
              <a:rPr lang="en"/>
              <a:t>Detect gesture</a:t>
            </a:r>
            <a:endParaRPr/>
          </a:p>
          <a:p>
            <a:pPr indent="-342900" lvl="0" marL="457200" rtl="0" algn="l">
              <a:spcBef>
                <a:spcPts val="0"/>
              </a:spcBef>
              <a:spcAft>
                <a:spcPts val="0"/>
              </a:spcAft>
              <a:buSzPts val="1800"/>
              <a:buAutoNum type="arabicPeriod"/>
            </a:pPr>
            <a:r>
              <a:rPr lang="en"/>
              <a:t>Google home for enterprise</a:t>
            </a:r>
            <a:endParaRPr/>
          </a:p>
          <a:p>
            <a:pPr indent="-342900" lvl="0" marL="457200" rtl="0" algn="l">
              <a:spcBef>
                <a:spcPts val="0"/>
              </a:spcBef>
              <a:spcAft>
                <a:spcPts val="0"/>
              </a:spcAft>
              <a:buSzPts val="1800"/>
              <a:buAutoNum type="arabicPeriod"/>
            </a:pPr>
            <a:r>
              <a:rPr lang="en"/>
              <a:t>Predicting what tasks a person should do and guide them </a:t>
            </a:r>
            <a:r>
              <a:rPr lang="en"/>
              <a:t>proactively</a:t>
            </a:r>
            <a:r>
              <a:rPr lang="en"/>
              <a:t> - e.g. would you like to order in food? Call your mom</a:t>
            </a:r>
            <a:endParaRPr/>
          </a:p>
          <a:p>
            <a:pPr indent="-342900" lvl="0" marL="457200" rtl="0" algn="l">
              <a:spcBef>
                <a:spcPts val="0"/>
              </a:spcBef>
              <a:spcAft>
                <a:spcPts val="0"/>
              </a:spcAft>
              <a:buSzPts val="1800"/>
              <a:buAutoNum type="arabicPeriod"/>
            </a:pPr>
            <a:r>
              <a:rPr lang="en"/>
              <a:t>Security</a:t>
            </a:r>
            <a:endParaRPr/>
          </a:p>
          <a:p>
            <a:pPr indent="-342900" lvl="0" marL="457200" rtl="0" algn="l">
              <a:spcBef>
                <a:spcPts val="0"/>
              </a:spcBef>
              <a:spcAft>
                <a:spcPts val="0"/>
              </a:spcAft>
              <a:buSzPts val="1800"/>
              <a:buAutoNum type="arabicPeriod"/>
            </a:pPr>
            <a:r>
              <a:rPr lang="en"/>
              <a:t>Health</a:t>
            </a:r>
            <a:endParaRPr/>
          </a:p>
          <a:p>
            <a:pPr indent="0" lvl="0" marL="457200" rtl="0" algn="l">
              <a:spcBef>
                <a:spcPts val="1600"/>
              </a:spcBef>
              <a:spcAft>
                <a:spcPts val="16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gmail</a:t>
            </a:r>
            <a:endParaRPr/>
          </a:p>
        </p:txBody>
      </p:sp>
      <p:sp>
        <p:nvSpPr>
          <p:cNvPr id="322" name="Google Shape;322;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Video email</a:t>
            </a:r>
            <a:endParaRPr/>
          </a:p>
          <a:p>
            <a:pPr indent="-342900" lvl="0" marL="457200" rtl="0" algn="l">
              <a:spcBef>
                <a:spcPts val="0"/>
              </a:spcBef>
              <a:spcAft>
                <a:spcPts val="0"/>
              </a:spcAft>
              <a:buSzPts val="1800"/>
              <a:buAutoNum type="arabicPeriod"/>
            </a:pPr>
            <a:r>
              <a:rPr lang="en"/>
              <a:t>Invite person to the VR world </a:t>
            </a:r>
            <a:endParaRPr/>
          </a:p>
          <a:p>
            <a:pPr indent="-342900" lvl="0" marL="457200" rtl="0" algn="l">
              <a:spcBef>
                <a:spcPts val="0"/>
              </a:spcBef>
              <a:spcAft>
                <a:spcPts val="0"/>
              </a:spcAft>
              <a:buSzPts val="1800"/>
              <a:buAutoNum type="arabicPeriod"/>
            </a:pPr>
            <a:r>
              <a:rPr lang="en"/>
              <a:t>Recyclable emails </a:t>
            </a:r>
            <a:r>
              <a:rPr lang="en"/>
              <a:t>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maps</a:t>
            </a:r>
            <a:endParaRPr/>
          </a:p>
        </p:txBody>
      </p:sp>
      <p:sp>
        <p:nvSpPr>
          <p:cNvPr id="328" name="Google Shape;328;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Book appointments for restaurants automatically</a:t>
            </a:r>
            <a:endParaRPr/>
          </a:p>
          <a:p>
            <a:pPr indent="-342900" lvl="0" marL="457200" rtl="0" algn="l">
              <a:spcBef>
                <a:spcPts val="0"/>
              </a:spcBef>
              <a:spcAft>
                <a:spcPts val="0"/>
              </a:spcAft>
              <a:buSzPts val="1800"/>
              <a:buAutoNum type="arabicPeriod"/>
            </a:pPr>
            <a:r>
              <a:rPr lang="en"/>
              <a:t>AR based experience - see the food before you visit</a:t>
            </a:r>
            <a:endParaRPr/>
          </a:p>
          <a:p>
            <a:pPr indent="-342900" lvl="0" marL="457200" rtl="0" algn="l">
              <a:spcBef>
                <a:spcPts val="0"/>
              </a:spcBef>
              <a:spcAft>
                <a:spcPts val="0"/>
              </a:spcAft>
              <a:buSzPts val="1800"/>
              <a:buAutoNum type="arabicPeriod"/>
            </a:pPr>
            <a:r>
              <a:rPr lang="en"/>
              <a:t>Route preferences based on historically patterns - take a specific route</a:t>
            </a:r>
            <a:endParaRPr/>
          </a:p>
          <a:p>
            <a:pPr indent="-342900" lvl="0" marL="457200" rtl="0" algn="l">
              <a:spcBef>
                <a:spcPts val="0"/>
              </a:spcBef>
              <a:spcAft>
                <a:spcPts val="0"/>
              </a:spcAft>
              <a:buSzPts val="1800"/>
              <a:buAutoNum type="arabicPeriod"/>
            </a:pPr>
            <a:r>
              <a:rPr lang="en"/>
              <a:t>Kids drop off considered during </a:t>
            </a:r>
            <a:r>
              <a:rPr lang="en"/>
              <a:t>commute</a:t>
            </a:r>
            <a:endParaRPr/>
          </a:p>
          <a:p>
            <a:pPr indent="-342900" lvl="0" marL="457200" rtl="0" algn="l">
              <a:spcBef>
                <a:spcPts val="0"/>
              </a:spcBef>
              <a:spcAft>
                <a:spcPts val="0"/>
              </a:spcAft>
              <a:buSzPts val="1800"/>
              <a:buAutoNum type="arabicPeriod"/>
            </a:pPr>
            <a:r>
              <a:rPr lang="en"/>
              <a:t>Show crime report - for a location or along the route - avoid crime</a:t>
            </a:r>
            <a:endParaRPr/>
          </a:p>
          <a:p>
            <a:pPr indent="-342900" lvl="0" marL="457200" rtl="0" algn="l">
              <a:spcBef>
                <a:spcPts val="0"/>
              </a:spcBef>
              <a:spcAft>
                <a:spcPts val="0"/>
              </a:spcAft>
              <a:buSzPts val="1800"/>
              <a:buAutoNum type="arabicPeriod"/>
            </a:pPr>
            <a:r>
              <a:rPr lang="en"/>
              <a:t>Kid friendly route - safe, have food etc</a:t>
            </a:r>
            <a:endParaRPr/>
          </a:p>
          <a:p>
            <a:pPr indent="-342900" lvl="0" marL="457200" rtl="0" algn="l">
              <a:spcBef>
                <a:spcPts val="0"/>
              </a:spcBef>
              <a:spcAft>
                <a:spcPts val="0"/>
              </a:spcAft>
              <a:buSzPts val="1800"/>
              <a:buAutoNum type="arabicPeriod"/>
            </a:pPr>
            <a:r>
              <a:rPr lang="en"/>
              <a:t>Plan the entire trip for the user - based on stops etc</a:t>
            </a:r>
            <a:endParaRPr/>
          </a:p>
          <a:p>
            <a:pPr indent="-342900" lvl="0" marL="457200" rtl="0" algn="l">
              <a:spcBef>
                <a:spcPts val="0"/>
              </a:spcBef>
              <a:spcAft>
                <a:spcPts val="0"/>
              </a:spcAft>
              <a:buSzPts val="1800"/>
              <a:buAutoNum type="arabicPeriod"/>
            </a:pPr>
            <a:r>
              <a:rPr lang="en"/>
              <a:t>Commuter - propose daily best routes and times to leave</a:t>
            </a:r>
            <a:endParaRPr/>
          </a:p>
          <a:p>
            <a:pPr indent="-342900" lvl="0" marL="457200" rtl="0" algn="l">
              <a:spcBef>
                <a:spcPts val="0"/>
              </a:spcBef>
              <a:spcAft>
                <a:spcPts val="0"/>
              </a:spcAft>
              <a:buSzPts val="1800"/>
              <a:buAutoNum type="arabicPeriod"/>
            </a:pPr>
            <a:r>
              <a:rPr lang="en"/>
              <a:t>Kids status - report to parents, warn kids if in danger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Ads</a:t>
            </a:r>
            <a:endParaRPr/>
          </a:p>
        </p:txBody>
      </p:sp>
      <p:sp>
        <p:nvSpPr>
          <p:cNvPr id="334" name="Google Shape;334;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YT - add save for later not just skip ad</a:t>
            </a:r>
            <a:endParaRPr/>
          </a:p>
          <a:p>
            <a:pPr indent="-342900" lvl="0" marL="457200" rtl="0" algn="l">
              <a:spcBef>
                <a:spcPts val="0"/>
              </a:spcBef>
              <a:spcAft>
                <a:spcPts val="0"/>
              </a:spcAft>
              <a:buSzPts val="1800"/>
              <a:buAutoNum type="arabicPeriod"/>
            </a:pPr>
            <a:r>
              <a:rPr lang="en"/>
              <a:t>YT - ads as content</a:t>
            </a:r>
            <a:endParaRPr/>
          </a:p>
          <a:p>
            <a:pPr indent="-342900" lvl="0" marL="457200" rtl="0" algn="l">
              <a:spcBef>
                <a:spcPts val="0"/>
              </a:spcBef>
              <a:spcAft>
                <a:spcPts val="0"/>
              </a:spcAft>
              <a:buSzPts val="1800"/>
              <a:buAutoNum type="arabicPeriod"/>
            </a:pPr>
            <a:r>
              <a:rPr lang="en"/>
              <a:t>AR experience - click pic to find the refrigerator </a:t>
            </a:r>
            <a:endParaRPr/>
          </a:p>
          <a:p>
            <a:pPr indent="-342900" lvl="0" marL="457200" rtl="0" algn="l">
              <a:spcBef>
                <a:spcPts val="0"/>
              </a:spcBef>
              <a:spcAft>
                <a:spcPts val="0"/>
              </a:spcAft>
              <a:buSzPts val="1800"/>
              <a:buAutoNum type="arabicPeriod"/>
            </a:pPr>
            <a:r>
              <a:rPr lang="en"/>
              <a:t>Purchase complete at google.com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WhatsApp</a:t>
            </a:r>
            <a:endParaRPr/>
          </a:p>
        </p:txBody>
      </p:sp>
      <p:sp>
        <p:nvSpPr>
          <p:cNvPr id="340" name="Google Shape;340;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Image management</a:t>
            </a:r>
            <a:endParaRPr/>
          </a:p>
          <a:p>
            <a:pPr indent="-342900" lvl="0" marL="457200" rtl="0" algn="l">
              <a:spcBef>
                <a:spcPts val="0"/>
              </a:spcBef>
              <a:spcAft>
                <a:spcPts val="0"/>
              </a:spcAft>
              <a:buSzPts val="1800"/>
              <a:buAutoNum type="arabicPeriod"/>
            </a:pPr>
            <a:r>
              <a:rPr lang="en"/>
              <a:t>Event/Calendar management</a:t>
            </a:r>
            <a:endParaRPr/>
          </a:p>
          <a:p>
            <a:pPr indent="-342900" lvl="0" marL="457200" rtl="0" algn="l">
              <a:spcBef>
                <a:spcPts val="0"/>
              </a:spcBef>
              <a:spcAft>
                <a:spcPts val="0"/>
              </a:spcAft>
              <a:buSzPts val="1800"/>
              <a:buAutoNum type="arabicPeriod"/>
            </a:pPr>
            <a:r>
              <a:rPr lang="en"/>
              <a:t>Integration with photos</a:t>
            </a:r>
            <a:endParaRPr/>
          </a:p>
          <a:p>
            <a:pPr indent="-342900" lvl="0" marL="457200" rtl="0" algn="l">
              <a:spcBef>
                <a:spcPts val="0"/>
              </a:spcBef>
              <a:spcAft>
                <a:spcPts val="0"/>
              </a:spcAft>
              <a:buSzPts val="1800"/>
              <a:buAutoNum type="arabicPeriod"/>
            </a:pPr>
            <a:r>
              <a:rPr lang="en"/>
              <a:t>Business integration</a:t>
            </a:r>
            <a:endParaRPr/>
          </a:p>
          <a:p>
            <a:pPr indent="-342900" lvl="0" marL="457200" rtl="0" algn="l">
              <a:spcBef>
                <a:spcPts val="0"/>
              </a:spcBef>
              <a:spcAft>
                <a:spcPts val="0"/>
              </a:spcAft>
              <a:buSzPts val="1800"/>
              <a:buAutoNum type="arabicPeriod"/>
            </a:pPr>
            <a:r>
              <a:rPr lang="en"/>
              <a:t>Price quotes and payments</a:t>
            </a:r>
            <a:endParaRPr/>
          </a:p>
          <a:p>
            <a:pPr indent="-342900" lvl="0" marL="457200" rtl="0" algn="l">
              <a:spcBef>
                <a:spcPts val="0"/>
              </a:spcBef>
              <a:spcAft>
                <a:spcPts val="0"/>
              </a:spcAft>
              <a:buSzPts val="1800"/>
              <a:buAutoNum type="arabicPeriod"/>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news</a:t>
            </a:r>
            <a:endParaRPr/>
          </a:p>
        </p:txBody>
      </p:sp>
      <p:sp>
        <p:nvSpPr>
          <p:cNvPr id="346" name="Google Shape;346;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Assistant</a:t>
            </a:r>
            <a:endParaRPr/>
          </a:p>
        </p:txBody>
      </p:sp>
      <p:sp>
        <p:nvSpPr>
          <p:cNvPr id="352" name="Google Shape;352;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Available on phone:</a:t>
            </a:r>
            <a:endParaRPr/>
          </a:p>
          <a:p>
            <a:pPr indent="0" lvl="0" marL="0" rtl="0" algn="l">
              <a:spcBef>
                <a:spcPts val="1600"/>
              </a:spcBef>
              <a:spcAft>
                <a:spcPts val="0"/>
              </a:spcAft>
              <a:buNone/>
            </a:pPr>
            <a:r>
              <a:rPr lang="en" sz="1200">
                <a:solidFill>
                  <a:srgbClr val="263238"/>
                </a:solidFill>
                <a:highlight>
                  <a:srgbClr val="FFFFFF"/>
                </a:highlight>
                <a:latin typeface="Roboto"/>
                <a:ea typeface="Roboto"/>
                <a:cs typeface="Roboto"/>
                <a:sym typeface="Roboto"/>
              </a:rPr>
              <a:t>Manage task :Send a text, set reminders, turn on battery saver and instantly look up emails and more</a:t>
            </a:r>
            <a:endParaRPr sz="1200">
              <a:solidFill>
                <a:srgbClr val="263238"/>
              </a:solidFill>
              <a:highlight>
                <a:srgbClr val="FFFFFF"/>
              </a:highlight>
              <a:latin typeface="Roboto"/>
              <a:ea typeface="Roboto"/>
              <a:cs typeface="Roboto"/>
              <a:sym typeface="Roboto"/>
            </a:endParaRPr>
          </a:p>
          <a:p>
            <a:pPr indent="0" lvl="0" marL="0" rtl="0" algn="l">
              <a:spcBef>
                <a:spcPts val="1600"/>
              </a:spcBef>
              <a:spcAft>
                <a:spcPts val="0"/>
              </a:spcAft>
              <a:buNone/>
            </a:pPr>
            <a:r>
              <a:rPr lang="en" sz="1200">
                <a:solidFill>
                  <a:srgbClr val="263238"/>
                </a:solidFill>
                <a:highlight>
                  <a:srgbClr val="FFFFFF"/>
                </a:highlight>
                <a:latin typeface="Roboto"/>
                <a:ea typeface="Roboto"/>
                <a:cs typeface="Roboto"/>
                <a:sym typeface="Roboto"/>
              </a:rPr>
              <a:t>Plan your dayCheck your flight status, find the quickest way to the airport by public transport or by car, play your favourite songs and find a coffee stop along your route.</a:t>
            </a:r>
            <a:endParaRPr sz="1200">
              <a:solidFill>
                <a:srgbClr val="263238"/>
              </a:solidFill>
              <a:highlight>
                <a:srgbClr val="FFFFFF"/>
              </a:highlight>
              <a:latin typeface="Roboto"/>
              <a:ea typeface="Roboto"/>
              <a:cs typeface="Roboto"/>
              <a:sym typeface="Roboto"/>
            </a:endParaRPr>
          </a:p>
          <a:p>
            <a:pPr indent="0" lvl="0" marL="0" rtl="0" algn="l">
              <a:spcBef>
                <a:spcPts val="1600"/>
              </a:spcBef>
              <a:spcAft>
                <a:spcPts val="0"/>
              </a:spcAft>
              <a:buNone/>
            </a:pPr>
            <a:r>
              <a:rPr lang="en" sz="1200">
                <a:solidFill>
                  <a:srgbClr val="263238"/>
                </a:solidFill>
                <a:highlight>
                  <a:srgbClr val="FFFFFF"/>
                </a:highlight>
                <a:latin typeface="Roboto"/>
                <a:ea typeface="Roboto"/>
                <a:cs typeface="Roboto"/>
                <a:sym typeface="Roboto"/>
              </a:rPr>
              <a:t>Entertaintment:Play your latest songs, podcasts and control your music from your favourite media provider such as YouTube Music and Spotify.</a:t>
            </a:r>
            <a:endParaRPr sz="1200">
              <a:solidFill>
                <a:srgbClr val="263238"/>
              </a:solidFill>
              <a:highlight>
                <a:srgbClr val="FFFFFF"/>
              </a:highlight>
              <a:latin typeface="Roboto"/>
              <a:ea typeface="Roboto"/>
              <a:cs typeface="Roboto"/>
              <a:sym typeface="Roboto"/>
            </a:endParaRPr>
          </a:p>
          <a:p>
            <a:pPr indent="0" lvl="0" marL="0" rtl="0" algn="l">
              <a:spcBef>
                <a:spcPts val="1600"/>
              </a:spcBef>
              <a:spcAft>
                <a:spcPts val="0"/>
              </a:spcAft>
              <a:buNone/>
            </a:pPr>
            <a:r>
              <a:rPr lang="en" sz="1300">
                <a:solidFill>
                  <a:srgbClr val="202124"/>
                </a:solidFill>
              </a:rPr>
              <a:t>Make memories: </a:t>
            </a:r>
            <a:r>
              <a:rPr lang="en" sz="1200">
                <a:solidFill>
                  <a:srgbClr val="263238"/>
                </a:solidFill>
                <a:highlight>
                  <a:srgbClr val="FFFFFF"/>
                </a:highlight>
                <a:latin typeface="Roboto"/>
                <a:ea typeface="Roboto"/>
                <a:cs typeface="Roboto"/>
                <a:sym typeface="Roboto"/>
              </a:rPr>
              <a:t>Your Assistant makes it incredibly simple to find your photos — and to take them as well.</a:t>
            </a:r>
            <a:endParaRPr sz="1200">
              <a:solidFill>
                <a:srgbClr val="263238"/>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rgbClr val="263238"/>
                </a:solidFill>
                <a:highlight>
                  <a:srgbClr val="FFFFFF"/>
                </a:highlight>
                <a:latin typeface="Roboto"/>
                <a:ea typeface="Roboto"/>
                <a:cs typeface="Roboto"/>
                <a:sym typeface="Roboto"/>
              </a:rPr>
              <a:t>Control your home:Use your phone to control your smart home devices. Adjust the temperature, lighting, and more, even when you’re not home.</a:t>
            </a:r>
            <a:endParaRPr sz="1200">
              <a:solidFill>
                <a:srgbClr val="263238"/>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rgbClr val="263238"/>
                </a:solidFill>
                <a:highlight>
                  <a:srgbClr val="FFFFFF"/>
                </a:highlight>
                <a:latin typeface="Roboto"/>
                <a:ea typeface="Roboto"/>
                <a:cs typeface="Roboto"/>
                <a:sym typeface="Roboto"/>
              </a:rPr>
              <a:t>Navigate your CAR: Ask your Google Assistant to start your commute and help you find the things you need on the go, such as petrol stations, restaurants, and stores</a:t>
            </a:r>
            <a:endParaRPr sz="1200">
              <a:solidFill>
                <a:srgbClr val="263238"/>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lang="en" sz="1200">
                <a:solidFill>
                  <a:srgbClr val="263238"/>
                </a:solidFill>
                <a:highlight>
                  <a:srgbClr val="FFFFFF"/>
                </a:highlight>
                <a:latin typeface="Roboto"/>
                <a:ea typeface="Roboto"/>
                <a:cs typeface="Roboto"/>
                <a:sym typeface="Roboto"/>
              </a:rPr>
              <a:t>: </a:t>
            </a:r>
            <a:endParaRPr sz="1200">
              <a:solidFill>
                <a:srgbClr val="263238"/>
              </a:solidFill>
              <a:highlight>
                <a:srgbClr val="FFFFFF"/>
              </a:highlight>
              <a:latin typeface="Roboto"/>
              <a:ea typeface="Roboto"/>
              <a:cs typeface="Roboto"/>
              <a:sym typeface="Roboto"/>
            </a:endParaRPr>
          </a:p>
          <a:p>
            <a:pPr indent="0" lvl="0" marL="0" rtl="0" algn="l">
              <a:spcBef>
                <a:spcPts val="1600"/>
              </a:spcBef>
              <a:spcAft>
                <a:spcPts val="1600"/>
              </a:spcAft>
              <a:buNone/>
            </a:pPr>
            <a:r>
              <a:t/>
            </a:r>
            <a:endParaRPr sz="1200">
              <a:solidFill>
                <a:srgbClr val="263238"/>
              </a:solidFill>
              <a:highlight>
                <a:srgbClr val="FFFFFF"/>
              </a:highlight>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HArdware</a:t>
            </a:r>
            <a:endParaRPr/>
          </a:p>
        </p:txBody>
      </p:sp>
      <p:sp>
        <p:nvSpPr>
          <p:cNvPr id="358" name="Google Shape;358;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 Nest ,</a:t>
            </a:r>
            <a:r>
              <a:rPr lang="en" sz="1350">
                <a:solidFill>
                  <a:srgbClr val="423F3F"/>
                </a:solidFill>
                <a:highlight>
                  <a:srgbClr val="FAFAFA"/>
                </a:highlight>
                <a:latin typeface="Roboto"/>
                <a:ea typeface="Roboto"/>
                <a:cs typeface="Roboto"/>
                <a:sym typeface="Roboto"/>
              </a:rPr>
              <a:t>Enhance your security. Get 10% off Nest Cam Indoor, Nest Cam Outdoor, or Nest Hello video doorbell, doorbellm alarm, Camera:</a:t>
            </a:r>
            <a:r>
              <a:rPr lang="en" sz="1300">
                <a:solidFill>
                  <a:srgbClr val="252A40"/>
                </a:solidFill>
                <a:highlight>
                  <a:srgbClr val="F5F5F5"/>
                </a:highlight>
                <a:latin typeface="Roboto"/>
                <a:ea typeface="Roboto"/>
                <a:cs typeface="Roboto"/>
                <a:sym typeface="Roboto"/>
              </a:rPr>
              <a:t>Nest takes note of how you move around your house throughout the week, adjusting the various temperature settings according to the time of day and your habits. With the third-generation model, a new set of sensors called Farsight make this even more accurate.Farsight detects when you enter a room or walk past it up to five meters away, a significant improvement over earlier models. Additionally, up to 10 additional sensors can monitor temperatures in other rooms, further optimizing your heating and cooling. You can monitor temperature from a much farther distance thanks to a 3.25-inch screen, a half-inch bigger than previous model.</a:t>
            </a:r>
            <a:r>
              <a:rPr b="1" lang="en" sz="1200">
                <a:solidFill>
                  <a:srgbClr val="222222"/>
                </a:solidFill>
              </a:rPr>
              <a:t>Nest</a:t>
            </a:r>
            <a:r>
              <a:rPr b="1" lang="en" sz="1200">
                <a:solidFill>
                  <a:srgbClr val="222222"/>
                </a:solidFill>
                <a:highlight>
                  <a:srgbClr val="FFFFFF"/>
                </a:highlight>
              </a:rPr>
              <a:t> learns your patterns effortlessly. The </a:t>
            </a:r>
            <a:r>
              <a:rPr b="1" lang="en" sz="1200">
                <a:solidFill>
                  <a:srgbClr val="222222"/>
                </a:solidFill>
              </a:rPr>
              <a:t>Nest's</a:t>
            </a:r>
            <a:r>
              <a:rPr b="1" lang="en" sz="1200">
                <a:solidFill>
                  <a:srgbClr val="222222"/>
                </a:solidFill>
                <a:highlight>
                  <a:srgbClr val="FFFFFF"/>
                </a:highlight>
              </a:rPr>
              <a:t> main selling point is the way it learns your routine.</a:t>
            </a:r>
            <a:r>
              <a:rPr lang="en" sz="1350">
                <a:solidFill>
                  <a:srgbClr val="2B2D32"/>
                </a:solidFill>
                <a:highlight>
                  <a:srgbClr val="FFFFFF"/>
                </a:highlight>
                <a:latin typeface="Times New Roman"/>
                <a:ea typeface="Times New Roman"/>
                <a:cs typeface="Times New Roman"/>
                <a:sym typeface="Times New Roman"/>
              </a:rPr>
              <a:t>The Nest Hub Max, for example, features a gesture to stop music by holding up your hand. It also has Face Match, which recognizes up to six household members and shows them personalized notifications. And then there's Auto Framing, which tracks your head movement and keeps it in the center of the screen during video calls. These features aren't in any other Google-powered smart display, much less Amazon's. It's a powerful advantage that Google has no qualms in wieldin</a:t>
            </a:r>
            <a:endParaRPr sz="1350">
              <a:solidFill>
                <a:srgbClr val="2B2D32"/>
              </a:solidFill>
              <a:highlight>
                <a:srgbClr val="FFFFFF"/>
              </a:highlight>
              <a:latin typeface="Times New Roman"/>
              <a:ea typeface="Times New Roman"/>
              <a:cs typeface="Times New Roman"/>
              <a:sym typeface="Times New Roman"/>
            </a:endParaRPr>
          </a:p>
          <a:p>
            <a:pPr indent="0" lvl="0" marL="0" rtl="0" algn="l">
              <a:spcBef>
                <a:spcPts val="1600"/>
              </a:spcBef>
              <a:spcAft>
                <a:spcPts val="0"/>
              </a:spcAft>
              <a:buNone/>
            </a:pPr>
            <a:r>
              <a:rPr lang="en" sz="1350">
                <a:solidFill>
                  <a:srgbClr val="2B2D32"/>
                </a:solidFill>
                <a:highlight>
                  <a:srgbClr val="FFFFFF"/>
                </a:highlight>
                <a:latin typeface="Times New Roman"/>
                <a:ea typeface="Times New Roman"/>
                <a:cs typeface="Times New Roman"/>
                <a:sym typeface="Times New Roman"/>
              </a:rPr>
              <a:t>Auto Framing, in particular, is reminiscent of </a:t>
            </a:r>
            <a:r>
              <a:rPr lang="en" sz="1350">
                <a:solidFill>
                  <a:srgbClr val="9A58B5"/>
                </a:solidFill>
                <a:uFill>
                  <a:noFill/>
                </a:uFill>
                <a:latin typeface="Times New Roman"/>
                <a:ea typeface="Times New Roman"/>
                <a:cs typeface="Times New Roman"/>
                <a:sym typeface="Times New Roman"/>
                <a:hlinkClick r:id="rId3">
                  <a:extLst>
                    <a:ext uri="{A12FA001-AC4F-418D-AE19-62706E023703}">
                      <ahyp:hlinkClr val="tx"/>
                    </a:ext>
                  </a:extLst>
                </a:hlinkClick>
              </a:rPr>
              <a:t>Facebook's Portal</a:t>
            </a:r>
            <a:r>
              <a:rPr lang="en" sz="1350">
                <a:solidFill>
                  <a:srgbClr val="2B2D32"/>
                </a:solidFill>
                <a:highlight>
                  <a:srgbClr val="FFFFFF"/>
                </a:highlight>
                <a:latin typeface="Times New Roman"/>
                <a:ea typeface="Times New Roman"/>
                <a:cs typeface="Times New Roman"/>
                <a:sym typeface="Times New Roman"/>
              </a:rPr>
              <a:t>(where the camera follows your movements around the room), a feature that many reviewers said feels creepy.</a:t>
            </a:r>
            <a:endParaRPr sz="1350">
              <a:solidFill>
                <a:srgbClr val="2B2D32"/>
              </a:solidFill>
              <a:highlight>
                <a:srgbClr val="FFFFFF"/>
              </a:highlight>
              <a:latin typeface="Times New Roman"/>
              <a:ea typeface="Times New Roman"/>
              <a:cs typeface="Times New Roman"/>
              <a:sym typeface="Times New Roman"/>
            </a:endParaRPr>
          </a:p>
          <a:p>
            <a:pPr indent="0" lvl="0" marL="0" rtl="0" algn="l">
              <a:spcBef>
                <a:spcPts val="1600"/>
              </a:spcBef>
              <a:spcAft>
                <a:spcPts val="0"/>
              </a:spcAft>
              <a:buNone/>
            </a:pPr>
            <a:r>
              <a:rPr lang="en" sz="1350">
                <a:solidFill>
                  <a:srgbClr val="2B2D32"/>
                </a:solidFill>
                <a:highlight>
                  <a:srgbClr val="FFFFFF"/>
                </a:highlight>
                <a:latin typeface="Times New Roman"/>
                <a:ea typeface="Times New Roman"/>
                <a:cs typeface="Times New Roman"/>
                <a:sym typeface="Times New Roman"/>
              </a:rPr>
              <a:t>PriVAcy concersn</a:t>
            </a:r>
            <a:endParaRPr sz="1350">
              <a:solidFill>
                <a:srgbClr val="2B2D32"/>
              </a:solidFill>
              <a:highlight>
                <a:srgbClr val="FFFFFF"/>
              </a:highlight>
              <a:latin typeface="Times New Roman"/>
              <a:ea typeface="Times New Roman"/>
              <a:cs typeface="Times New Roman"/>
              <a:sym typeface="Times New Roman"/>
            </a:endParaRPr>
          </a:p>
          <a:p>
            <a:pPr indent="0" lvl="0" marL="0" rtl="0" algn="l">
              <a:spcBef>
                <a:spcPts val="1600"/>
              </a:spcBef>
              <a:spcAft>
                <a:spcPts val="16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Android phone: pixel 4 and 5	</a:t>
            </a:r>
            <a:endParaRPr/>
          </a:p>
          <a:p>
            <a:pPr indent="0" lvl="0" marL="0" rtl="0" algn="l">
              <a:spcBef>
                <a:spcPts val="1600"/>
              </a:spcBef>
              <a:spcAft>
                <a:spcPts val="0"/>
              </a:spcAft>
              <a:buClr>
                <a:schemeClr val="dk1"/>
              </a:buClr>
              <a:buSzPts val="1100"/>
              <a:buFont typeface="Arial"/>
              <a:buNone/>
            </a:pPr>
            <a:r>
              <a:rPr lang="en"/>
              <a:t>Pixel state: Tablet</a:t>
            </a:r>
            <a:endParaRPr/>
          </a:p>
          <a:p>
            <a:pPr indent="0" lvl="0" marL="0" rtl="0" algn="l">
              <a:spcBef>
                <a:spcPts val="1600"/>
              </a:spcBef>
              <a:spcAft>
                <a:spcPts val="0"/>
              </a:spcAft>
              <a:buNone/>
            </a:pPr>
            <a:r>
              <a:rPr lang="en"/>
              <a:t>Chromecast: </a:t>
            </a:r>
            <a:endParaRPr/>
          </a:p>
          <a:p>
            <a:pPr indent="0" lvl="0" marL="0" rtl="0" algn="l">
              <a:spcBef>
                <a:spcPts val="1600"/>
              </a:spcBef>
              <a:spcAft>
                <a:spcPts val="1600"/>
              </a:spcAft>
              <a:buClr>
                <a:schemeClr val="dk1"/>
              </a:buClr>
              <a:buSzPts val="1100"/>
              <a:buFont typeface="Arial"/>
              <a:buNone/>
            </a:pPr>
            <a:r>
              <a:rPr lang="en"/>
              <a:t>Gaming: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Chrome</a:t>
            </a:r>
            <a:endParaRPr/>
          </a:p>
        </p:txBody>
      </p:sp>
      <p:sp>
        <p:nvSpPr>
          <p:cNvPr id="370" name="Google Shape;370;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Faster : </a:t>
            </a:r>
            <a:endParaRPr/>
          </a:p>
          <a:p>
            <a:pPr indent="457200" lvl="0" marL="0" rtl="0" algn="l">
              <a:spcBef>
                <a:spcPts val="1600"/>
              </a:spcBef>
              <a:spcAft>
                <a:spcPts val="0"/>
              </a:spcAft>
              <a:buNone/>
            </a:pPr>
            <a:r>
              <a:rPr lang="en"/>
              <a:t>2 time faster in </a:t>
            </a:r>
            <a:r>
              <a:rPr lang="en"/>
              <a:t>javascript</a:t>
            </a:r>
            <a:endParaRPr/>
          </a:p>
          <a:p>
            <a:pPr indent="457200" lvl="0" marL="0" rtl="0" algn="l">
              <a:spcBef>
                <a:spcPts val="1600"/>
              </a:spcBef>
              <a:spcAft>
                <a:spcPts val="0"/>
              </a:spcAft>
              <a:buNone/>
            </a:pPr>
            <a:r>
              <a:rPr lang="en"/>
              <a:t>Sites on faster</a:t>
            </a:r>
            <a:endParaRPr/>
          </a:p>
          <a:p>
            <a:pPr indent="457200" lvl="0" marL="0" rtl="0" algn="l">
              <a:spcBef>
                <a:spcPts val="1600"/>
              </a:spcBef>
              <a:spcAft>
                <a:spcPts val="0"/>
              </a:spcAft>
              <a:buNone/>
            </a:pPr>
            <a:r>
              <a:rPr lang="en"/>
              <a:t>Images Lazy  loading: loading all the images ( can waste theuser data) never actually, </a:t>
            </a:r>
            <a:endParaRPr/>
          </a:p>
          <a:p>
            <a:pPr indent="45720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home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76" name="Google Shape;376;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Ads</a:t>
            </a:r>
            <a:endParaRPr/>
          </a:p>
          <a:p>
            <a:pPr indent="0" lvl="0" marL="0" rtl="0" algn="l">
              <a:spcBef>
                <a:spcPts val="0"/>
              </a:spcBef>
              <a:spcAft>
                <a:spcPts val="0"/>
              </a:spcAft>
              <a:buNone/>
            </a:pPr>
            <a:r>
              <a:t/>
            </a:r>
            <a:endParaRPr/>
          </a:p>
        </p:txBody>
      </p:sp>
      <p:sp>
        <p:nvSpPr>
          <p:cNvPr id="382" name="Google Shape;382;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chrome</a:t>
            </a:r>
            <a:endParaRPr/>
          </a:p>
          <a:p>
            <a:pPr indent="0" lvl="0" marL="0" rtl="0" algn="l">
              <a:spcBef>
                <a:spcPts val="0"/>
              </a:spcBef>
              <a:spcAft>
                <a:spcPts val="0"/>
              </a:spcAft>
              <a:buNone/>
            </a:pPr>
            <a:r>
              <a:t/>
            </a:r>
            <a:endParaRPr/>
          </a:p>
        </p:txBody>
      </p:sp>
      <p:sp>
        <p:nvSpPr>
          <p:cNvPr id="388" name="Google Shape;388;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plus</a:t>
            </a:r>
            <a:endParaRPr/>
          </a:p>
        </p:txBody>
      </p:sp>
      <p:sp>
        <p:nvSpPr>
          <p:cNvPr id="394" name="Google Shape;394;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phone</a:t>
            </a:r>
            <a:endParaRPr/>
          </a:p>
          <a:p>
            <a:pPr indent="0" lvl="0" marL="0" rtl="0" algn="l">
              <a:spcBef>
                <a:spcPts val="0"/>
              </a:spcBef>
              <a:spcAft>
                <a:spcPts val="0"/>
              </a:spcAft>
              <a:buNone/>
            </a:pPr>
            <a:r>
              <a:t/>
            </a:r>
            <a:endParaRPr/>
          </a:p>
        </p:txBody>
      </p:sp>
      <p:sp>
        <p:nvSpPr>
          <p:cNvPr id="400" name="Google Shape;400;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a:t>
            </a:r>
            <a:endParaRPr/>
          </a:p>
          <a:p>
            <a:pPr indent="0" lvl="0" marL="0" rtl="0" algn="l">
              <a:spcBef>
                <a:spcPts val="0"/>
              </a:spcBef>
              <a:spcAft>
                <a:spcPts val="0"/>
              </a:spcAft>
              <a:buNone/>
            </a:pPr>
            <a:r>
              <a:t/>
            </a:r>
            <a:endParaRPr/>
          </a:p>
        </p:txBody>
      </p:sp>
      <p:sp>
        <p:nvSpPr>
          <p:cNvPr id="406" name="Google Shape;406;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Mission</a:t>
            </a:r>
            <a:r>
              <a:rPr lang="en"/>
              <a:t>:</a:t>
            </a:r>
            <a:r>
              <a:rPr lang="en"/>
              <a:t>Whether your business is early in its journey or well on its way to digital transformation, Google Cloud's solutions and technologies help chart a path to success. Grounbreaking solutions, transformative know how.</a:t>
            </a:r>
            <a:r>
              <a:rPr lang="en"/>
              <a:t>  “</a:t>
            </a:r>
            <a:r>
              <a:rPr b="1" lang="en" sz="2300">
                <a:solidFill>
                  <a:schemeClr val="dk1"/>
                </a:solidFill>
              </a:rPr>
              <a:t>Solving is in our DNA.Let’s put that to work for you”</a:t>
            </a:r>
            <a:endParaRPr b="1" sz="2300">
              <a:solidFill>
                <a:schemeClr val="dk1"/>
              </a:solidFill>
            </a:endParaRPr>
          </a:p>
          <a:p>
            <a:pPr indent="0" lvl="0" marL="0" rtl="0" algn="l">
              <a:spcBef>
                <a:spcPts val="1600"/>
              </a:spcBef>
              <a:spcAft>
                <a:spcPts val="0"/>
              </a:spcAft>
              <a:buNone/>
            </a:pPr>
            <a:r>
              <a:rPr lang="en"/>
              <a:t>Features:</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Competition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10X</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a:t>
            </a:r>
            <a:endParaRPr/>
          </a:p>
        </p:txBody>
      </p:sp>
      <p:sp>
        <p:nvSpPr>
          <p:cNvPr id="412" name="Google Shape;412;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100">
                <a:solidFill>
                  <a:schemeClr val="dk1"/>
                </a:solidFill>
              </a:rPr>
              <a:t>ey 2019 themes to watch among the top cloud providers include:</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Pricing power. Google </a:t>
            </a:r>
            <a:r>
              <a:rPr lang="en" sz="1100" u="sng">
                <a:solidFill>
                  <a:schemeClr val="hlink"/>
                </a:solidFill>
                <a:hlinkClick r:id="rId3"/>
              </a:rPr>
              <a:t>raised prices of G Suite</a:t>
            </a:r>
            <a:r>
              <a:rPr lang="en" sz="1100">
                <a:solidFill>
                  <a:schemeClr val="dk1"/>
                </a:solidFill>
              </a:rPr>
              <a:t> and the cloud space is a technology where add-ons exist for most new technologies. While compute and storage services are often a race to the bottom, tools for machine learning, artificial intelligence and serverless functions can add up. There's a good reason that cost management is such a big theme for cloud computing customers--it's arguably the biggest challenge. Look for cost management and concerns</a:t>
            </a:r>
            <a:r>
              <a:rPr lang="en" sz="1100">
                <a:solidFill>
                  <a:schemeClr val="dk1"/>
                </a:solidFill>
                <a:uFill>
                  <a:noFill/>
                </a:uFill>
                <a:hlinkClick r:id="rId4">
                  <a:extLst>
                    <a:ext uri="{A12FA001-AC4F-418D-AE19-62706E023703}">
                      <ahyp:hlinkClr val="tx"/>
                    </a:ext>
                  </a:extLst>
                </a:hlinkClick>
              </a:rPr>
              <a:t> </a:t>
            </a:r>
            <a:r>
              <a:rPr lang="en" sz="1100" u="sng">
                <a:solidFill>
                  <a:schemeClr val="hlink"/>
                </a:solidFill>
                <a:hlinkClick r:id="rId5"/>
              </a:rPr>
              <a:t>about lock-in to be big themes</a:t>
            </a:r>
            <a:r>
              <a:rPr lang="en" sz="1100">
                <a:solidFill>
                  <a:schemeClr val="dk1"/>
                </a:solidFill>
              </a:rPr>
              <a:t>.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 blending of license, subscription and usage models from software vendors. Cloud computing used to equal subscription and usage based pricing, but Microsoft has moved toward blending models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6"/>
              </a:rPr>
              <a:t>Multi-cloud</a:t>
            </a:r>
            <a:r>
              <a:rPr lang="en" sz="1100">
                <a:solidFill>
                  <a:schemeClr val="dk1"/>
                </a:solidFill>
              </a:rPr>
              <a:t>.</a:t>
            </a:r>
            <a:r>
              <a:rPr lang="en" sz="1100">
                <a:solidFill>
                  <a:schemeClr val="dk1"/>
                </a:solidFill>
                <a:uFill>
                  <a:noFill/>
                </a:uFill>
                <a:hlinkClick r:id="rId7">
                  <a:extLst>
                    <a:ext uri="{A12FA001-AC4F-418D-AE19-62706E023703}">
                      <ahyp:hlinkClr val="tx"/>
                    </a:ext>
                  </a:extLst>
                </a:hlinkClick>
              </a:rPr>
              <a:t> </a:t>
            </a:r>
            <a:r>
              <a:rPr lang="en" sz="1100" u="sng">
                <a:solidFill>
                  <a:schemeClr val="hlink"/>
                </a:solidFill>
                <a:hlinkClick r:id="rId8"/>
              </a:rPr>
              <a:t>A recent survey from Kentik</a:t>
            </a:r>
            <a:r>
              <a:rPr lang="en" sz="1100">
                <a:solidFill>
                  <a:schemeClr val="dk1"/>
                </a:solidFill>
              </a:rPr>
              <a:t> highlights how</a:t>
            </a:r>
            <a:r>
              <a:rPr lang="en" sz="1100">
                <a:solidFill>
                  <a:schemeClr val="dk1"/>
                </a:solidFill>
                <a:uFill>
                  <a:noFill/>
                </a:uFill>
                <a:hlinkClick r:id="rId9">
                  <a:extLst>
                    <a:ext uri="{A12FA001-AC4F-418D-AE19-62706E023703}">
                      <ahyp:hlinkClr val="tx"/>
                    </a:ext>
                  </a:extLst>
                </a:hlinkClick>
              </a:rPr>
              <a:t> </a:t>
            </a:r>
            <a:r>
              <a:rPr lang="en" sz="1100" u="sng">
                <a:solidFill>
                  <a:schemeClr val="hlink"/>
                </a:solidFill>
                <a:hlinkClick r:id="rId10"/>
              </a:rPr>
              <a:t>public cloud customers are increasingly using more than one vendor</a:t>
            </a:r>
            <a:r>
              <a:rPr lang="en" sz="1100">
                <a:solidFill>
                  <a:schemeClr val="dk1"/>
                </a:solidFill>
              </a:rPr>
              <a:t>. AWS and Microsoft Azure are most often paired up. Google Cloud Platform is also in the mix.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Artificial intelligence, Internet of things and analytics are the upsell technologies for cloud vendors. Microsoft Azure, Amazon Web Services and Google Cloud Platform all have similar strategies to land customers with compute, cloud storage, serverless functions and then upsell you to the AI that'll differentiate them. C</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cloud computing landscape is maturing rapidly yet financial transparency backslides. It's telling when Gartner's Magic Quadrant for cloud infrastructure goes to 6 players from more than a dozen.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tube</a:t>
            </a:r>
            <a:endParaRPr/>
          </a:p>
        </p:txBody>
      </p:sp>
      <p:sp>
        <p:nvSpPr>
          <p:cNvPr id="418" name="Google Shape;418;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highlight>
                  <a:srgbClr val="FFFFFF"/>
                </a:highlight>
                <a:latin typeface="Georgia"/>
                <a:ea typeface="Georgia"/>
                <a:cs typeface="Georgia"/>
                <a:sym typeface="Georgia"/>
              </a:rPr>
              <a:t>YouTube, for example, one of our most important goals is in the engagement category: we want our users to enjoy the videos they watch, and keep discovering more videos and channels they want to watch</a:t>
            </a:r>
            <a:endParaRPr sz="1600">
              <a:solidFill>
                <a:schemeClr val="dk1"/>
              </a:solidFill>
              <a:highlight>
                <a:srgbClr val="FFFFFF"/>
              </a:highlight>
              <a:latin typeface="Georgia"/>
              <a:ea typeface="Georgia"/>
              <a:cs typeface="Georgia"/>
              <a:sym typeface="Georgia"/>
            </a:endParaRPr>
          </a:p>
          <a:p>
            <a:pPr indent="0" lvl="0" marL="0" rtl="0" algn="l">
              <a:spcBef>
                <a:spcPts val="1600"/>
              </a:spcBef>
              <a:spcAft>
                <a:spcPts val="0"/>
              </a:spcAft>
              <a:buNone/>
            </a:pPr>
            <a:r>
              <a:rPr lang="en" sz="1600">
                <a:solidFill>
                  <a:schemeClr val="dk1"/>
                </a:solidFill>
                <a:highlight>
                  <a:srgbClr val="FFFFFF"/>
                </a:highlight>
                <a:latin typeface="Georgia"/>
                <a:ea typeface="Georgia"/>
                <a:cs typeface="Georgia"/>
                <a:sym typeface="Georgia"/>
              </a:rPr>
              <a:t> For YouTube Search, a key goal is in the task-success category: when a user enters a search, we want them to quickly and easily find the videos or channels that are most relevant.</a:t>
            </a:r>
            <a:endParaRPr sz="1600">
              <a:solidFill>
                <a:schemeClr val="dk1"/>
              </a:solidFill>
              <a:highlight>
                <a:srgbClr val="FFFFFF"/>
              </a:highlight>
              <a:latin typeface="Georgia"/>
              <a:ea typeface="Georgia"/>
              <a:cs typeface="Georgia"/>
              <a:sym typeface="Georgia"/>
            </a:endParaRPr>
          </a:p>
          <a:p>
            <a:pPr indent="0" lvl="0" marL="0" rtl="0" algn="l">
              <a:spcBef>
                <a:spcPts val="1600"/>
              </a:spcBef>
              <a:spcAft>
                <a:spcPts val="0"/>
              </a:spcAft>
              <a:buNone/>
            </a:pPr>
            <a:r>
              <a:rPr lang="en" sz="1600">
                <a:solidFill>
                  <a:schemeClr val="dk1"/>
                </a:solidFill>
                <a:highlight>
                  <a:srgbClr val="FFFFFF"/>
                </a:highlight>
                <a:latin typeface="Georgia"/>
                <a:ea typeface="Georgia"/>
                <a:cs typeface="Georgia"/>
                <a:sym typeface="Georgia"/>
              </a:rPr>
              <a:t>Next, map your goals to lower-level signals . How might success or failure in the goals actually manifest itself in user behavior or attitudes? For example, an engagement signal for YouTube might be the number of videos users watch on the site — but an even better one might be </a:t>
            </a:r>
            <a:r>
              <a:rPr lang="en" sz="1600">
                <a:solidFill>
                  <a:schemeClr val="hlink"/>
                </a:solidFill>
                <a:uFill>
                  <a:noFill/>
                </a:uFill>
                <a:latin typeface="Georgia"/>
                <a:ea typeface="Georgia"/>
                <a:cs typeface="Georgia"/>
                <a:sym typeface="Georgia"/>
                <a:hlinkClick r:id="rId3"/>
              </a:rPr>
              <a:t>the amount of time they spend watching those videos</a:t>
            </a:r>
            <a:r>
              <a:rPr lang="en" sz="1600">
                <a:solidFill>
                  <a:schemeClr val="dk1"/>
                </a:solidFill>
                <a:highlight>
                  <a:srgbClr val="FFFFFF"/>
                </a:highlight>
                <a:latin typeface="Georgia"/>
                <a:ea typeface="Georgia"/>
                <a:cs typeface="Georgia"/>
                <a:sym typeface="Georgia"/>
              </a:rPr>
              <a:t>. A failure signal in the “Task Success” category for YouTube Search might be entering a query but not clicking on any of the results.</a:t>
            </a:r>
            <a:endParaRPr sz="1600">
              <a:solidFill>
                <a:schemeClr val="dk1"/>
              </a:solidFill>
              <a:highlight>
                <a:srgbClr val="FFFFFF"/>
              </a:highlight>
              <a:latin typeface="Georgia"/>
              <a:ea typeface="Georgia"/>
              <a:cs typeface="Georgia"/>
              <a:sym typeface="Georgia"/>
            </a:endParaRPr>
          </a:p>
          <a:p>
            <a:pPr indent="0" lvl="0" marL="0" rtl="0" algn="l">
              <a:spcBef>
                <a:spcPts val="1600"/>
              </a:spcBef>
              <a:spcAft>
                <a:spcPts val="1600"/>
              </a:spcAft>
              <a:buNone/>
            </a:pPr>
            <a:r>
              <a:rPr lang="en" sz="1600">
                <a:solidFill>
                  <a:schemeClr val="dk1"/>
                </a:solidFill>
                <a:highlight>
                  <a:srgbClr val="FFFFFF"/>
                </a:highlight>
                <a:latin typeface="Georgia"/>
                <a:ea typeface="Georgia"/>
                <a:cs typeface="Georgia"/>
                <a:sym typeface="Georgia"/>
              </a:rPr>
              <a:t>how long users spend watching videos” as “the average number of minutes spent watching videos per user per day.”</a:t>
            </a:r>
            <a:endParaRPr sz="1600">
              <a:solidFill>
                <a:schemeClr val="dk1"/>
              </a:solidFill>
              <a:highlight>
                <a:srgbClr val="FFFFFF"/>
              </a:highlight>
              <a:latin typeface="Georgia"/>
              <a:ea typeface="Georgia"/>
              <a:cs typeface="Georgia"/>
              <a:sym typeface="Georgi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Gsuite</a:t>
            </a:r>
            <a:endParaRPr/>
          </a:p>
        </p:txBody>
      </p:sp>
      <p:sp>
        <p:nvSpPr>
          <p:cNvPr id="424" name="Google Shape;424;p7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100">
                <a:solidFill>
                  <a:schemeClr val="dk1"/>
                </a:solidFill>
              </a:rPr>
              <a:t>Reach your colleagues wherever they are.</a:t>
            </a:r>
            <a:endParaRPr sz="1100">
              <a:solidFill>
                <a:schemeClr val="dk1"/>
              </a:solidFill>
            </a:endParaRPr>
          </a:p>
          <a:p>
            <a:pPr indent="-298450" lvl="0" marL="457200" rtl="0" algn="l">
              <a:spcBef>
                <a:spcPts val="1200"/>
              </a:spcBef>
              <a:spcAft>
                <a:spcPts val="0"/>
              </a:spcAft>
              <a:buClr>
                <a:schemeClr val="dk1"/>
              </a:buClr>
              <a:buSzPts val="1100"/>
              <a:buChar char="●"/>
            </a:pPr>
            <a:r>
              <a:rPr lang="en" sz="1100" u="sng">
                <a:solidFill>
                  <a:schemeClr val="hlink"/>
                </a:solidFill>
                <a:hlinkClick r:id="rId3"/>
              </a:rPr>
              <a:t>Gmail</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4"/>
              </a:rPr>
              <a:t>Calendar</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5"/>
              </a:rPr>
              <a:t>Currents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6"/>
              </a:rPr>
              <a:t>Google Chat</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7"/>
              </a:rPr>
              <a:t>Google Meet</a:t>
            </a:r>
            <a:endParaRPr sz="1100" u="sng">
              <a:solidFill>
                <a:schemeClr val="hlink"/>
              </a:solidFill>
            </a:endParaRPr>
          </a:p>
          <a:p>
            <a:pPr indent="-298450" lvl="0" marL="457200" rtl="0" algn="l">
              <a:spcBef>
                <a:spcPts val="0"/>
              </a:spcBef>
              <a:spcAft>
                <a:spcPts val="0"/>
              </a:spcAft>
              <a:buClr>
                <a:schemeClr val="dk1"/>
              </a:buClr>
              <a:buSzPts val="1100"/>
              <a:buChar char="●"/>
            </a:pPr>
            <a:r>
              <a:t/>
            </a:r>
            <a:endParaRPr sz="1100">
              <a:solidFill>
                <a:schemeClr val="dk1"/>
              </a:solidFill>
            </a:endParaRPr>
          </a:p>
          <a:p>
            <a:pPr indent="0" lvl="0" marL="0" rtl="0" algn="l">
              <a:spcBef>
                <a:spcPts val="1200"/>
              </a:spcBef>
              <a:spcAft>
                <a:spcPts val="0"/>
              </a:spcAft>
              <a:buNone/>
            </a:pPr>
            <a:r>
              <a:rPr lang="en" sz="1100">
                <a:solidFill>
                  <a:schemeClr val="dk1"/>
                </a:solidFill>
              </a:rPr>
              <a:t>Everything you need to bring your project to life.</a:t>
            </a:r>
            <a:endParaRPr sz="1100">
              <a:solidFill>
                <a:schemeClr val="dk1"/>
              </a:solidFill>
            </a:endParaRPr>
          </a:p>
          <a:p>
            <a:pPr indent="-298450" lvl="0" marL="457200" rtl="0" algn="l">
              <a:spcBef>
                <a:spcPts val="1200"/>
              </a:spcBef>
              <a:spcAft>
                <a:spcPts val="0"/>
              </a:spcAft>
              <a:buClr>
                <a:schemeClr val="dk1"/>
              </a:buClr>
              <a:buSzPts val="1100"/>
              <a:buChar char="●"/>
            </a:pPr>
            <a:r>
              <a:rPr lang="en" sz="1100" u="sng">
                <a:solidFill>
                  <a:schemeClr val="hlink"/>
                </a:solidFill>
                <a:hlinkClick r:id="rId8"/>
              </a:rPr>
              <a:t>Docs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9"/>
              </a:rPr>
              <a:t>Sheets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10"/>
              </a:rPr>
              <a:t>Forms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11"/>
              </a:rPr>
              <a:t>Slides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12"/>
              </a:rPr>
              <a:t>Sites</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13"/>
              </a:rPr>
              <a:t>Apps Script</a:t>
            </a:r>
            <a:endParaRPr sz="1100" u="sng">
              <a:solidFill>
                <a:schemeClr val="hlink"/>
              </a:solidFill>
            </a:endParaRPr>
          </a:p>
          <a:p>
            <a:pPr indent="-298450" lvl="0" marL="457200" rtl="0" algn="l">
              <a:spcBef>
                <a:spcPts val="0"/>
              </a:spcBef>
              <a:spcAft>
                <a:spcPts val="0"/>
              </a:spcAft>
              <a:buClr>
                <a:schemeClr val="dk1"/>
              </a:buClr>
              <a:buSzPts val="1100"/>
              <a:buChar char="●"/>
            </a:pPr>
            <a:r>
              <a:rPr lang="en" sz="1100" u="sng">
                <a:solidFill>
                  <a:schemeClr val="hlink"/>
                </a:solidFill>
                <a:hlinkClick r:id="rId14"/>
              </a:rPr>
              <a:t>Keep</a:t>
            </a:r>
            <a:endParaRPr sz="1100" u="sng">
              <a:solidFill>
                <a:schemeClr val="hlink"/>
              </a:solidFill>
            </a:endParaRPr>
          </a:p>
          <a:p>
            <a:pPr indent="-298450" lvl="0" marL="457200" rtl="0" algn="l">
              <a:spcBef>
                <a:spcPts val="0"/>
              </a:spcBef>
              <a:spcAft>
                <a:spcPts val="0"/>
              </a:spcAft>
              <a:buClr>
                <a:schemeClr val="dk1"/>
              </a:buClr>
              <a:buSzPts val="1100"/>
              <a:buChar char="●"/>
            </a:pPr>
            <a:r>
              <a:t/>
            </a:r>
            <a:endParaRPr sz="1100">
              <a:solidFill>
                <a:schemeClr val="dk1"/>
              </a:solidFill>
            </a:endParaRPr>
          </a:p>
          <a:p>
            <a:pPr indent="0" lvl="0" marL="0" rtl="0" algn="l">
              <a:spcBef>
                <a:spcPts val="1200"/>
              </a:spcBef>
              <a:spcAft>
                <a:spcPts val="160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Technology do you like</a:t>
            </a:r>
            <a:endParaRPr/>
          </a:p>
        </p:txBody>
      </p:sp>
      <p:sp>
        <p:nvSpPr>
          <p:cNvPr id="430" name="Google Shape;430;p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