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9" r:id="rId3"/>
    <p:sldId id="261" r:id="rId4"/>
    <p:sldId id="262" r:id="rId5"/>
    <p:sldId id="260" r:id="rId6"/>
    <p:sldId id="263" r:id="rId7"/>
    <p:sldId id="264"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Lst>
  <p:sldSz cx="9144000" cy="5143500" type="screen16x9"/>
  <p:notesSz cx="6858000" cy="9144000"/>
  <p:embeddedFontLst>
    <p:embeddedFont>
      <p:font typeface="Nunito"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16DD8F-D192-47E8-9425-CEED70C932B8}">
  <a:tblStyle styleId="{3216DD8F-D192-47E8-9425-CEED70C932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2656" autoAdjust="0"/>
  </p:normalViewPr>
  <p:slideViewPr>
    <p:cSldViewPr snapToGrid="0">
      <p:cViewPr varScale="1">
        <p:scale>
          <a:sx n="66" d="100"/>
          <a:sy n="66" d="100"/>
        </p:scale>
        <p:origin x="833" y="4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levels.fyi/blog/amazon-leadership-principles.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7109959b3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7109959b3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7109959b38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7109959b3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7109959b38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7109959b3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7109959b38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7109959b3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7109959b3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7109959b38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7109959b38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7109959b3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7109959b3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7109959b3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5c4d1c1385_1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5c4d1c1385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5c4d1c1385_1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5c4d1c1385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Question :  </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Focus on your role esp around actions.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AWS Q : Why was this a unique challenge, why were you the right person and how did you execute/your play, anything you would do differently,</a:t>
            </a:r>
            <a:r>
              <a:rPr lang="en" b="1" dirty="0">
                <a:solidFill>
                  <a:schemeClr val="dk1"/>
                </a:solidFill>
              </a:rPr>
              <a:t> situation shouldn’t be too high level and focus on what your role is, Spoke to Field/cutomer/stakeholders to justin investment &amp; time &amp; prioritization</a:t>
            </a:r>
            <a:endParaRPr b="1"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Situation: </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Situation should answer the “When,” “Why,” and “Where” of the response. When you’re asked a behavioral question, start off with the Situation before moving on to the other elements.</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Describe the situation that you were in or the task that you needed to accomplish.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You must describe a specific event or situation, not a generalized description of what you have done in the past.</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Be sure to give enough detail for the interviewer to understand.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This situation can be from a previous job, from a volunteer experience, or any relevant event.</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Task:</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Task should throw light on what your particular role in the situation was. Highlight what your key responsibilities were and what was expected of you.</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What was your exact part to play in this situation?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What was your assigned role?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How were you able to turn this situation into an opportunity?</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Action: </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Action part should address what steps you took towards meeting the requirements of the task.</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Describe the actions you took to address the situation with an appropriate amount of detail and keep the focus on YOU.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What specific steps did you take and what was your particular contribution? </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Be careful that you don’t describe what the team or group did when talking about a project, but what you actually did. Use the word “I,” not “we” when describing actions.</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Result: </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Result part should essentially answer the outcome of the task. This part should also talk about challenges encountered along the way and the actions taken to tackle them.</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Describe the outcome of your actions and don’t be shy about taking credit for your behavior.</a:t>
            </a:r>
            <a:endParaRPr dirty="0">
              <a:solidFill>
                <a:schemeClr val="dk1"/>
              </a:solidFill>
            </a:endParaRPr>
          </a:p>
          <a:p>
            <a:pPr marL="1371600" lvl="2" indent="-298450" algn="l" rtl="0">
              <a:spcBef>
                <a:spcPts val="0"/>
              </a:spcBef>
              <a:spcAft>
                <a:spcPts val="0"/>
              </a:spcAft>
              <a:buClr>
                <a:schemeClr val="dk1"/>
              </a:buClr>
              <a:buSzPts val="1100"/>
              <a:buChar char="■"/>
            </a:pPr>
            <a:r>
              <a:rPr lang="en" dirty="0">
                <a:solidFill>
                  <a:schemeClr val="dk1"/>
                </a:solidFill>
              </a:rPr>
              <a:t>How were things better off because of what you did? What lessons did you learn? Your efforts may have brought in 10 percent more Web traffic, resulting in more customers. Or, your graphic could have been referred to in articles or blogs. Either way, you need to show what your work resulted in.</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Try to limit your answers to 2 minutes or less. Anything longer can bore the listener.</a:t>
            </a:r>
            <a:endParaRPr dirty="0">
              <a:solidFill>
                <a:schemeClr val="dk1"/>
              </a:solidFill>
            </a:endParaRPr>
          </a:p>
          <a:p>
            <a:pPr marL="457200" lvl="0" indent="-298450" algn="l" rtl="0">
              <a:spcBef>
                <a:spcPts val="0"/>
              </a:spcBef>
              <a:spcAft>
                <a:spcPts val="0"/>
              </a:spcAft>
              <a:buClr>
                <a:schemeClr val="dk1"/>
              </a:buClr>
              <a:buSzPts val="1100"/>
              <a:buChar char="●"/>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914400" lvl="0" indent="0" algn="l" rtl="0">
              <a:spcBef>
                <a:spcPts val="0"/>
              </a:spcBef>
              <a:spcAft>
                <a:spcPts val="0"/>
              </a:spcAft>
              <a:buClr>
                <a:schemeClr val="dk1"/>
              </a:buClr>
              <a:buSzPts val="1100"/>
              <a:buFont typeface="Arial"/>
              <a:buNone/>
            </a:pPr>
            <a:r>
              <a:rPr lang="en" dirty="0">
                <a:solidFill>
                  <a:schemeClr val="dk1"/>
                </a:solidFill>
              </a:rPr>
              <a:t> </a:t>
            </a:r>
            <a:endParaRPr dirty="0">
              <a:solidFill>
                <a:schemeClr val="dk1"/>
              </a:solidFill>
            </a:endParaRPr>
          </a:p>
          <a:p>
            <a:pPr marL="91440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5c4d1c1385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5c4d1c1385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5c4d1c1385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5c4d1c1385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5c4d1c1385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5c4d1c1385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5c4d1c1385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5c4d1c1385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5c4d1c1385_1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5c4d1c1385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5c4d1c1385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5c4d1c1385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5c4d1c138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5c4d1c138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5c4d1c1385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5c4d1c1385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5c4d1c1385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5c4d1c138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8770" algn="l" rtl="0">
              <a:spcBef>
                <a:spcPts val="0"/>
              </a:spcBef>
              <a:spcAft>
                <a:spcPts val="0"/>
              </a:spcAft>
              <a:buClr>
                <a:srgbClr val="222222"/>
              </a:buClr>
              <a:buSzPts val="1420"/>
              <a:buChar char="●"/>
            </a:pPr>
            <a:r>
              <a:rPr lang="en" sz="1620" u="sng">
                <a:solidFill>
                  <a:srgbClr val="0097A7"/>
                </a:solidFill>
                <a:hlinkClick r:id="rId3">
                  <a:extLst>
                    <a:ext uri="{A12FA001-AC4F-418D-AE19-62706E023703}">
                      <ahyp:hlinkClr xmlns:ahyp="http://schemas.microsoft.com/office/drawing/2018/hyperlinkcolor" val="tx"/>
                    </a:ext>
                  </a:extLst>
                </a:hlinkClick>
              </a:rPr>
              <a:t>https://www.levels.fyi/blog/amazon-leadership-principles.html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5c4d1c1385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5c4d1c1385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8770" algn="l" rtl="0">
              <a:lnSpc>
                <a:spcPct val="115000"/>
              </a:lnSpc>
              <a:spcBef>
                <a:spcPts val="0"/>
              </a:spcBef>
              <a:spcAft>
                <a:spcPts val="0"/>
              </a:spcAft>
              <a:buClr>
                <a:srgbClr val="222222"/>
              </a:buClr>
              <a:buSzPts val="1420"/>
              <a:buChar cha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5c4d1c1385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5c4d1c1385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8770" algn="l" rtl="0">
              <a:lnSpc>
                <a:spcPct val="115000"/>
              </a:lnSpc>
              <a:spcBef>
                <a:spcPts val="0"/>
              </a:spcBef>
              <a:spcAft>
                <a:spcPts val="0"/>
              </a:spcAft>
              <a:buClr>
                <a:srgbClr val="222222"/>
              </a:buClr>
              <a:buSzPts val="1420"/>
              <a:buChar cha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5c4d1c1385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5c4d1c1385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8770" algn="l" rtl="0">
              <a:lnSpc>
                <a:spcPct val="115000"/>
              </a:lnSpc>
              <a:spcBef>
                <a:spcPts val="0"/>
              </a:spcBef>
              <a:spcAft>
                <a:spcPts val="0"/>
              </a:spcAft>
              <a:buClr>
                <a:srgbClr val="222222"/>
              </a:buClr>
              <a:buSzPts val="1420"/>
              <a:buChar cha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591d753660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591d753660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c/AmazonInterviewWhizzDayOneCareer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940" dirty="0"/>
              <a:t>Amar Friends : Brainstorming</a:t>
            </a:r>
            <a:endParaRPr sz="2940" dirty="0"/>
          </a:p>
        </p:txBody>
      </p:sp>
      <p:sp>
        <p:nvSpPr>
          <p:cNvPr id="55" name="Google Shape;55;p13"/>
          <p:cNvSpPr txBox="1">
            <a:spLocks noGrp="1"/>
          </p:cNvSpPr>
          <p:nvPr>
            <p:ph type="body" idx="1"/>
          </p:nvPr>
        </p:nvSpPr>
        <p:spPr>
          <a:xfrm>
            <a:off x="341750" y="1152475"/>
            <a:ext cx="8520600" cy="3856500"/>
          </a:xfrm>
          <a:prstGeom prst="rect">
            <a:avLst/>
          </a:prstGeom>
        </p:spPr>
        <p:txBody>
          <a:bodyPr spcFirstLastPara="1" wrap="square" lIns="91425" tIns="91425" rIns="91425" bIns="91425" anchor="t" anchorCtr="0">
            <a:normAutofit fontScale="47500" lnSpcReduction="20000"/>
          </a:bodyPr>
          <a:lstStyle/>
          <a:p>
            <a:pPr marL="457200" lvl="0" indent="-285908" algn="l" rtl="0">
              <a:spcBef>
                <a:spcPts val="0"/>
              </a:spcBef>
              <a:spcAft>
                <a:spcPts val="0"/>
              </a:spcAft>
              <a:buSzPct val="100000"/>
              <a:buChar char="❏"/>
            </a:pPr>
            <a:r>
              <a:rPr lang="en" sz="1900" dirty="0"/>
              <a:t>What do you know?</a:t>
            </a:r>
            <a:endParaRPr sz="1900" dirty="0"/>
          </a:p>
          <a:p>
            <a:pPr marL="914400" lvl="1" indent="-285908" algn="l" rtl="0">
              <a:spcBef>
                <a:spcPts val="0"/>
              </a:spcBef>
              <a:spcAft>
                <a:spcPts val="0"/>
              </a:spcAft>
              <a:buSzPct val="100000"/>
              <a:buChar char="❏"/>
            </a:pPr>
            <a:r>
              <a:rPr lang="en" sz="1900" dirty="0"/>
              <a:t>Heard about process but not much insights</a:t>
            </a:r>
            <a:endParaRPr sz="1900" dirty="0"/>
          </a:p>
          <a:p>
            <a:pPr marL="457200" lvl="0" indent="-285908" algn="l" rtl="0">
              <a:spcBef>
                <a:spcPts val="0"/>
              </a:spcBef>
              <a:spcAft>
                <a:spcPts val="0"/>
              </a:spcAft>
              <a:buSzPct val="100000"/>
              <a:buChar char="❏"/>
            </a:pPr>
            <a:r>
              <a:rPr lang="en" sz="1900" dirty="0"/>
              <a:t>What do you like to know?</a:t>
            </a:r>
            <a:endParaRPr sz="1900" dirty="0"/>
          </a:p>
          <a:p>
            <a:pPr marL="914400" lvl="1" indent="-285908" algn="l" rtl="0">
              <a:spcBef>
                <a:spcPts val="0"/>
              </a:spcBef>
              <a:spcAft>
                <a:spcPts val="0"/>
              </a:spcAft>
              <a:buSzPct val="100000"/>
              <a:buChar char="❏"/>
            </a:pPr>
            <a:r>
              <a:rPr lang="en" sz="1900" dirty="0"/>
              <a:t>Ask : High level AWS interview process, Interview Prep/Best practices etc.</a:t>
            </a:r>
            <a:endParaRPr sz="1900" dirty="0"/>
          </a:p>
          <a:p>
            <a:pPr marL="914400" lvl="1" indent="-285908" algn="l" rtl="0">
              <a:spcBef>
                <a:spcPts val="0"/>
              </a:spcBef>
              <a:spcAft>
                <a:spcPts val="0"/>
              </a:spcAft>
              <a:buSzPct val="100000"/>
              <a:buChar char="❏"/>
            </a:pPr>
            <a:r>
              <a:rPr lang="en" sz="1900" dirty="0"/>
              <a:t>Q : Do we need to be AWS specialist? Pre-reqs if any?</a:t>
            </a:r>
            <a:endParaRPr sz="1900" dirty="0"/>
          </a:p>
          <a:p>
            <a:pPr marL="457200" lvl="0" indent="-285908" algn="l" rtl="0">
              <a:spcBef>
                <a:spcPts val="0"/>
              </a:spcBef>
              <a:spcAft>
                <a:spcPts val="0"/>
              </a:spcAft>
              <a:buSzPct val="100000"/>
              <a:buChar char="❏"/>
            </a:pPr>
            <a:r>
              <a:rPr lang="en" sz="1900" dirty="0"/>
              <a:t>What role would be of interest?</a:t>
            </a:r>
            <a:endParaRPr sz="1900" dirty="0"/>
          </a:p>
          <a:p>
            <a:pPr marL="914400" lvl="1" indent="-285908" algn="l" rtl="0">
              <a:spcBef>
                <a:spcPts val="0"/>
              </a:spcBef>
              <a:spcAft>
                <a:spcPts val="0"/>
              </a:spcAft>
              <a:buSzPct val="100000"/>
              <a:buChar char="❏"/>
            </a:pPr>
            <a:r>
              <a:rPr lang="en" sz="1900" dirty="0"/>
              <a:t>Product manager (Vinay)</a:t>
            </a:r>
            <a:endParaRPr sz="1900" dirty="0"/>
          </a:p>
          <a:p>
            <a:pPr marL="914400" lvl="1" indent="-285908" algn="l" rtl="0">
              <a:spcBef>
                <a:spcPts val="0"/>
              </a:spcBef>
              <a:spcAft>
                <a:spcPts val="0"/>
              </a:spcAft>
              <a:buSzPct val="100000"/>
              <a:buChar char="❏"/>
            </a:pPr>
            <a:r>
              <a:rPr lang="en" sz="1900" dirty="0"/>
              <a:t>BDM</a:t>
            </a:r>
            <a:endParaRPr sz="1900" dirty="0"/>
          </a:p>
          <a:p>
            <a:pPr marL="0" lvl="0" indent="0" algn="l" rtl="0">
              <a:spcBef>
                <a:spcPts val="1200"/>
              </a:spcBef>
              <a:spcAft>
                <a:spcPts val="0"/>
              </a:spcAft>
              <a:buNone/>
            </a:pPr>
            <a:endParaRPr sz="1900" dirty="0"/>
          </a:p>
          <a:p>
            <a:pPr marL="0" lvl="0" indent="0" algn="l" rtl="0">
              <a:spcBef>
                <a:spcPts val="1200"/>
              </a:spcBef>
              <a:spcAft>
                <a:spcPts val="0"/>
              </a:spcAft>
              <a:buNone/>
            </a:pPr>
            <a:r>
              <a:rPr lang="en" sz="1900" dirty="0"/>
              <a:t>Agenda</a:t>
            </a:r>
            <a:endParaRPr sz="1900" dirty="0"/>
          </a:p>
          <a:p>
            <a:pPr marL="0" lvl="0" indent="0" algn="l" rtl="0">
              <a:spcBef>
                <a:spcPts val="1200"/>
              </a:spcBef>
              <a:spcAft>
                <a:spcPts val="0"/>
              </a:spcAft>
              <a:buNone/>
            </a:pPr>
            <a:r>
              <a:rPr lang="en" sz="1900" dirty="0"/>
              <a:t>-Interview process</a:t>
            </a:r>
            <a:endParaRPr sz="1900" dirty="0"/>
          </a:p>
          <a:p>
            <a:pPr marL="0" lvl="0" indent="0" algn="l" rtl="0">
              <a:spcBef>
                <a:spcPts val="1200"/>
              </a:spcBef>
              <a:spcAft>
                <a:spcPts val="0"/>
              </a:spcAft>
              <a:buNone/>
            </a:pPr>
            <a:r>
              <a:rPr lang="en" sz="1900" dirty="0"/>
              <a:t>	1st round : Phone screen with Hiring manager (Focus on Functional Fit 45mins). Then 2nd round is called Loop which consists of 5 1-1 rounds (No group panel) 45mins -1hr. Focussed on Leadership Principles. Then you are done in 24-48hrs. Yes/No. No additional feedback shared by recruiter regarding the</a:t>
            </a:r>
            <a:endParaRPr sz="1900" dirty="0"/>
          </a:p>
          <a:p>
            <a:pPr marL="0" lvl="0" indent="0" algn="l" rtl="0">
              <a:spcBef>
                <a:spcPts val="1200"/>
              </a:spcBef>
              <a:spcAft>
                <a:spcPts val="0"/>
              </a:spcAft>
              <a:buNone/>
            </a:pPr>
            <a:r>
              <a:rPr lang="en" sz="1900" dirty="0"/>
              <a:t>-Best Practices &amp; Prep work</a:t>
            </a:r>
            <a:endParaRPr sz="1900" dirty="0"/>
          </a:p>
          <a:p>
            <a:pPr marL="0" lvl="0" indent="0" algn="l" rtl="0">
              <a:spcBef>
                <a:spcPts val="1200"/>
              </a:spcBef>
              <a:spcAft>
                <a:spcPts val="0"/>
              </a:spcAft>
              <a:buNone/>
            </a:pPr>
            <a:r>
              <a:rPr lang="en" sz="1900" dirty="0"/>
              <a:t>-STAR-I format</a:t>
            </a:r>
            <a:endParaRPr sz="1900" dirty="0"/>
          </a:p>
          <a:p>
            <a:pPr marL="0" lvl="0" indent="0" algn="l" rtl="0">
              <a:spcBef>
                <a:spcPts val="1200"/>
              </a:spcBef>
              <a:spcAft>
                <a:spcPts val="0"/>
              </a:spcAft>
              <a:buNone/>
            </a:pPr>
            <a:r>
              <a:rPr lang="en" sz="1900" dirty="0"/>
              <a:t>-Offer : 1yr (5%, yearly vesting), 2yr (15%, yearly vesting), 3yr (40% at 6 months vesting), 4yr (40% at 6 months vesting). Total comp…$x00K (Base + Sign-on Bonus &amp; Equity). Typically no refreshers Yr1/Yr2, 401K 2% match, Frugal/Cheap Leadership</a:t>
            </a:r>
            <a:endParaRPr sz="1900" dirty="0"/>
          </a:p>
          <a:p>
            <a:pPr marL="0" lvl="0" indent="0" algn="l" rtl="0">
              <a:spcBef>
                <a:spcPts val="1200"/>
              </a:spcBef>
              <a:spcAft>
                <a:spcPts val="1200"/>
              </a:spcAft>
              <a:buNone/>
            </a:pPr>
            <a:r>
              <a:rPr lang="en" sz="1900" dirty="0"/>
              <a:t>-Average Tenure : &lt;2yr</a:t>
            </a:r>
            <a:endParaRPr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940"/>
              <a:t>AWS Interview : Best Practices</a:t>
            </a:r>
            <a:endParaRPr sz="294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14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AWS Interview Best Practices (Do’s &amp; Dont’s)</a:t>
            </a:r>
            <a:endParaRPr/>
          </a:p>
        </p:txBody>
      </p:sp>
      <p:sp>
        <p:nvSpPr>
          <p:cNvPr id="83" name="Google Shape;83;p18"/>
          <p:cNvSpPr txBox="1">
            <a:spLocks noGrp="1"/>
          </p:cNvSpPr>
          <p:nvPr>
            <p:ph type="body" idx="1"/>
          </p:nvPr>
        </p:nvSpPr>
        <p:spPr>
          <a:xfrm>
            <a:off x="61425" y="1635600"/>
            <a:ext cx="6129300" cy="34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40"/>
              <a:buNone/>
            </a:pPr>
            <a:r>
              <a:rPr lang="en" sz="820" b="1">
                <a:solidFill>
                  <a:srgbClr val="38761D"/>
                </a:solidFill>
              </a:rPr>
              <a:t>Best Practices Do’s : </a:t>
            </a:r>
            <a:endParaRPr sz="820" b="1">
              <a:solidFill>
                <a:srgbClr val="38761D"/>
              </a:solidFill>
            </a:endParaRPr>
          </a:p>
          <a:p>
            <a:pPr marL="457200" marR="0" lvl="0" indent="-280670" algn="l" rtl="0">
              <a:lnSpc>
                <a:spcPct val="115000"/>
              </a:lnSpc>
              <a:spcBef>
                <a:spcPts val="1200"/>
              </a:spcBef>
              <a:spcAft>
                <a:spcPts val="0"/>
              </a:spcAft>
              <a:buClr>
                <a:srgbClr val="38761D"/>
              </a:buClr>
              <a:buSzPts val="820"/>
              <a:buChar char="●"/>
            </a:pPr>
            <a:r>
              <a:rPr lang="en" sz="820" u="sng">
                <a:solidFill>
                  <a:schemeClr val="hlink"/>
                </a:solidFill>
                <a:hlinkClick r:id="rId3"/>
              </a:rPr>
              <a:t>https://www.youtube.com/c/AmazonInterviewWhizzDayOneCareers</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Last 5yrs stories are better, 1-2 answers be ready for failures</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Always ask “did that answer your question?” if you’re not sure you answered it.</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Understand AWS Business/Key core capabilities/services</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Use strongest examples during the phone screen. And during loop use diff examples amongst loop</a:t>
            </a:r>
            <a:endParaRPr sz="820">
              <a:solidFill>
                <a:srgbClr val="38761D"/>
              </a:solidFill>
            </a:endParaRPr>
          </a:p>
          <a:p>
            <a:pPr marL="457200" lvl="0" indent="-280670" algn="l" rtl="0">
              <a:spcBef>
                <a:spcPts val="0"/>
              </a:spcBef>
              <a:spcAft>
                <a:spcPts val="0"/>
              </a:spcAft>
              <a:buClr>
                <a:srgbClr val="38761D"/>
              </a:buClr>
              <a:buSzPts val="820"/>
              <a:buChar char="●"/>
            </a:pPr>
            <a:r>
              <a:rPr lang="en" sz="820">
                <a:solidFill>
                  <a:srgbClr val="38761D"/>
                </a:solidFill>
              </a:rPr>
              <a:t>Show Evidence of scope, and projects don’t lack  complexity, needs to be material impact, </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Practice answering in STAR format. Take pauses and be very structured and clear when answering, Write down the Question</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Showcase what you have done and not the teama. Say more "I" than "We"</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You should be able to dive deep and elaborate futher with specific data points for your examples</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Demonstrate how you developed mechanisms to resolve challenges and how you scaled it to other parts of the organization. That is highly valued</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Talk about how you collected feedback and presented a data driven business case when leading initiatives</a:t>
            </a:r>
            <a:endParaRPr sz="820">
              <a:solidFill>
                <a:srgbClr val="38761D"/>
              </a:solidFill>
            </a:endParaRPr>
          </a:p>
          <a:p>
            <a:pPr marL="457200" marR="0" lvl="0" indent="-280670" algn="l" rtl="0">
              <a:lnSpc>
                <a:spcPct val="115000"/>
              </a:lnSpc>
              <a:spcBef>
                <a:spcPts val="0"/>
              </a:spcBef>
              <a:spcAft>
                <a:spcPts val="0"/>
              </a:spcAft>
              <a:buClr>
                <a:srgbClr val="38761D"/>
              </a:buClr>
              <a:buSzPts val="820"/>
              <a:buChar char="●"/>
            </a:pPr>
            <a:r>
              <a:rPr lang="en" sz="820">
                <a:solidFill>
                  <a:srgbClr val="38761D"/>
                </a:solidFill>
              </a:rPr>
              <a:t>Think about what you have done at work in measurable results. You should be able to explain how you calculated that</a:t>
            </a:r>
            <a:endParaRPr sz="820">
              <a:solidFill>
                <a:srgbClr val="38761D"/>
              </a:solidFill>
            </a:endParaRPr>
          </a:p>
          <a:p>
            <a:pPr marL="457200" lvl="0" indent="-280670" algn="l" rtl="0">
              <a:spcBef>
                <a:spcPts val="0"/>
              </a:spcBef>
              <a:spcAft>
                <a:spcPts val="0"/>
              </a:spcAft>
              <a:buClr>
                <a:srgbClr val="38761D"/>
              </a:buClr>
              <a:buSzPts val="820"/>
              <a:buChar char="●"/>
            </a:pPr>
            <a:r>
              <a:rPr lang="en" sz="820">
                <a:solidFill>
                  <a:srgbClr val="38761D"/>
                </a:solidFill>
              </a:rPr>
              <a:t>2 examples per leadership principle</a:t>
            </a:r>
            <a:endParaRPr sz="820">
              <a:solidFill>
                <a:srgbClr val="38761D"/>
              </a:solidFill>
            </a:endParaRPr>
          </a:p>
          <a:p>
            <a:pPr marL="457200" lvl="0" indent="-280670" algn="l" rtl="0">
              <a:spcBef>
                <a:spcPts val="0"/>
              </a:spcBef>
              <a:spcAft>
                <a:spcPts val="0"/>
              </a:spcAft>
              <a:buClr>
                <a:srgbClr val="38761D"/>
              </a:buClr>
              <a:buSzPts val="820"/>
              <a:buChar char="●"/>
            </a:pPr>
            <a:r>
              <a:rPr lang="en" sz="820">
                <a:solidFill>
                  <a:srgbClr val="38761D"/>
                </a:solidFill>
              </a:rPr>
              <a:t>Speak not just What you did but how you behaved (who did you speak to, why did you speak with, what alternatives did you look into) </a:t>
            </a:r>
            <a:endParaRPr sz="820">
              <a:solidFill>
                <a:srgbClr val="38761D"/>
              </a:solidFill>
            </a:endParaRPr>
          </a:p>
          <a:p>
            <a:pPr marL="457200" lvl="0" indent="-280670" algn="l" rtl="0">
              <a:lnSpc>
                <a:spcPct val="100000"/>
              </a:lnSpc>
              <a:spcBef>
                <a:spcPts val="0"/>
              </a:spcBef>
              <a:spcAft>
                <a:spcPts val="0"/>
              </a:spcAft>
              <a:buClr>
                <a:srgbClr val="38761D"/>
              </a:buClr>
              <a:buSzPts val="820"/>
              <a:buChar char="●"/>
            </a:pPr>
            <a:r>
              <a:rPr lang="en" sz="900">
                <a:solidFill>
                  <a:srgbClr val="38761D"/>
                </a:solidFill>
              </a:rPr>
              <a:t>generally avoid same examples during interview</a:t>
            </a:r>
            <a:endParaRPr sz="900">
              <a:solidFill>
                <a:srgbClr val="38761D"/>
              </a:solidFill>
            </a:endParaRPr>
          </a:p>
          <a:p>
            <a:pPr marL="457200" lvl="0" indent="-280670" algn="l" rtl="0">
              <a:lnSpc>
                <a:spcPct val="100000"/>
              </a:lnSpc>
              <a:spcBef>
                <a:spcPts val="0"/>
              </a:spcBef>
              <a:spcAft>
                <a:spcPts val="0"/>
              </a:spcAft>
              <a:buClr>
                <a:srgbClr val="38761D"/>
              </a:buClr>
              <a:buSzPts val="820"/>
              <a:buChar char="●"/>
            </a:pPr>
            <a:r>
              <a:rPr lang="en" sz="900">
                <a:solidFill>
                  <a:srgbClr val="38761D"/>
                </a:solidFill>
              </a:rPr>
              <a:t>Ten tips: write question and underline to understand focus of question,  ask if you are going at level of details they are expecting, interview is about your behavior not just what you did but how you did , be prepared with faq section for follow up questions so think/anticipate objections or qna for every story, engage with interviewer early to ease them up,</a:t>
            </a:r>
            <a:endParaRPr sz="900">
              <a:solidFill>
                <a:srgbClr val="38761D"/>
              </a:solidFill>
            </a:endParaRPr>
          </a:p>
          <a:p>
            <a:pPr marL="457200" lvl="0" indent="-280670" algn="l" rtl="0">
              <a:lnSpc>
                <a:spcPct val="100000"/>
              </a:lnSpc>
              <a:spcBef>
                <a:spcPts val="0"/>
              </a:spcBef>
              <a:spcAft>
                <a:spcPts val="0"/>
              </a:spcAft>
              <a:buClr>
                <a:srgbClr val="38761D"/>
              </a:buClr>
              <a:buSzPts val="820"/>
              <a:buChar char="●"/>
            </a:pPr>
            <a:r>
              <a:rPr lang="en" sz="900">
                <a:solidFill>
                  <a:srgbClr val="38761D"/>
                </a:solidFill>
              </a:rPr>
              <a:t>For weakness..pick a strength like good Collab and then highlight because of it blah blah weakness</a:t>
            </a:r>
            <a:endParaRPr sz="900">
              <a:solidFill>
                <a:srgbClr val="38761D"/>
              </a:solidFill>
            </a:endParaRPr>
          </a:p>
          <a:p>
            <a:pPr marL="457200" lvl="0" indent="-285750" algn="l" rtl="0">
              <a:lnSpc>
                <a:spcPct val="100000"/>
              </a:lnSpc>
              <a:spcBef>
                <a:spcPts val="0"/>
              </a:spcBef>
              <a:spcAft>
                <a:spcPts val="0"/>
              </a:spcAft>
              <a:buClr>
                <a:srgbClr val="38761D"/>
              </a:buClr>
              <a:buSzPts val="900"/>
              <a:buChar char="●"/>
            </a:pPr>
            <a:r>
              <a:rPr lang="en" sz="900">
                <a:solidFill>
                  <a:srgbClr val="38761D"/>
                </a:solidFill>
              </a:rPr>
              <a:t>Absolutely love people who have learnt a process or something can be scaled</a:t>
            </a:r>
            <a:endParaRPr sz="820">
              <a:solidFill>
                <a:srgbClr val="38761D"/>
              </a:solidFill>
            </a:endParaRPr>
          </a:p>
        </p:txBody>
      </p:sp>
      <p:sp>
        <p:nvSpPr>
          <p:cNvPr id="84" name="Google Shape;84;p18"/>
          <p:cNvSpPr txBox="1">
            <a:spLocks noGrp="1"/>
          </p:cNvSpPr>
          <p:nvPr>
            <p:ph type="body" idx="1"/>
          </p:nvPr>
        </p:nvSpPr>
        <p:spPr>
          <a:xfrm>
            <a:off x="6190650" y="1510075"/>
            <a:ext cx="2978700" cy="451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40"/>
              <a:buNone/>
            </a:pPr>
            <a:r>
              <a:rPr lang="en" sz="1020" b="1">
                <a:solidFill>
                  <a:srgbClr val="CC0000"/>
                </a:solidFill>
              </a:rPr>
              <a:t>Best Practices Dont’s : </a:t>
            </a:r>
            <a:endParaRPr sz="1020" b="1">
              <a:solidFill>
                <a:srgbClr val="CC0000"/>
              </a:solidFill>
            </a:endParaRPr>
          </a:p>
          <a:p>
            <a:pPr marL="457200" lvl="0" indent="-293370" algn="l" rtl="0">
              <a:spcBef>
                <a:spcPts val="1200"/>
              </a:spcBef>
              <a:spcAft>
                <a:spcPts val="0"/>
              </a:spcAft>
              <a:buClr>
                <a:srgbClr val="CC0000"/>
              </a:buClr>
              <a:buSzPts val="1020"/>
              <a:buChar char="●"/>
            </a:pPr>
            <a:r>
              <a:rPr lang="en" sz="1020">
                <a:solidFill>
                  <a:srgbClr val="CC0000"/>
                </a:solidFill>
              </a:rPr>
              <a:t>Don't criticize people, don't tell people's name : Nor previous manager nor colleagues</a:t>
            </a:r>
            <a:endParaRPr sz="1020">
              <a:solidFill>
                <a:srgbClr val="CC0000"/>
              </a:solidFill>
            </a:endParaRPr>
          </a:p>
          <a:p>
            <a:pPr marL="457200" marR="0" lvl="0" indent="-293370" algn="l" rtl="0">
              <a:lnSpc>
                <a:spcPct val="115000"/>
              </a:lnSpc>
              <a:spcBef>
                <a:spcPts val="0"/>
              </a:spcBef>
              <a:spcAft>
                <a:spcPts val="0"/>
              </a:spcAft>
              <a:buClr>
                <a:srgbClr val="CC0000"/>
              </a:buClr>
              <a:buSzPts val="1020"/>
              <a:buChar char="●"/>
            </a:pPr>
            <a:r>
              <a:rPr lang="en" sz="1020">
                <a:solidFill>
                  <a:srgbClr val="CC0000"/>
                </a:solidFill>
              </a:rPr>
              <a:t>Don't create inconsistencies in your story.</a:t>
            </a:r>
            <a:endParaRPr sz="1020">
              <a:solidFill>
                <a:srgbClr val="CC0000"/>
              </a:solidFill>
            </a:endParaRPr>
          </a:p>
          <a:p>
            <a:pPr marL="457200" marR="0" lvl="0" indent="-293370" algn="l" rtl="0">
              <a:lnSpc>
                <a:spcPct val="115000"/>
              </a:lnSpc>
              <a:spcBef>
                <a:spcPts val="0"/>
              </a:spcBef>
              <a:spcAft>
                <a:spcPts val="0"/>
              </a:spcAft>
              <a:buClr>
                <a:srgbClr val="CC0000"/>
              </a:buClr>
              <a:buSzPts val="1020"/>
              <a:buChar char="●"/>
            </a:pPr>
            <a:r>
              <a:rPr lang="en" sz="1020">
                <a:solidFill>
                  <a:srgbClr val="CC0000"/>
                </a:solidFill>
              </a:rPr>
              <a:t>Never use same example in AMZN interviews for same leadership as much as possible as they are looking for consistent performer </a:t>
            </a:r>
            <a:endParaRPr sz="1020">
              <a:solidFill>
                <a:srgbClr val="CC0000"/>
              </a:solidFill>
            </a:endParaRPr>
          </a:p>
          <a:p>
            <a:pPr marL="457200" marR="0" lvl="0" indent="-293370" algn="l" rtl="0">
              <a:lnSpc>
                <a:spcPct val="115000"/>
              </a:lnSpc>
              <a:spcBef>
                <a:spcPts val="0"/>
              </a:spcBef>
              <a:spcAft>
                <a:spcPts val="0"/>
              </a:spcAft>
              <a:buClr>
                <a:srgbClr val="CC0000"/>
              </a:buClr>
              <a:buSzPts val="1020"/>
              <a:buChar char="●"/>
            </a:pPr>
            <a:r>
              <a:rPr lang="en" sz="1020">
                <a:solidFill>
                  <a:srgbClr val="CC0000"/>
                </a:solidFill>
              </a:rPr>
              <a:t>Don't assume that the interviewer knows all terminologies. Break down specific terms if the example is getting complicated</a:t>
            </a:r>
            <a:endParaRPr sz="1020">
              <a:solidFill>
                <a:srgbClr val="CC0000"/>
              </a:solidFill>
            </a:endParaRPr>
          </a:p>
          <a:p>
            <a:pPr marL="457200" marR="0" lvl="0" indent="-293370" algn="l" rtl="0">
              <a:lnSpc>
                <a:spcPct val="115000"/>
              </a:lnSpc>
              <a:spcBef>
                <a:spcPts val="0"/>
              </a:spcBef>
              <a:spcAft>
                <a:spcPts val="0"/>
              </a:spcAft>
              <a:buClr>
                <a:srgbClr val="CC0000"/>
              </a:buClr>
              <a:buSzPts val="1020"/>
              <a:buChar char="●"/>
            </a:pPr>
            <a:r>
              <a:rPr lang="en" sz="1020">
                <a:solidFill>
                  <a:srgbClr val="CC0000"/>
                </a:solidFill>
              </a:rPr>
              <a:t>Can't be at 10K foot level</a:t>
            </a:r>
            <a:endParaRPr sz="1020">
              <a:solidFill>
                <a:srgbClr val="CC0000"/>
              </a:solidFill>
            </a:endParaRPr>
          </a:p>
        </p:txBody>
      </p:sp>
      <p:sp>
        <p:nvSpPr>
          <p:cNvPr id="85" name="Google Shape;85;p18"/>
          <p:cNvSpPr txBox="1"/>
          <p:nvPr/>
        </p:nvSpPr>
        <p:spPr>
          <a:xfrm>
            <a:off x="105900" y="647275"/>
            <a:ext cx="8673300" cy="9390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20" b="1">
                <a:solidFill>
                  <a:srgbClr val="1155CC"/>
                </a:solidFill>
              </a:rPr>
              <a:t>What amazon wants </a:t>
            </a:r>
            <a:r>
              <a:rPr lang="en" sz="1020">
                <a:solidFill>
                  <a:srgbClr val="1155CC"/>
                </a:solidFill>
              </a:rPr>
              <a:t>:  Amazon interested in strengthening general population of employees, deliver excellent outcomes</a:t>
            </a:r>
            <a:endParaRPr sz="1020">
              <a:solidFill>
                <a:srgbClr val="1155CC"/>
              </a:solidFill>
            </a:endParaRPr>
          </a:p>
          <a:p>
            <a:pPr marL="457200" lvl="0" indent="-293370" algn="l" rtl="0">
              <a:lnSpc>
                <a:spcPct val="100000"/>
              </a:lnSpc>
              <a:spcBef>
                <a:spcPts val="400"/>
              </a:spcBef>
              <a:spcAft>
                <a:spcPts val="0"/>
              </a:spcAft>
              <a:buClr>
                <a:srgbClr val="1155CC"/>
              </a:buClr>
              <a:buSzPts val="1020"/>
              <a:buChar char="●"/>
            </a:pPr>
            <a:r>
              <a:rPr lang="en" sz="1020">
                <a:solidFill>
                  <a:srgbClr val="1155CC"/>
                </a:solidFill>
              </a:rPr>
              <a:t>Better than average in a team, &gt;50% of employees in similar role at similar level</a:t>
            </a:r>
            <a:endParaRPr sz="1020">
              <a:solidFill>
                <a:srgbClr val="1155CC"/>
              </a:solidFill>
            </a:endParaRPr>
          </a:p>
          <a:p>
            <a:pPr marL="457200" lvl="0" indent="-293370" algn="l" rtl="0">
              <a:lnSpc>
                <a:spcPct val="115000"/>
              </a:lnSpc>
              <a:spcBef>
                <a:spcPts val="400"/>
              </a:spcBef>
              <a:spcAft>
                <a:spcPts val="0"/>
              </a:spcAft>
              <a:buClr>
                <a:srgbClr val="1155CC"/>
              </a:buClr>
              <a:buSzPts val="1020"/>
              <a:buChar char="●"/>
            </a:pPr>
            <a:r>
              <a:rPr lang="en" sz="1020">
                <a:solidFill>
                  <a:srgbClr val="1155CC"/>
                </a:solidFill>
              </a:rPr>
              <a:t> Need to be bar raising in both functional/technical and behavioral</a:t>
            </a:r>
            <a:endParaRPr sz="1020">
              <a:solidFill>
                <a:srgbClr val="1155CC"/>
              </a:solidFill>
            </a:endParaRPr>
          </a:p>
          <a:p>
            <a:pPr marL="457200" lvl="0" indent="-293370" algn="l" rtl="0">
              <a:lnSpc>
                <a:spcPct val="115000"/>
              </a:lnSpc>
              <a:spcBef>
                <a:spcPts val="0"/>
              </a:spcBef>
              <a:spcAft>
                <a:spcPts val="0"/>
              </a:spcAft>
              <a:buClr>
                <a:srgbClr val="1155CC"/>
              </a:buClr>
              <a:buSzPts val="1020"/>
              <a:buChar char="●"/>
            </a:pPr>
            <a:r>
              <a:rPr lang="en" sz="1020">
                <a:solidFill>
                  <a:srgbClr val="1155CC"/>
                </a:solidFill>
              </a:rPr>
              <a:t>Hiring manager wants : Analytical, Data Driven, High Achiever, Don’t rush on answers</a:t>
            </a:r>
            <a:endParaRPr sz="1020">
              <a:solidFill>
                <a:srgbClr val="1155C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614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AWS Interview : Questions to Ask</a:t>
            </a:r>
            <a:endParaRPr/>
          </a:p>
        </p:txBody>
      </p:sp>
      <p:sp>
        <p:nvSpPr>
          <p:cNvPr id="91" name="Google Shape;91;p19"/>
          <p:cNvSpPr txBox="1">
            <a:spLocks noGrp="1"/>
          </p:cNvSpPr>
          <p:nvPr>
            <p:ph type="body" idx="1"/>
          </p:nvPr>
        </p:nvSpPr>
        <p:spPr>
          <a:xfrm>
            <a:off x="61425" y="643150"/>
            <a:ext cx="8813100" cy="1056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40"/>
              <a:buNone/>
            </a:pPr>
            <a:r>
              <a:rPr lang="en" sz="1020" b="1">
                <a:solidFill>
                  <a:srgbClr val="1155CC"/>
                </a:solidFill>
              </a:rPr>
              <a:t>To Recruiter</a:t>
            </a:r>
            <a:endParaRPr sz="1020" b="1">
              <a:solidFill>
                <a:srgbClr val="1155CC"/>
              </a:solidFill>
            </a:endParaRPr>
          </a:p>
          <a:p>
            <a:pPr marL="457200" lvl="0" indent="-293370" algn="l" rtl="0">
              <a:lnSpc>
                <a:spcPct val="100000"/>
              </a:lnSpc>
              <a:spcBef>
                <a:spcPts val="400"/>
              </a:spcBef>
              <a:spcAft>
                <a:spcPts val="0"/>
              </a:spcAft>
              <a:buClr>
                <a:srgbClr val="1155CC"/>
              </a:buClr>
              <a:buSzPts val="1020"/>
              <a:buChar char="●"/>
            </a:pPr>
            <a:r>
              <a:rPr lang="en" sz="1020" b="1">
                <a:solidFill>
                  <a:srgbClr val="1155CC"/>
                </a:solidFill>
              </a:rPr>
              <a:t>Org : Sales/GTM etc? Compensation : Quota..</a:t>
            </a:r>
            <a:endParaRPr sz="1020" b="1">
              <a:solidFill>
                <a:srgbClr val="1155CC"/>
              </a:solidFill>
            </a:endParaRPr>
          </a:p>
          <a:p>
            <a:pPr marL="457200" lvl="0" indent="-293370" algn="l" rtl="0">
              <a:lnSpc>
                <a:spcPct val="100000"/>
              </a:lnSpc>
              <a:spcBef>
                <a:spcPts val="400"/>
              </a:spcBef>
              <a:spcAft>
                <a:spcPts val="0"/>
              </a:spcAft>
              <a:buClr>
                <a:srgbClr val="1155CC"/>
              </a:buClr>
              <a:buSzPts val="1020"/>
              <a:buChar char="●"/>
            </a:pPr>
            <a:r>
              <a:rPr lang="en" sz="1020" b="1">
                <a:solidFill>
                  <a:srgbClr val="1155CC"/>
                </a:solidFill>
              </a:rPr>
              <a:t>Ask recruiter any particular leadership principles are of utmost interest</a:t>
            </a:r>
            <a:endParaRPr sz="1020" b="1">
              <a:solidFill>
                <a:srgbClr val="1155CC"/>
              </a:solidFill>
            </a:endParaRPr>
          </a:p>
          <a:p>
            <a:pPr marL="457200" lvl="0" indent="-293370" algn="l" rtl="0">
              <a:spcBef>
                <a:spcPts val="400"/>
              </a:spcBef>
              <a:spcAft>
                <a:spcPts val="0"/>
              </a:spcAft>
              <a:buClr>
                <a:srgbClr val="1155CC"/>
              </a:buClr>
              <a:buSzPts val="1020"/>
              <a:buChar char="●"/>
            </a:pPr>
            <a:r>
              <a:rPr lang="en" sz="1020" b="1">
                <a:solidFill>
                  <a:srgbClr val="1155CC"/>
                </a:solidFill>
              </a:rPr>
              <a:t>Ask them what should be expected during the interviews</a:t>
            </a:r>
            <a:endParaRPr sz="1020" b="1">
              <a:solidFill>
                <a:srgbClr val="1155CC"/>
              </a:solidFill>
            </a:endParaRPr>
          </a:p>
        </p:txBody>
      </p:sp>
      <p:sp>
        <p:nvSpPr>
          <p:cNvPr id="92" name="Google Shape;92;p19"/>
          <p:cNvSpPr txBox="1">
            <a:spLocks noGrp="1"/>
          </p:cNvSpPr>
          <p:nvPr>
            <p:ph type="body" idx="1"/>
          </p:nvPr>
        </p:nvSpPr>
        <p:spPr>
          <a:xfrm>
            <a:off x="61425" y="1466075"/>
            <a:ext cx="8605200" cy="10569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440"/>
              <a:buNone/>
            </a:pPr>
            <a:r>
              <a:rPr lang="en" sz="1020" b="1">
                <a:solidFill>
                  <a:srgbClr val="A64D79"/>
                </a:solidFill>
              </a:rPr>
              <a:t>To Hiring Manager</a:t>
            </a:r>
            <a:endParaRPr sz="1020" b="1">
              <a:solidFill>
                <a:srgbClr val="A64D79"/>
              </a:solidFill>
            </a:endParaRPr>
          </a:p>
          <a:p>
            <a:pPr marL="457200" marR="0" lvl="0" indent="-293370" algn="l" rtl="0">
              <a:lnSpc>
                <a:spcPct val="100000"/>
              </a:lnSpc>
              <a:spcBef>
                <a:spcPts val="400"/>
              </a:spcBef>
              <a:spcAft>
                <a:spcPts val="0"/>
              </a:spcAft>
              <a:buClr>
                <a:srgbClr val="A64D79"/>
              </a:buClr>
              <a:buSzPts val="1020"/>
              <a:buChar char="●"/>
            </a:pPr>
            <a:r>
              <a:rPr lang="en" sz="1020" b="1">
                <a:solidFill>
                  <a:srgbClr val="A64D79"/>
                </a:solidFill>
              </a:rPr>
              <a:t>Persona of interest : Sales &amp; Marketing? Product? CTO?</a:t>
            </a:r>
            <a:endParaRPr sz="1020" b="1">
              <a:solidFill>
                <a:srgbClr val="A64D79"/>
              </a:solidFill>
            </a:endParaRPr>
          </a:p>
          <a:p>
            <a:pPr marL="457200" marR="0" lvl="0" indent="-293370" algn="l" rtl="0">
              <a:lnSpc>
                <a:spcPct val="100000"/>
              </a:lnSpc>
              <a:spcBef>
                <a:spcPts val="0"/>
              </a:spcBef>
              <a:spcAft>
                <a:spcPts val="0"/>
              </a:spcAft>
              <a:buClr>
                <a:srgbClr val="A64D79"/>
              </a:buClr>
              <a:buSzPts val="1020"/>
              <a:buChar char="●"/>
            </a:pPr>
            <a:r>
              <a:rPr lang="en" sz="1020" b="1">
                <a:solidFill>
                  <a:srgbClr val="A64D79"/>
                </a:solidFill>
              </a:rPr>
              <a:t>how desperate are they trying to hire i.e how long have you been finding for role or how soon are you closing</a:t>
            </a:r>
            <a:endParaRPr sz="1020" b="1">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Ask key challenges for the role? What have been the biggest challenges for your team this year?</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Why has this role become available?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In early rounds ask what type of traits will make this person successfully and look for leadership principle cues but don't ask which leadership principles are imp for this role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 what is their favorite leadership principle so you get a perspective on hiring manager works or gets excited about</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 are the expectations from me in the first 90 days of the job or 1st 12 months?  How is performance measured in the company?</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 is the typical career path for someone in this role?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What’s been most successful hire in this team?</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How could I add immediate value with my skills in this role? </a:t>
            </a:r>
            <a:endParaRPr sz="1020">
              <a:solidFill>
                <a:srgbClr val="A64D79"/>
              </a:solidFill>
            </a:endParaRPr>
          </a:p>
        </p:txBody>
      </p:sp>
      <p:sp>
        <p:nvSpPr>
          <p:cNvPr id="93" name="Google Shape;93;p19"/>
          <p:cNvSpPr txBox="1">
            <a:spLocks noGrp="1"/>
          </p:cNvSpPr>
          <p:nvPr>
            <p:ph type="body" idx="1"/>
          </p:nvPr>
        </p:nvSpPr>
        <p:spPr>
          <a:xfrm>
            <a:off x="61425" y="3721150"/>
            <a:ext cx="8605200" cy="10569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440"/>
              <a:buNone/>
            </a:pPr>
            <a:r>
              <a:rPr lang="en" sz="1020" b="1">
                <a:solidFill>
                  <a:srgbClr val="E69138"/>
                </a:solidFill>
              </a:rPr>
              <a:t>To Panelists/Peers in same team</a:t>
            </a:r>
            <a:endParaRPr sz="1020" b="1">
              <a:solidFill>
                <a:srgbClr val="E69138"/>
              </a:solidFill>
            </a:endParaRPr>
          </a:p>
          <a:p>
            <a:pPr marL="457200" marR="0" lvl="0" indent="-293370" algn="l" rtl="0">
              <a:lnSpc>
                <a:spcPct val="100000"/>
              </a:lnSpc>
              <a:spcBef>
                <a:spcPts val="400"/>
              </a:spcBef>
              <a:spcAft>
                <a:spcPts val="0"/>
              </a:spcAft>
              <a:buClr>
                <a:srgbClr val="E69138"/>
              </a:buClr>
              <a:buSzPts val="1020"/>
              <a:buChar char="●"/>
            </a:pPr>
            <a:r>
              <a:rPr lang="en" sz="1020">
                <a:solidFill>
                  <a:srgbClr val="E69138"/>
                </a:solidFill>
              </a:rPr>
              <a:t>what drew you to this team? So, it helps to understand reputation of team both for internal transition or external person appeal,</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Then follow up with what surprised you after you joined, what is favorite leadership principle of your manager,</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made you join Amazon? What do you most like about the company?</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kind of training is provided after someone joins?</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do you love the most about working here?</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Is there anything else I can provide you that would be helpful?</a:t>
            </a:r>
            <a:endParaRPr sz="1020">
              <a:solidFill>
                <a:srgbClr val="E6913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99950" y="45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Amazon summary Cheat sheet</a:t>
            </a:r>
            <a:endParaRPr dirty="0"/>
          </a:p>
        </p:txBody>
      </p:sp>
      <p:sp>
        <p:nvSpPr>
          <p:cNvPr id="77" name="Google Shape;77;p17"/>
          <p:cNvSpPr txBox="1">
            <a:spLocks noGrp="1"/>
          </p:cNvSpPr>
          <p:nvPr>
            <p:ph type="body" idx="1"/>
          </p:nvPr>
        </p:nvSpPr>
        <p:spPr>
          <a:xfrm>
            <a:off x="63600" y="679925"/>
            <a:ext cx="8969400" cy="4272900"/>
          </a:xfrm>
          <a:prstGeom prst="rect">
            <a:avLst/>
          </a:prstGeom>
        </p:spPr>
        <p:txBody>
          <a:bodyPr spcFirstLastPara="1" wrap="square" lIns="91425" tIns="91425" rIns="91425" bIns="91425" anchor="t" anchorCtr="0">
            <a:noAutofit/>
          </a:bodyPr>
          <a:lstStyle/>
          <a:p>
            <a:pPr marL="457200" lvl="0" indent="-332105" algn="l" rtl="0">
              <a:lnSpc>
                <a:spcPct val="105000"/>
              </a:lnSpc>
              <a:spcBef>
                <a:spcPts val="0"/>
              </a:spcBef>
              <a:spcAft>
                <a:spcPts val="0"/>
              </a:spcAft>
              <a:buSzPts val="1630"/>
              <a:buChar char="❏"/>
            </a:pPr>
            <a:r>
              <a:rPr lang="en" sz="1629"/>
              <a:t>Listen Question Completely</a:t>
            </a:r>
            <a:endParaRPr sz="1629"/>
          </a:p>
          <a:p>
            <a:pPr marL="457200" lvl="0" indent="-332105" algn="l" rtl="0">
              <a:lnSpc>
                <a:spcPct val="105000"/>
              </a:lnSpc>
              <a:spcBef>
                <a:spcPts val="0"/>
              </a:spcBef>
              <a:spcAft>
                <a:spcPts val="0"/>
              </a:spcAft>
              <a:buSzPts val="1630"/>
              <a:buChar char="❏"/>
            </a:pPr>
            <a:r>
              <a:rPr lang="en" sz="1629"/>
              <a:t>Pause/Clarify/Think before responsing post question</a:t>
            </a:r>
            <a:endParaRPr sz="1629"/>
          </a:p>
          <a:p>
            <a:pPr marL="457200" lvl="0" indent="-332105" algn="l" rtl="0">
              <a:lnSpc>
                <a:spcPct val="105000"/>
              </a:lnSpc>
              <a:spcBef>
                <a:spcPts val="0"/>
              </a:spcBef>
              <a:spcAft>
                <a:spcPts val="0"/>
              </a:spcAft>
              <a:buSzPts val="1630"/>
              <a:buChar char="❏"/>
            </a:pPr>
            <a:r>
              <a:rPr lang="en" sz="1629"/>
              <a:t>Talk to the Point and Be Slow. </a:t>
            </a:r>
            <a:endParaRPr sz="1629"/>
          </a:p>
          <a:p>
            <a:pPr marL="457200" lvl="0" indent="-332105" algn="l" rtl="0">
              <a:lnSpc>
                <a:spcPct val="105000"/>
              </a:lnSpc>
              <a:spcBef>
                <a:spcPts val="0"/>
              </a:spcBef>
              <a:spcAft>
                <a:spcPts val="0"/>
              </a:spcAft>
              <a:buSzPts val="1630"/>
              <a:buChar char="❏"/>
            </a:pPr>
            <a:r>
              <a:rPr lang="en" sz="1629"/>
              <a:t>Say I than WE</a:t>
            </a:r>
            <a:endParaRPr sz="1629"/>
          </a:p>
          <a:p>
            <a:pPr marL="457200" lvl="0" indent="-332105" algn="l" rtl="0">
              <a:lnSpc>
                <a:spcPct val="105000"/>
              </a:lnSpc>
              <a:spcBef>
                <a:spcPts val="0"/>
              </a:spcBef>
              <a:spcAft>
                <a:spcPts val="0"/>
              </a:spcAft>
              <a:buSzPts val="1630"/>
              <a:buChar char="❏"/>
            </a:pPr>
            <a:r>
              <a:rPr lang="en" sz="1629"/>
              <a:t>Engage Interviewer</a:t>
            </a:r>
            <a:endParaRPr sz="1629"/>
          </a:p>
          <a:p>
            <a:pPr marL="457200" lvl="0" indent="-332105" algn="l" rtl="0">
              <a:lnSpc>
                <a:spcPct val="105000"/>
              </a:lnSpc>
              <a:spcBef>
                <a:spcPts val="0"/>
              </a:spcBef>
              <a:spcAft>
                <a:spcPts val="0"/>
              </a:spcAft>
              <a:buSzPts val="1630"/>
              <a:buChar char="❏"/>
            </a:pPr>
            <a:r>
              <a:rPr lang="en" sz="1629"/>
              <a:t>Did I answer your question?</a:t>
            </a:r>
            <a:endParaRPr sz="1629"/>
          </a:p>
          <a:p>
            <a:pPr marL="457200" lvl="0" indent="-332105" algn="l" rtl="0">
              <a:lnSpc>
                <a:spcPct val="105000"/>
              </a:lnSpc>
              <a:spcBef>
                <a:spcPts val="0"/>
              </a:spcBef>
              <a:spcAft>
                <a:spcPts val="0"/>
              </a:spcAft>
              <a:buSzPts val="1630"/>
              <a:buChar char="❏"/>
            </a:pPr>
            <a:r>
              <a:rPr lang="en" sz="1629"/>
              <a:t>Laugh less lol</a:t>
            </a:r>
            <a:endParaRPr sz="1629"/>
          </a:p>
          <a:p>
            <a:pPr marL="0" lvl="0" indent="0" algn="l" rtl="0">
              <a:lnSpc>
                <a:spcPct val="105000"/>
              </a:lnSpc>
              <a:spcBef>
                <a:spcPts val="1200"/>
              </a:spcBef>
              <a:spcAft>
                <a:spcPts val="0"/>
              </a:spcAft>
              <a:buNone/>
            </a:pPr>
            <a:endParaRPr sz="1629"/>
          </a:p>
          <a:p>
            <a:pPr marL="0" lvl="0" indent="0" algn="l" rtl="0">
              <a:lnSpc>
                <a:spcPct val="105000"/>
              </a:lnSpc>
              <a:spcBef>
                <a:spcPts val="1200"/>
              </a:spcBef>
              <a:spcAft>
                <a:spcPts val="0"/>
              </a:spcAft>
              <a:buNone/>
            </a:pPr>
            <a:r>
              <a:rPr lang="en" sz="1629"/>
              <a:t>Focus on Problem:</a:t>
            </a:r>
            <a:endParaRPr sz="1629"/>
          </a:p>
          <a:p>
            <a:pPr marL="457200" lvl="0" indent="-332105" algn="l" rtl="0">
              <a:lnSpc>
                <a:spcPct val="105000"/>
              </a:lnSpc>
              <a:spcBef>
                <a:spcPts val="1200"/>
              </a:spcBef>
              <a:spcAft>
                <a:spcPts val="0"/>
              </a:spcAft>
              <a:buSzPts val="1630"/>
              <a:buChar char="●"/>
            </a:pPr>
            <a:r>
              <a:rPr lang="en" sz="1629"/>
              <a:t>Use STAR framework</a:t>
            </a:r>
            <a:endParaRPr sz="1629"/>
          </a:p>
          <a:p>
            <a:pPr marL="457200" lvl="0" indent="-332105" algn="l" rtl="0">
              <a:lnSpc>
                <a:spcPct val="105000"/>
              </a:lnSpc>
              <a:spcBef>
                <a:spcPts val="0"/>
              </a:spcBef>
              <a:spcAft>
                <a:spcPts val="0"/>
              </a:spcAft>
              <a:buSzPts val="1630"/>
              <a:buChar char="●"/>
            </a:pPr>
            <a:r>
              <a:rPr lang="en" sz="1629"/>
              <a:t>Keep situation simple/brief. Focus on TASK and ACTION and Resul t</a:t>
            </a:r>
            <a:endParaRPr sz="1629"/>
          </a:p>
          <a:p>
            <a:pPr marL="457200" lvl="0" indent="-332105" algn="l" rtl="0">
              <a:lnSpc>
                <a:spcPct val="105000"/>
              </a:lnSpc>
              <a:spcBef>
                <a:spcPts val="0"/>
              </a:spcBef>
              <a:spcAft>
                <a:spcPts val="0"/>
              </a:spcAft>
              <a:buSzPts val="1630"/>
              <a:buChar char="●"/>
            </a:pPr>
            <a:r>
              <a:rPr lang="en" sz="1629"/>
              <a:t>Show Exec Engagement</a:t>
            </a:r>
            <a:endParaRPr sz="1629"/>
          </a:p>
          <a:p>
            <a:pPr marL="457200" lvl="0" indent="-332105" algn="l" rtl="0">
              <a:lnSpc>
                <a:spcPct val="105000"/>
              </a:lnSpc>
              <a:spcBef>
                <a:spcPts val="0"/>
              </a:spcBef>
              <a:spcAft>
                <a:spcPts val="0"/>
              </a:spcAft>
              <a:buSzPts val="1630"/>
              <a:buChar char="●"/>
            </a:pPr>
            <a:r>
              <a:rPr lang="en" sz="1629"/>
              <a:t>How did you execute, who did you engage with are very important</a:t>
            </a:r>
            <a:endParaRPr sz="1629"/>
          </a:p>
          <a:p>
            <a:pPr marL="457200" lvl="0" indent="-332105" algn="l" rtl="0">
              <a:lnSpc>
                <a:spcPct val="105000"/>
              </a:lnSpc>
              <a:spcBef>
                <a:spcPts val="0"/>
              </a:spcBef>
              <a:spcAft>
                <a:spcPts val="0"/>
              </a:spcAft>
              <a:buSzPts val="1630"/>
              <a:buChar char="●"/>
            </a:pPr>
            <a:endParaRPr sz="1629"/>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99950" y="45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Amazon Behavioral Questions</a:t>
            </a:r>
            <a:endParaRPr/>
          </a:p>
        </p:txBody>
      </p:sp>
      <p:sp>
        <p:nvSpPr>
          <p:cNvPr id="99" name="Google Shape;99;p20"/>
          <p:cNvSpPr txBox="1">
            <a:spLocks noGrp="1"/>
          </p:cNvSpPr>
          <p:nvPr>
            <p:ph type="body" idx="1"/>
          </p:nvPr>
        </p:nvSpPr>
        <p:spPr>
          <a:xfrm>
            <a:off x="63600" y="679925"/>
            <a:ext cx="8969400" cy="4272900"/>
          </a:xfrm>
          <a:prstGeom prst="rect">
            <a:avLst/>
          </a:prstGeom>
        </p:spPr>
        <p:txBody>
          <a:bodyPr spcFirstLastPara="1" wrap="square" lIns="91425" tIns="91425" rIns="91425" bIns="91425" anchor="t" anchorCtr="0">
            <a:noAutofit/>
          </a:bodyPr>
          <a:lstStyle/>
          <a:p>
            <a:pPr marL="457200" lvl="0" indent="-294322" algn="l" rtl="0">
              <a:lnSpc>
                <a:spcPct val="105000"/>
              </a:lnSpc>
              <a:spcBef>
                <a:spcPts val="1000"/>
              </a:spcBef>
              <a:spcAft>
                <a:spcPts val="0"/>
              </a:spcAft>
              <a:buClr>
                <a:srgbClr val="222222"/>
              </a:buClr>
              <a:buSzPts val="1035"/>
              <a:buChar char="●"/>
            </a:pPr>
            <a:r>
              <a:rPr lang="en" sz="1035">
                <a:solidFill>
                  <a:srgbClr val="222222"/>
                </a:solidFill>
                <a:highlight>
                  <a:srgbClr val="FFFFFF"/>
                </a:highlight>
              </a:rPr>
              <a:t>Tell me about a time when you worked to improve the quality of a product / service / solution that was already getting good customer feedback.</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you took on work outside of your comfort area</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not only met a goal but considerably exceeded expectations</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Describe a time when you took an unpopular stance in a meeting with peers and your leader.</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pushed back against a decision that would have negatively impacted your project or customer</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not only met a goal but considerably exceeded expectations</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had significant, unanticipated obstacles to overcome in achieving a key goal</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Give me an example of a time when you were able to deliver an important project under a tight deadline</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saw an issue that would impact your team and took a proactive approach to solve it</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When is a time you had to make a calculated decision and make the leap?</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you had an internal disagreement on your team and how did you resolve it?</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made a judgement call and you were wrong</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What was a negative feedback you received from your last boss and how did you handle it?</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Tell me about a time when you had to make a quick decision that was going to have a significant impact on the business.</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What is the farthest you have bent your standards in order to succeed? Describe a time when you took a big risk and it failed. What did you learn?  </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Give an example of when you failed a goal you had. Why did you fail?  </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When is a time you had to make a calculated decision and make the leap?  </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Describe a conflict you had with your management and how you overcame it.  </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give me a situation where you couldn't solve an issue? </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Example of an experience where I had to make a difficult decision and how I approached the situation.</a:t>
            </a:r>
            <a:endParaRPr sz="1035">
              <a:solidFill>
                <a:srgbClr val="222222"/>
              </a:solidFill>
              <a:highlight>
                <a:srgbClr val="FFFFFF"/>
              </a:highlight>
            </a:endParaRPr>
          </a:p>
          <a:p>
            <a:pPr marL="457200" lvl="0" indent="-294322" algn="l" rtl="0">
              <a:lnSpc>
                <a:spcPct val="105000"/>
              </a:lnSpc>
              <a:spcBef>
                <a:spcPts val="0"/>
              </a:spcBef>
              <a:spcAft>
                <a:spcPts val="0"/>
              </a:spcAft>
              <a:buClr>
                <a:srgbClr val="222222"/>
              </a:buClr>
              <a:buSzPts val="1035"/>
              <a:buChar char="●"/>
            </a:pPr>
            <a:r>
              <a:rPr lang="en" sz="1035">
                <a:solidFill>
                  <a:srgbClr val="222222"/>
                </a:solidFill>
                <a:highlight>
                  <a:srgbClr val="FFFFFF"/>
                </a:highlight>
              </a:rPr>
              <a:t>Can you tell me about a time when you passionately worked towards a solution and it was a failure.</a:t>
            </a:r>
            <a:endParaRPr sz="1035">
              <a:solidFill>
                <a:srgbClr val="222222"/>
              </a:solidFill>
              <a:highlight>
                <a:srgbClr val="FFFFFF"/>
              </a:highlight>
            </a:endParaRPr>
          </a:p>
          <a:p>
            <a:pPr marL="0" lvl="0" indent="0" algn="l" rtl="0">
              <a:lnSpc>
                <a:spcPct val="105000"/>
              </a:lnSpc>
              <a:spcBef>
                <a:spcPts val="1000"/>
              </a:spcBef>
              <a:spcAft>
                <a:spcPts val="1200"/>
              </a:spcAft>
              <a:buSzPts val="935"/>
              <a:buNone/>
            </a:pPr>
            <a:endParaRPr sz="1629"/>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614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AWS Interview : Questions to Ask</a:t>
            </a:r>
            <a:endParaRPr/>
          </a:p>
        </p:txBody>
      </p:sp>
      <p:sp>
        <p:nvSpPr>
          <p:cNvPr id="105" name="Google Shape;105;p21"/>
          <p:cNvSpPr txBox="1">
            <a:spLocks noGrp="1"/>
          </p:cNvSpPr>
          <p:nvPr>
            <p:ph type="body" idx="1"/>
          </p:nvPr>
        </p:nvSpPr>
        <p:spPr>
          <a:xfrm>
            <a:off x="61425" y="643150"/>
            <a:ext cx="8813100" cy="1056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40"/>
              <a:buNone/>
            </a:pPr>
            <a:r>
              <a:rPr lang="en" sz="1020" b="1">
                <a:solidFill>
                  <a:srgbClr val="1155CC"/>
                </a:solidFill>
              </a:rPr>
              <a:t>To Recruiter</a:t>
            </a:r>
            <a:endParaRPr sz="1020" b="1">
              <a:solidFill>
                <a:srgbClr val="1155CC"/>
              </a:solidFill>
            </a:endParaRPr>
          </a:p>
          <a:p>
            <a:pPr marL="457200" lvl="0" indent="-293370" algn="l" rtl="0">
              <a:lnSpc>
                <a:spcPct val="100000"/>
              </a:lnSpc>
              <a:spcBef>
                <a:spcPts val="400"/>
              </a:spcBef>
              <a:spcAft>
                <a:spcPts val="0"/>
              </a:spcAft>
              <a:buClr>
                <a:srgbClr val="1155CC"/>
              </a:buClr>
              <a:buSzPts val="1020"/>
              <a:buChar char="●"/>
            </a:pPr>
            <a:r>
              <a:rPr lang="en" sz="1020" b="1">
                <a:solidFill>
                  <a:srgbClr val="1155CC"/>
                </a:solidFill>
              </a:rPr>
              <a:t>Org : Sales/GTM etc? Compensation : Quota..</a:t>
            </a:r>
            <a:endParaRPr sz="1020" b="1">
              <a:solidFill>
                <a:srgbClr val="1155CC"/>
              </a:solidFill>
            </a:endParaRPr>
          </a:p>
          <a:p>
            <a:pPr marL="457200" lvl="0" indent="-293370" algn="l" rtl="0">
              <a:lnSpc>
                <a:spcPct val="100000"/>
              </a:lnSpc>
              <a:spcBef>
                <a:spcPts val="400"/>
              </a:spcBef>
              <a:spcAft>
                <a:spcPts val="0"/>
              </a:spcAft>
              <a:buClr>
                <a:srgbClr val="1155CC"/>
              </a:buClr>
              <a:buSzPts val="1020"/>
              <a:buChar char="●"/>
            </a:pPr>
            <a:r>
              <a:rPr lang="en" sz="1020" b="1">
                <a:solidFill>
                  <a:srgbClr val="1155CC"/>
                </a:solidFill>
              </a:rPr>
              <a:t>Ask recruiter any particular leadership principles are of utmost interest</a:t>
            </a:r>
            <a:endParaRPr sz="1020" b="1">
              <a:solidFill>
                <a:srgbClr val="1155CC"/>
              </a:solidFill>
            </a:endParaRPr>
          </a:p>
          <a:p>
            <a:pPr marL="457200" lvl="0" indent="-293370" algn="l" rtl="0">
              <a:spcBef>
                <a:spcPts val="400"/>
              </a:spcBef>
              <a:spcAft>
                <a:spcPts val="0"/>
              </a:spcAft>
              <a:buClr>
                <a:srgbClr val="1155CC"/>
              </a:buClr>
              <a:buSzPts val="1020"/>
              <a:buChar char="●"/>
            </a:pPr>
            <a:r>
              <a:rPr lang="en" sz="1020" b="1">
                <a:solidFill>
                  <a:srgbClr val="1155CC"/>
                </a:solidFill>
              </a:rPr>
              <a:t>Ask them what should be expected during the interviews</a:t>
            </a:r>
            <a:endParaRPr sz="1020" b="1">
              <a:solidFill>
                <a:srgbClr val="1155CC"/>
              </a:solidFill>
            </a:endParaRPr>
          </a:p>
        </p:txBody>
      </p:sp>
      <p:sp>
        <p:nvSpPr>
          <p:cNvPr id="106" name="Google Shape;106;p21"/>
          <p:cNvSpPr txBox="1">
            <a:spLocks noGrp="1"/>
          </p:cNvSpPr>
          <p:nvPr>
            <p:ph type="body" idx="1"/>
          </p:nvPr>
        </p:nvSpPr>
        <p:spPr>
          <a:xfrm>
            <a:off x="61425" y="1466075"/>
            <a:ext cx="8605200" cy="10569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440"/>
              <a:buNone/>
            </a:pPr>
            <a:r>
              <a:rPr lang="en" sz="1020" b="1">
                <a:solidFill>
                  <a:srgbClr val="A64D79"/>
                </a:solidFill>
              </a:rPr>
              <a:t>To Hiring Manager</a:t>
            </a:r>
            <a:endParaRPr sz="1020" b="1">
              <a:solidFill>
                <a:srgbClr val="A64D79"/>
              </a:solidFill>
            </a:endParaRPr>
          </a:p>
          <a:p>
            <a:pPr marL="457200" marR="0" lvl="0" indent="-293370" algn="l" rtl="0">
              <a:lnSpc>
                <a:spcPct val="100000"/>
              </a:lnSpc>
              <a:spcBef>
                <a:spcPts val="400"/>
              </a:spcBef>
              <a:spcAft>
                <a:spcPts val="0"/>
              </a:spcAft>
              <a:buClr>
                <a:srgbClr val="A64D79"/>
              </a:buClr>
              <a:buSzPts val="1020"/>
              <a:buChar char="●"/>
            </a:pPr>
            <a:r>
              <a:rPr lang="en" sz="1020" b="1">
                <a:solidFill>
                  <a:srgbClr val="A64D79"/>
                </a:solidFill>
              </a:rPr>
              <a:t>Persona of interest : Sales &amp; Marketing? Product? CTO?</a:t>
            </a:r>
            <a:endParaRPr sz="1020" b="1">
              <a:solidFill>
                <a:srgbClr val="A64D79"/>
              </a:solidFill>
            </a:endParaRPr>
          </a:p>
          <a:p>
            <a:pPr marL="457200" marR="0" lvl="0" indent="-293370" algn="l" rtl="0">
              <a:lnSpc>
                <a:spcPct val="100000"/>
              </a:lnSpc>
              <a:spcBef>
                <a:spcPts val="0"/>
              </a:spcBef>
              <a:spcAft>
                <a:spcPts val="0"/>
              </a:spcAft>
              <a:buClr>
                <a:srgbClr val="A64D79"/>
              </a:buClr>
              <a:buSzPts val="1020"/>
              <a:buChar char="●"/>
            </a:pPr>
            <a:r>
              <a:rPr lang="en" sz="1020" b="1">
                <a:solidFill>
                  <a:srgbClr val="A64D79"/>
                </a:solidFill>
              </a:rPr>
              <a:t>how desperate are they trying to hire i.e how long have you been finding for role or how soon are you closing</a:t>
            </a:r>
            <a:endParaRPr sz="1020" b="1">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Ask key challenges for the role? What have been the biggest challenges for your team this year?</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Why has this role become available?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In early rounds ask what type of traits will make this person successfully and look for leadership principle cues but don't ask which leadership principles are imp for this role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 what is their favorite leadership principle so you get a perspective on hiring manager works or gets excited about</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 are the expectations from me in the first 90 days of the job or 1st 12 months?  How is performance measured in the company?</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 is the typical career path for someone in this role?</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What’s been most successful hire in this team?</a:t>
            </a:r>
            <a:endParaRPr sz="1020">
              <a:solidFill>
                <a:srgbClr val="A64D79"/>
              </a:solidFill>
            </a:endParaRPr>
          </a:p>
          <a:p>
            <a:pPr marL="457200" marR="0" lvl="0" indent="-293370" algn="l" rtl="0">
              <a:lnSpc>
                <a:spcPct val="115000"/>
              </a:lnSpc>
              <a:spcBef>
                <a:spcPts val="0"/>
              </a:spcBef>
              <a:spcAft>
                <a:spcPts val="0"/>
              </a:spcAft>
              <a:buClr>
                <a:srgbClr val="A64D79"/>
              </a:buClr>
              <a:buSzPts val="1020"/>
              <a:buChar char="●"/>
            </a:pPr>
            <a:r>
              <a:rPr lang="en" sz="1020">
                <a:solidFill>
                  <a:srgbClr val="A64D79"/>
                </a:solidFill>
              </a:rPr>
              <a:t>How could I add immediate value with my skills in this role? </a:t>
            </a:r>
            <a:endParaRPr sz="1020">
              <a:solidFill>
                <a:srgbClr val="A64D79"/>
              </a:solidFill>
            </a:endParaRPr>
          </a:p>
        </p:txBody>
      </p:sp>
      <p:sp>
        <p:nvSpPr>
          <p:cNvPr id="107" name="Google Shape;107;p21"/>
          <p:cNvSpPr txBox="1">
            <a:spLocks noGrp="1"/>
          </p:cNvSpPr>
          <p:nvPr>
            <p:ph type="body" idx="1"/>
          </p:nvPr>
        </p:nvSpPr>
        <p:spPr>
          <a:xfrm>
            <a:off x="61425" y="3721150"/>
            <a:ext cx="8605200" cy="10569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440"/>
              <a:buNone/>
            </a:pPr>
            <a:r>
              <a:rPr lang="en" sz="1020" b="1">
                <a:solidFill>
                  <a:srgbClr val="E69138"/>
                </a:solidFill>
              </a:rPr>
              <a:t>To Panelists/Peers in same team</a:t>
            </a:r>
            <a:endParaRPr sz="1020" b="1">
              <a:solidFill>
                <a:srgbClr val="E69138"/>
              </a:solidFill>
            </a:endParaRPr>
          </a:p>
          <a:p>
            <a:pPr marL="457200" marR="0" lvl="0" indent="-293370" algn="l" rtl="0">
              <a:lnSpc>
                <a:spcPct val="100000"/>
              </a:lnSpc>
              <a:spcBef>
                <a:spcPts val="400"/>
              </a:spcBef>
              <a:spcAft>
                <a:spcPts val="0"/>
              </a:spcAft>
              <a:buClr>
                <a:srgbClr val="E69138"/>
              </a:buClr>
              <a:buSzPts val="1020"/>
              <a:buChar char="●"/>
            </a:pPr>
            <a:r>
              <a:rPr lang="en" sz="1020">
                <a:solidFill>
                  <a:srgbClr val="E69138"/>
                </a:solidFill>
              </a:rPr>
              <a:t>what drew you to this team? So, it helps to understand reputation of team both for internal transition or external person appeal,</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Then follow up with what surprised you after you joined, what is favorite leadership principle of your manager,</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made you join Amazon? What do you most like about the company?</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kind of training is provided after someone joins?</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What do you love the most about working here?</a:t>
            </a:r>
            <a:endParaRPr sz="1020">
              <a:solidFill>
                <a:srgbClr val="E69138"/>
              </a:solidFill>
            </a:endParaRPr>
          </a:p>
          <a:p>
            <a:pPr marL="457200" marR="0" lvl="0" indent="-293370" algn="l" rtl="0">
              <a:lnSpc>
                <a:spcPct val="115000"/>
              </a:lnSpc>
              <a:spcBef>
                <a:spcPts val="0"/>
              </a:spcBef>
              <a:spcAft>
                <a:spcPts val="0"/>
              </a:spcAft>
              <a:buClr>
                <a:srgbClr val="E69138"/>
              </a:buClr>
              <a:buSzPts val="1020"/>
              <a:buChar char="●"/>
            </a:pPr>
            <a:r>
              <a:rPr lang="en" sz="1020">
                <a:solidFill>
                  <a:srgbClr val="E69138"/>
                </a:solidFill>
              </a:rPr>
              <a:t>Is there anything else I can provide you that would be helpful?</a:t>
            </a:r>
            <a:endParaRPr sz="1020">
              <a:solidFill>
                <a:srgbClr val="E6913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940"/>
              <a:t>AWS STAR Format : Template</a:t>
            </a:r>
            <a:endParaRPr sz="294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198050" y="91325"/>
            <a:ext cx="8520600" cy="572700"/>
          </a:xfrm>
          <a:prstGeom prst="rect">
            <a:avLst/>
          </a:prstGeom>
          <a:ln w="9525" cap="flat" cmpd="sng">
            <a:solidFill>
              <a:srgbClr val="6AA84F"/>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l" rtl="0">
              <a:spcBef>
                <a:spcPts val="0"/>
              </a:spcBef>
              <a:spcAft>
                <a:spcPts val="0"/>
              </a:spcAft>
              <a:buSzPct val="49009"/>
              <a:buNone/>
            </a:pPr>
            <a:r>
              <a:rPr lang="en" sz="2020" b="1">
                <a:solidFill>
                  <a:srgbClr val="38761D"/>
                </a:solidFill>
              </a:rPr>
              <a:t>Project : abc (20xx-20yy)                                                          </a:t>
            </a:r>
            <a:r>
              <a:rPr lang="en" sz="1286" b="1">
                <a:solidFill>
                  <a:srgbClr val="38761D"/>
                </a:solidFill>
              </a:rPr>
              <a:t>LP: abc</a:t>
            </a:r>
            <a:endParaRPr sz="1286" b="1">
              <a:solidFill>
                <a:srgbClr val="38761D"/>
              </a:solidFill>
            </a:endParaRPr>
          </a:p>
          <a:p>
            <a:pPr marL="0" lvl="0" indent="0" algn="l" rtl="0">
              <a:spcBef>
                <a:spcPts val="0"/>
              </a:spcBef>
              <a:spcAft>
                <a:spcPts val="0"/>
              </a:spcAft>
              <a:buSzPct val="76942"/>
              <a:buNone/>
            </a:pPr>
            <a:r>
              <a:rPr lang="en" sz="1286" b="1">
                <a:solidFill>
                  <a:srgbClr val="38761D"/>
                </a:solidFill>
              </a:rPr>
              <a:t>Role : abc Launch : abc</a:t>
            </a:r>
            <a:endParaRPr sz="1286" b="1">
              <a:solidFill>
                <a:srgbClr val="38761D"/>
              </a:solidFill>
            </a:endParaRPr>
          </a:p>
        </p:txBody>
      </p:sp>
      <p:sp>
        <p:nvSpPr>
          <p:cNvPr id="124" name="Google Shape;124;p24"/>
          <p:cNvSpPr txBox="1">
            <a:spLocks noGrp="1"/>
          </p:cNvSpPr>
          <p:nvPr>
            <p:ph type="body" idx="1"/>
          </p:nvPr>
        </p:nvSpPr>
        <p:spPr>
          <a:xfrm>
            <a:off x="112200" y="800100"/>
            <a:ext cx="8923500" cy="4257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b="1">
                <a:solidFill>
                  <a:srgbClr val="CC0000"/>
                </a:solidFill>
              </a:rPr>
              <a:t>Situation :</a:t>
            </a:r>
            <a:r>
              <a:rPr lang="en" sz="1500">
                <a:solidFill>
                  <a:srgbClr val="CC0000"/>
                </a:solidFill>
              </a:rPr>
              <a:t> abc Present 5Ws in your situation</a:t>
            </a:r>
            <a:endParaRPr sz="1500">
              <a:solidFill>
                <a:srgbClr val="CC0000"/>
              </a:solidFill>
            </a:endParaRPr>
          </a:p>
          <a:p>
            <a:pPr marL="0" lvl="0" indent="0" algn="l" rtl="0">
              <a:lnSpc>
                <a:spcPct val="100000"/>
              </a:lnSpc>
              <a:spcBef>
                <a:spcPts val="1200"/>
              </a:spcBef>
              <a:spcAft>
                <a:spcPts val="0"/>
              </a:spcAft>
              <a:buNone/>
            </a:pPr>
            <a:r>
              <a:rPr lang="en" sz="1500" b="1">
                <a:solidFill>
                  <a:srgbClr val="3C78D8"/>
                </a:solidFill>
              </a:rPr>
              <a:t>Task :</a:t>
            </a:r>
            <a:r>
              <a:rPr lang="en" sz="1500">
                <a:solidFill>
                  <a:srgbClr val="3C78D8"/>
                </a:solidFill>
              </a:rPr>
              <a:t> </a:t>
            </a:r>
            <a:endParaRPr sz="1500">
              <a:solidFill>
                <a:srgbClr val="3C78D8"/>
              </a:solidFill>
            </a:endParaRPr>
          </a:p>
          <a:p>
            <a:pPr marL="457200" marR="0" lvl="0" indent="-323850" algn="l" rtl="0">
              <a:lnSpc>
                <a:spcPct val="100000"/>
              </a:lnSpc>
              <a:spcBef>
                <a:spcPts val="400"/>
              </a:spcBef>
              <a:spcAft>
                <a:spcPts val="0"/>
              </a:spcAft>
              <a:buClr>
                <a:srgbClr val="BF9000"/>
              </a:buClr>
              <a:buSzPts val="1500"/>
              <a:buChar char="●"/>
            </a:pPr>
            <a:r>
              <a:rPr lang="en" sz="1500">
                <a:solidFill>
                  <a:srgbClr val="3C78D8"/>
                </a:solidFill>
              </a:rPr>
              <a:t>abc</a:t>
            </a:r>
            <a:endParaRPr sz="1500">
              <a:solidFill>
                <a:srgbClr val="3C78D8"/>
              </a:solidFill>
            </a:endParaRPr>
          </a:p>
          <a:p>
            <a:pPr marL="0" lvl="0" indent="0" algn="l" rtl="0">
              <a:lnSpc>
                <a:spcPct val="100000"/>
              </a:lnSpc>
              <a:spcBef>
                <a:spcPts val="400"/>
              </a:spcBef>
              <a:spcAft>
                <a:spcPts val="0"/>
              </a:spcAft>
              <a:buNone/>
            </a:pPr>
            <a:r>
              <a:rPr lang="en" sz="1500" b="1">
                <a:solidFill>
                  <a:srgbClr val="BF9000"/>
                </a:solidFill>
              </a:rPr>
              <a:t>Action: </a:t>
            </a:r>
            <a:endParaRPr sz="1500" b="1">
              <a:solidFill>
                <a:srgbClr val="BF9000"/>
              </a:solidFill>
            </a:endParaRPr>
          </a:p>
          <a:p>
            <a:pPr marL="457200" lvl="0" indent="-323850" algn="l" rtl="0">
              <a:lnSpc>
                <a:spcPct val="100000"/>
              </a:lnSpc>
              <a:spcBef>
                <a:spcPts val="400"/>
              </a:spcBef>
              <a:spcAft>
                <a:spcPts val="0"/>
              </a:spcAft>
              <a:buClr>
                <a:srgbClr val="BF9000"/>
              </a:buClr>
              <a:buSzPts val="1500"/>
              <a:buChar char="●"/>
            </a:pPr>
            <a:r>
              <a:rPr lang="en" sz="1500">
                <a:solidFill>
                  <a:srgbClr val="BF9000"/>
                </a:solidFill>
              </a:rPr>
              <a:t>abc</a:t>
            </a:r>
            <a:endParaRPr sz="1500">
              <a:solidFill>
                <a:srgbClr val="BF9000"/>
              </a:solidFill>
            </a:endParaRPr>
          </a:p>
          <a:p>
            <a:pPr marL="0" lvl="0" indent="0" algn="l" rtl="0">
              <a:lnSpc>
                <a:spcPct val="100000"/>
              </a:lnSpc>
              <a:spcBef>
                <a:spcPts val="400"/>
              </a:spcBef>
              <a:spcAft>
                <a:spcPts val="0"/>
              </a:spcAft>
              <a:buNone/>
            </a:pPr>
            <a:endParaRPr sz="1500" b="1">
              <a:solidFill>
                <a:srgbClr val="38761D"/>
              </a:solidFill>
            </a:endParaRPr>
          </a:p>
          <a:p>
            <a:pPr marL="0" lvl="0" indent="0" algn="l" rtl="0">
              <a:lnSpc>
                <a:spcPct val="100000"/>
              </a:lnSpc>
              <a:spcBef>
                <a:spcPts val="400"/>
              </a:spcBef>
              <a:spcAft>
                <a:spcPts val="0"/>
              </a:spcAft>
              <a:buNone/>
            </a:pPr>
            <a:r>
              <a:rPr lang="en" sz="1500" b="1">
                <a:solidFill>
                  <a:srgbClr val="38761D"/>
                </a:solidFill>
              </a:rPr>
              <a:t>Results:</a:t>
            </a:r>
            <a:endParaRPr sz="1500" b="1">
              <a:solidFill>
                <a:srgbClr val="38761D"/>
              </a:solidFill>
            </a:endParaRPr>
          </a:p>
          <a:p>
            <a:pPr marL="457200" lvl="0" indent="-323850" algn="l" rtl="0">
              <a:lnSpc>
                <a:spcPct val="100000"/>
              </a:lnSpc>
              <a:spcBef>
                <a:spcPts val="400"/>
              </a:spcBef>
              <a:spcAft>
                <a:spcPts val="0"/>
              </a:spcAft>
              <a:buClr>
                <a:srgbClr val="38761D"/>
              </a:buClr>
              <a:buSzPts val="1500"/>
              <a:buChar char="●"/>
            </a:pPr>
            <a:r>
              <a:rPr lang="en" sz="1500">
                <a:solidFill>
                  <a:srgbClr val="38761D"/>
                </a:solidFill>
              </a:rPr>
              <a:t>abc</a:t>
            </a:r>
            <a:endParaRPr sz="1500">
              <a:solidFill>
                <a:srgbClr val="38761D"/>
              </a:solidFill>
            </a:endParaRPr>
          </a:p>
          <a:p>
            <a:pPr marL="0" lvl="0" indent="0" algn="l" rtl="0">
              <a:lnSpc>
                <a:spcPct val="100000"/>
              </a:lnSpc>
              <a:spcBef>
                <a:spcPts val="400"/>
              </a:spcBef>
              <a:spcAft>
                <a:spcPts val="0"/>
              </a:spcAft>
              <a:buNone/>
            </a:pPr>
            <a:endParaRPr sz="1500">
              <a:solidFill>
                <a:srgbClr val="38761D"/>
              </a:solidFill>
            </a:endParaRPr>
          </a:p>
          <a:p>
            <a:pPr marL="0" lvl="0" indent="0" algn="l" rtl="0">
              <a:lnSpc>
                <a:spcPct val="100000"/>
              </a:lnSpc>
              <a:spcBef>
                <a:spcPts val="400"/>
              </a:spcBef>
              <a:spcAft>
                <a:spcPts val="0"/>
              </a:spcAft>
              <a:buNone/>
            </a:pPr>
            <a:r>
              <a:rPr lang="en" sz="1500" b="1">
                <a:solidFill>
                  <a:srgbClr val="9900FF"/>
                </a:solidFill>
              </a:rPr>
              <a:t>Key Takeaways &amp; Improvements:</a:t>
            </a:r>
            <a:endParaRPr sz="1500" b="1">
              <a:solidFill>
                <a:srgbClr val="9900FF"/>
              </a:solidFill>
            </a:endParaRPr>
          </a:p>
          <a:p>
            <a:pPr marL="457200" lvl="0" indent="-323850" algn="l" rtl="0">
              <a:lnSpc>
                <a:spcPct val="100000"/>
              </a:lnSpc>
              <a:spcBef>
                <a:spcPts val="400"/>
              </a:spcBef>
              <a:spcAft>
                <a:spcPts val="0"/>
              </a:spcAft>
              <a:buClr>
                <a:srgbClr val="9900FF"/>
              </a:buClr>
              <a:buSzPts val="1500"/>
              <a:buChar char="●"/>
            </a:pPr>
            <a:r>
              <a:rPr lang="en" sz="1500">
                <a:solidFill>
                  <a:srgbClr val="9900FF"/>
                </a:solidFill>
              </a:rPr>
              <a:t>abc</a:t>
            </a:r>
            <a:endParaRPr sz="1500" b="1">
              <a:solidFill>
                <a:srgbClr val="99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1725" y="-788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20"/>
              <a:t>List of Projects from Amar</a:t>
            </a:r>
            <a:endParaRPr sz="2320"/>
          </a:p>
        </p:txBody>
      </p:sp>
      <p:graphicFrame>
        <p:nvGraphicFramePr>
          <p:cNvPr id="130" name="Google Shape;130;p25"/>
          <p:cNvGraphicFramePr/>
          <p:nvPr/>
        </p:nvGraphicFramePr>
        <p:xfrm>
          <a:off x="107468" y="433425"/>
          <a:ext cx="8615100" cy="5074350"/>
        </p:xfrm>
        <a:graphic>
          <a:graphicData uri="http://schemas.openxmlformats.org/drawingml/2006/table">
            <a:tbl>
              <a:tblPr>
                <a:noFill/>
                <a:tableStyleId>{3216DD8F-D192-47E8-9425-CEED70C932B8}</a:tableStyleId>
              </a:tblPr>
              <a:tblGrid>
                <a:gridCol w="2871700">
                  <a:extLst>
                    <a:ext uri="{9D8B030D-6E8A-4147-A177-3AD203B41FA5}">
                      <a16:colId xmlns:a16="http://schemas.microsoft.com/office/drawing/2014/main" val="20000"/>
                    </a:ext>
                  </a:extLst>
                </a:gridCol>
                <a:gridCol w="2871700">
                  <a:extLst>
                    <a:ext uri="{9D8B030D-6E8A-4147-A177-3AD203B41FA5}">
                      <a16:colId xmlns:a16="http://schemas.microsoft.com/office/drawing/2014/main" val="20001"/>
                    </a:ext>
                  </a:extLst>
                </a:gridCol>
                <a:gridCol w="2871700">
                  <a:extLst>
                    <a:ext uri="{9D8B030D-6E8A-4147-A177-3AD203B41FA5}">
                      <a16:colId xmlns:a16="http://schemas.microsoft.com/office/drawing/2014/main" val="20002"/>
                    </a:ext>
                  </a:extLst>
                </a:gridCol>
              </a:tblGrid>
              <a:tr h="280550">
                <a:tc>
                  <a:txBody>
                    <a:bodyPr/>
                    <a:lstStyle/>
                    <a:p>
                      <a:pPr marL="0" lvl="0" indent="0" algn="ctr" rtl="0">
                        <a:lnSpc>
                          <a:spcPct val="100000"/>
                        </a:lnSpc>
                        <a:spcBef>
                          <a:spcPts val="0"/>
                        </a:spcBef>
                        <a:spcAft>
                          <a:spcPts val="0"/>
                        </a:spcAft>
                        <a:buNone/>
                      </a:pPr>
                      <a:r>
                        <a:rPr lang="en" sz="500" b="1">
                          <a:solidFill>
                            <a:schemeClr val="dk1"/>
                          </a:solidFill>
                        </a:rPr>
                        <a:t>Project Name</a:t>
                      </a:r>
                      <a:endParaRPr sz="500" b="1">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b="1">
                          <a:solidFill>
                            <a:schemeClr val="dk1"/>
                          </a:solidFill>
                        </a:rPr>
                        <a:t>Impact</a:t>
                      </a:r>
                      <a:endParaRPr sz="500" b="1">
                        <a:solidFill>
                          <a:schemeClr val="dk1"/>
                        </a:solidFill>
                      </a:endParaRPr>
                    </a:p>
                    <a:p>
                      <a:pPr marL="0" lvl="0" indent="0" algn="ctr" rtl="0">
                        <a:lnSpc>
                          <a:spcPct val="100000"/>
                        </a:lnSpc>
                        <a:spcBef>
                          <a:spcPts val="0"/>
                        </a:spcBef>
                        <a:spcAft>
                          <a:spcPts val="0"/>
                        </a:spcAft>
                        <a:buNone/>
                      </a:pPr>
                      <a:r>
                        <a:rPr lang="en" sz="500" b="1">
                          <a:solidFill>
                            <a:schemeClr val="dk1"/>
                          </a:solidFill>
                        </a:rPr>
                        <a:t>(High/Medium/Low)</a:t>
                      </a:r>
                      <a:endParaRPr sz="500" b="1">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b="1">
                          <a:solidFill>
                            <a:schemeClr val="dk1"/>
                          </a:solidFill>
                        </a:rPr>
                        <a:t>Leadership Principle - Primary</a:t>
                      </a:r>
                      <a:endParaRPr sz="500" b="1">
                        <a:solidFill>
                          <a:schemeClr val="dk1"/>
                        </a:solidFill>
                      </a:endParaRPr>
                    </a:p>
                  </a:txBody>
                  <a:tcPr marL="91425" marR="91425" marT="91425" marB="91425" anchor="ctr"/>
                </a:tc>
                <a:extLst>
                  <a:ext uri="{0D108BD9-81ED-4DB2-BD59-A6C34878D82A}">
                    <a16:rowId xmlns:a16="http://schemas.microsoft.com/office/drawing/2014/main" val="10000"/>
                  </a:ext>
                </a:extLst>
              </a:tr>
              <a:tr h="216775">
                <a:tc>
                  <a:txBody>
                    <a:bodyPr/>
                    <a:lstStyle/>
                    <a:p>
                      <a:pPr marL="0" lvl="0" indent="0" algn="ctr" rtl="0">
                        <a:lnSpc>
                          <a:spcPct val="100000"/>
                        </a:lnSpc>
                        <a:spcBef>
                          <a:spcPts val="0"/>
                        </a:spcBef>
                        <a:spcAft>
                          <a:spcPts val="0"/>
                        </a:spcAft>
                        <a:buNone/>
                      </a:pPr>
                      <a:r>
                        <a:rPr lang="en" sz="500">
                          <a:solidFill>
                            <a:schemeClr val="dk1"/>
                          </a:solidFill>
                        </a:rPr>
                        <a:t>UKI Heatmap</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1"/>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RVBD Steelconnect O365</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2"/>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vRNI SDWAN</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3"/>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vRNI Cloud</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4"/>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UKI Academies Offer</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5"/>
                  </a:ext>
                </a:extLst>
              </a:tr>
              <a:tr h="216775">
                <a:tc>
                  <a:txBody>
                    <a:bodyPr/>
                    <a:lstStyle/>
                    <a:p>
                      <a:pPr marL="0" lvl="0" indent="0" algn="ctr" rtl="0">
                        <a:lnSpc>
                          <a:spcPct val="100000"/>
                        </a:lnSpc>
                        <a:spcBef>
                          <a:spcPts val="0"/>
                        </a:spcBef>
                        <a:spcAft>
                          <a:spcPts val="0"/>
                        </a:spcAft>
                        <a:buNone/>
                      </a:pPr>
                      <a:r>
                        <a:rPr lang="en" sz="500">
                          <a:solidFill>
                            <a:schemeClr val="dk1"/>
                          </a:solidFill>
                        </a:rPr>
                        <a:t>FB Zero Touch Operations</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Medium</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6"/>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NaaS/NaaE</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7"/>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3850 mGig</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Medium</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8"/>
                  </a:ext>
                </a:extLst>
              </a:tr>
              <a:tr h="216775">
                <a:tc>
                  <a:txBody>
                    <a:bodyPr/>
                    <a:lstStyle/>
                    <a:p>
                      <a:pPr marL="0" lvl="0" indent="0" algn="ctr" rtl="0">
                        <a:lnSpc>
                          <a:spcPct val="100000"/>
                        </a:lnSpc>
                        <a:spcBef>
                          <a:spcPts val="0"/>
                        </a:spcBef>
                        <a:spcAft>
                          <a:spcPts val="0"/>
                        </a:spcAft>
                        <a:buNone/>
                      </a:pPr>
                      <a:r>
                        <a:rPr lang="en" sz="500">
                          <a:solidFill>
                            <a:schemeClr val="dk1"/>
                          </a:solidFill>
                        </a:rPr>
                        <a:t>RMA Boomerang </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09"/>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Anywhere Workspace</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0"/>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vRNI Active Monitoring</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1"/>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RVBD Steelconnect Marketplace PnP/BYoL</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2"/>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RVBD Silverpeak Competitive</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Medium</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3"/>
                  </a:ext>
                </a:extLst>
              </a:tr>
              <a:tr h="21677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RVBD Steelconnect Field Inquiry Framework</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4"/>
                  </a:ext>
                </a:extLst>
              </a:tr>
              <a:tr h="236525">
                <a:tc>
                  <a:txBody>
                    <a:bodyPr/>
                    <a:lstStyle/>
                    <a:p>
                      <a:pPr marL="0" lvl="0" indent="0" algn="ctr" rtl="0">
                        <a:lnSpc>
                          <a:spcPct val="100000"/>
                        </a:lnSpc>
                        <a:spcBef>
                          <a:spcPts val="0"/>
                        </a:spcBef>
                        <a:spcAft>
                          <a:spcPts val="0"/>
                        </a:spcAft>
                        <a:buClr>
                          <a:schemeClr val="dk1"/>
                        </a:buClr>
                        <a:buSzPts val="990"/>
                        <a:buFont typeface="Arial"/>
                        <a:buNone/>
                      </a:pPr>
                      <a:r>
                        <a:rPr lang="en" sz="500">
                          <a:solidFill>
                            <a:schemeClr val="dk1"/>
                          </a:solidFill>
                        </a:rPr>
                        <a:t>RVBD Steelconnect Funnel Curation Framework</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5"/>
                  </a:ext>
                </a:extLst>
              </a:tr>
              <a:tr h="293550">
                <a:tc>
                  <a:txBody>
                    <a:bodyPr/>
                    <a:lstStyle/>
                    <a:p>
                      <a:pPr marL="0" lvl="0" indent="0" algn="ctr" rtl="0">
                        <a:lnSpc>
                          <a:spcPct val="100000"/>
                        </a:lnSpc>
                        <a:spcBef>
                          <a:spcPts val="0"/>
                        </a:spcBef>
                        <a:spcAft>
                          <a:spcPts val="0"/>
                        </a:spcAft>
                        <a:buNone/>
                      </a:pPr>
                      <a:r>
                        <a:rPr lang="en" sz="500">
                          <a:solidFill>
                            <a:schemeClr val="dk1"/>
                          </a:solidFill>
                        </a:rPr>
                        <a:t>Customer Use cases : </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High</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vRNI SDWAN : Evonik, MD Anderson, Hughes/Echostar,  </a:t>
                      </a:r>
                      <a:endParaRPr sz="500">
                        <a:solidFill>
                          <a:schemeClr val="dk1"/>
                        </a:solidFill>
                      </a:endParaRPr>
                    </a:p>
                    <a:p>
                      <a:pPr marL="0" lvl="0" indent="0" algn="ctr" rtl="0">
                        <a:lnSpc>
                          <a:spcPct val="100000"/>
                        </a:lnSpc>
                        <a:spcBef>
                          <a:spcPts val="0"/>
                        </a:spcBef>
                        <a:spcAft>
                          <a:spcPts val="0"/>
                        </a:spcAft>
                        <a:buNone/>
                      </a:pPr>
                      <a:r>
                        <a:rPr lang="en" sz="500">
                          <a:solidFill>
                            <a:schemeClr val="dk1"/>
                          </a:solidFill>
                        </a:rPr>
                        <a:t>vRNI Cloud : McKafee, AT&amp;T</a:t>
                      </a:r>
                      <a:endParaRPr sz="500">
                        <a:solidFill>
                          <a:schemeClr val="dk1"/>
                        </a:solidFill>
                      </a:endParaRPr>
                    </a:p>
                  </a:txBody>
                  <a:tcPr marL="91425" marR="91425" marT="91425" marB="91425" anchor="ctr"/>
                </a:tc>
                <a:extLst>
                  <a:ext uri="{0D108BD9-81ED-4DB2-BD59-A6C34878D82A}">
                    <a16:rowId xmlns:a16="http://schemas.microsoft.com/office/drawing/2014/main" val="10016"/>
                  </a:ext>
                </a:extLst>
              </a:tr>
              <a:tr h="216775">
                <a:tc>
                  <a:txBody>
                    <a:bodyPr/>
                    <a:lstStyle/>
                    <a:p>
                      <a:pPr marL="0" lvl="0" indent="0" algn="ctr" rtl="0">
                        <a:lnSpc>
                          <a:spcPct val="100000"/>
                        </a:lnSpc>
                        <a:spcBef>
                          <a:spcPts val="0"/>
                        </a:spcBef>
                        <a:spcAft>
                          <a:spcPts val="0"/>
                        </a:spcAft>
                        <a:buNone/>
                      </a:pPr>
                      <a:r>
                        <a:rPr lang="en" sz="500">
                          <a:solidFill>
                            <a:srgbClr val="FF0000"/>
                          </a:solidFill>
                        </a:rPr>
                        <a:t>Corporate Strategy - Optics Impact</a:t>
                      </a:r>
                      <a:endParaRPr sz="500">
                        <a:solidFill>
                          <a:srgbClr val="FF0000"/>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7"/>
                  </a:ext>
                </a:extLst>
              </a:tr>
              <a:tr h="216775">
                <a:tc>
                  <a:txBody>
                    <a:bodyPr/>
                    <a:lstStyle/>
                    <a:p>
                      <a:pPr marL="0" lvl="0" indent="0" algn="ctr" rtl="0">
                        <a:lnSpc>
                          <a:spcPct val="100000"/>
                        </a:lnSpc>
                        <a:spcBef>
                          <a:spcPts val="0"/>
                        </a:spcBef>
                        <a:spcAft>
                          <a:spcPts val="0"/>
                        </a:spcAft>
                        <a:buNone/>
                      </a:pPr>
                      <a:r>
                        <a:rPr lang="en" sz="500">
                          <a:solidFill>
                            <a:srgbClr val="FF0000"/>
                          </a:solidFill>
                        </a:rPr>
                        <a:t>IOE- Aanalytics</a:t>
                      </a:r>
                      <a:endParaRPr sz="500">
                        <a:solidFill>
                          <a:srgbClr val="FF0000"/>
                        </a:solidFill>
                      </a:endParaRPr>
                    </a:p>
                  </a:txBody>
                  <a:tcPr marL="91425" marR="91425" marT="91425" marB="91425" anchor="ctr"/>
                </a:tc>
                <a:tc>
                  <a:txBody>
                    <a:bodyPr/>
                    <a:lstStyle/>
                    <a:p>
                      <a:pPr marL="0" lvl="0" indent="0" algn="ctr" rtl="0">
                        <a:lnSpc>
                          <a:spcPct val="100000"/>
                        </a:lnSpc>
                        <a:spcBef>
                          <a:spcPts val="0"/>
                        </a:spcBef>
                        <a:spcAft>
                          <a:spcPts val="0"/>
                        </a:spcAft>
                        <a:buNone/>
                      </a:pPr>
                      <a:r>
                        <a:rPr lang="en" sz="500">
                          <a:solidFill>
                            <a:schemeClr val="dk1"/>
                          </a:solidFill>
                        </a:rPr>
                        <a:t>Low</a:t>
                      </a:r>
                      <a:endParaRPr sz="500">
                        <a:solidFill>
                          <a:schemeClr val="dk1"/>
                        </a:solidFill>
                      </a:endParaRPr>
                    </a:p>
                  </a:txBody>
                  <a:tcPr marL="91425" marR="91425" marT="91425" marB="91425" anchor="ctr"/>
                </a:tc>
                <a:tc>
                  <a:txBody>
                    <a:bodyPr/>
                    <a:lstStyle/>
                    <a:p>
                      <a:pPr marL="0" lvl="0" indent="0" algn="ctr" rtl="0">
                        <a:lnSpc>
                          <a:spcPct val="100000"/>
                        </a:lnSpc>
                        <a:spcBef>
                          <a:spcPts val="0"/>
                        </a:spcBef>
                        <a:spcAft>
                          <a:spcPts val="0"/>
                        </a:spcAft>
                        <a:buNone/>
                      </a:pPr>
                      <a:endParaRPr sz="500">
                        <a:solidFill>
                          <a:schemeClr val="dk1"/>
                        </a:solidFill>
                      </a:endParaRPr>
                    </a:p>
                  </a:txBody>
                  <a:tcPr marL="91425" marR="91425" marT="91425" marB="91425" anchor="ctr"/>
                </a:tc>
                <a:extLst>
                  <a:ext uri="{0D108BD9-81ED-4DB2-BD59-A6C34878D82A}">
                    <a16:rowId xmlns:a16="http://schemas.microsoft.com/office/drawing/2014/main" val="1001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940"/>
              <a:t>AWS STAR Format  : Amar’s Project Notes Summary Cheatsheet</a:t>
            </a:r>
            <a:endParaRPr sz="294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aphicFrame>
        <p:nvGraphicFramePr>
          <p:cNvPr id="140" name="Google Shape;140;p27"/>
          <p:cNvGraphicFramePr/>
          <p:nvPr/>
        </p:nvGraphicFramePr>
        <p:xfrm>
          <a:off x="76200" y="38450"/>
          <a:ext cx="9004500" cy="5033825"/>
        </p:xfrm>
        <a:graphic>
          <a:graphicData uri="http://schemas.openxmlformats.org/drawingml/2006/table">
            <a:tbl>
              <a:tblPr>
                <a:noFill/>
                <a:tableStyleId>{3216DD8F-D192-47E8-9425-CEED70C932B8}</a:tableStyleId>
              </a:tblPr>
              <a:tblGrid>
                <a:gridCol w="701275">
                  <a:extLst>
                    <a:ext uri="{9D8B030D-6E8A-4147-A177-3AD203B41FA5}">
                      <a16:colId xmlns:a16="http://schemas.microsoft.com/office/drawing/2014/main" val="20000"/>
                    </a:ext>
                  </a:extLst>
                </a:gridCol>
                <a:gridCol w="1708250">
                  <a:extLst>
                    <a:ext uri="{9D8B030D-6E8A-4147-A177-3AD203B41FA5}">
                      <a16:colId xmlns:a16="http://schemas.microsoft.com/office/drawing/2014/main" val="20001"/>
                    </a:ext>
                  </a:extLst>
                </a:gridCol>
                <a:gridCol w="2255375">
                  <a:extLst>
                    <a:ext uri="{9D8B030D-6E8A-4147-A177-3AD203B41FA5}">
                      <a16:colId xmlns:a16="http://schemas.microsoft.com/office/drawing/2014/main" val="20002"/>
                    </a:ext>
                  </a:extLst>
                </a:gridCol>
                <a:gridCol w="2292850">
                  <a:extLst>
                    <a:ext uri="{9D8B030D-6E8A-4147-A177-3AD203B41FA5}">
                      <a16:colId xmlns:a16="http://schemas.microsoft.com/office/drawing/2014/main" val="20003"/>
                    </a:ext>
                  </a:extLst>
                </a:gridCol>
                <a:gridCol w="2046750">
                  <a:extLst>
                    <a:ext uri="{9D8B030D-6E8A-4147-A177-3AD203B41FA5}">
                      <a16:colId xmlns:a16="http://schemas.microsoft.com/office/drawing/2014/main" val="20004"/>
                    </a:ext>
                  </a:extLst>
                </a:gridCol>
              </a:tblGrid>
              <a:tr h="515250">
                <a:tc>
                  <a:txBody>
                    <a:bodyPr/>
                    <a:lstStyle/>
                    <a:p>
                      <a:pPr marL="0" lvl="0" indent="0" algn="ctr" rtl="0">
                        <a:spcBef>
                          <a:spcPts val="0"/>
                        </a:spcBef>
                        <a:spcAft>
                          <a:spcPts val="0"/>
                        </a:spcAft>
                        <a:buNone/>
                      </a:pPr>
                      <a:r>
                        <a:rPr lang="en" sz="700" b="1"/>
                        <a:t>Leadership Principle</a:t>
                      </a:r>
                      <a:endParaRPr sz="700" b="1"/>
                    </a:p>
                  </a:txBody>
                  <a:tcPr marL="91425" marR="91425" marT="91425" marB="91425" anchor="ctr"/>
                </a:tc>
                <a:tc>
                  <a:txBody>
                    <a:bodyPr/>
                    <a:lstStyle/>
                    <a:p>
                      <a:pPr marL="0" lvl="0" indent="0" algn="ctr" rtl="0">
                        <a:spcBef>
                          <a:spcPts val="0"/>
                        </a:spcBef>
                        <a:spcAft>
                          <a:spcPts val="0"/>
                        </a:spcAft>
                        <a:buNone/>
                      </a:pPr>
                      <a:r>
                        <a:rPr lang="en" sz="700" b="1"/>
                        <a:t>Key Insights sought</a:t>
                      </a:r>
                      <a:endParaRPr sz="700" b="1"/>
                    </a:p>
                  </a:txBody>
                  <a:tcPr marL="91425" marR="91425" marT="91425" marB="91425" anchor="ctr"/>
                </a:tc>
                <a:tc>
                  <a:txBody>
                    <a:bodyPr/>
                    <a:lstStyle/>
                    <a:p>
                      <a:pPr marL="0" lvl="0" indent="0" algn="ctr" rtl="0">
                        <a:spcBef>
                          <a:spcPts val="0"/>
                        </a:spcBef>
                        <a:spcAft>
                          <a:spcPts val="0"/>
                        </a:spcAft>
                        <a:buNone/>
                      </a:pPr>
                      <a:r>
                        <a:rPr lang="en" sz="700" b="1"/>
                        <a:t>Primary Example/Project</a:t>
                      </a:r>
                      <a:endParaRPr sz="700" b="1"/>
                    </a:p>
                  </a:txBody>
                  <a:tcPr marL="91425" marR="91425" marT="91425" marB="91425" anchor="ctr"/>
                </a:tc>
                <a:tc>
                  <a:txBody>
                    <a:bodyPr/>
                    <a:lstStyle/>
                    <a:p>
                      <a:pPr marL="0" lvl="0" indent="0" algn="ctr" rtl="0">
                        <a:spcBef>
                          <a:spcPts val="0"/>
                        </a:spcBef>
                        <a:spcAft>
                          <a:spcPts val="0"/>
                        </a:spcAft>
                        <a:buNone/>
                      </a:pPr>
                      <a:r>
                        <a:rPr lang="en" sz="700" b="1"/>
                        <a:t>Secondary Example/Project</a:t>
                      </a:r>
                      <a:endParaRPr sz="700" b="1"/>
                    </a:p>
                  </a:txBody>
                  <a:tcPr marL="91425" marR="91425" marT="91425" marB="91425" anchor="ctr"/>
                </a:tc>
                <a:tc>
                  <a:txBody>
                    <a:bodyPr/>
                    <a:lstStyle/>
                    <a:p>
                      <a:pPr marL="0" lvl="0" indent="0" algn="ctr" rtl="0">
                        <a:spcBef>
                          <a:spcPts val="0"/>
                        </a:spcBef>
                        <a:spcAft>
                          <a:spcPts val="0"/>
                        </a:spcAft>
                        <a:buNone/>
                      </a:pPr>
                      <a:r>
                        <a:rPr lang="en" sz="700" b="1"/>
                        <a:t>3rd &amp; 4th Preferred Project Example</a:t>
                      </a:r>
                      <a:endParaRPr sz="700" b="1"/>
                    </a:p>
                  </a:txBody>
                  <a:tcPr marL="91425" marR="91425" marT="91425" marB="91425" anchor="ctr"/>
                </a:tc>
                <a:extLst>
                  <a:ext uri="{0D108BD9-81ED-4DB2-BD59-A6C34878D82A}">
                    <a16:rowId xmlns:a16="http://schemas.microsoft.com/office/drawing/2014/main" val="10000"/>
                  </a:ext>
                </a:extLst>
              </a:tr>
              <a:tr h="1545825">
                <a:tc>
                  <a:txBody>
                    <a:bodyPr/>
                    <a:lstStyle/>
                    <a:p>
                      <a:pPr marL="0" lvl="0" indent="0" algn="ctr" rtl="0">
                        <a:spcBef>
                          <a:spcPts val="0"/>
                        </a:spcBef>
                        <a:spcAft>
                          <a:spcPts val="0"/>
                        </a:spcAft>
                        <a:buNone/>
                      </a:pPr>
                      <a:r>
                        <a:rPr lang="en" sz="700" b="1"/>
                        <a:t>Customer obsession</a:t>
                      </a:r>
                      <a:endParaRPr sz="700" b="1"/>
                    </a:p>
                  </a:txBody>
                  <a:tcPr marL="91425" marR="91425" marT="91425" marB="91425" anchor="ctr"/>
                </a:tc>
                <a:tc>
                  <a:txBody>
                    <a:bodyPr/>
                    <a:lstStyle/>
                    <a:p>
                      <a:pPr marL="457200" lvl="0" indent="-273050" algn="l" rtl="0">
                        <a:spcBef>
                          <a:spcPts val="0"/>
                        </a:spcBef>
                        <a:spcAft>
                          <a:spcPts val="0"/>
                        </a:spcAft>
                        <a:buSzPts val="700"/>
                        <a:buChar char="●"/>
                      </a:pPr>
                      <a:r>
                        <a:rPr lang="en" sz="700"/>
                        <a:t>Difficult interaction</a:t>
                      </a:r>
                      <a:endParaRPr sz="700"/>
                    </a:p>
                    <a:p>
                      <a:pPr marL="457200" lvl="0" indent="-273050" algn="l" rtl="0">
                        <a:spcBef>
                          <a:spcPts val="0"/>
                        </a:spcBef>
                        <a:spcAft>
                          <a:spcPts val="0"/>
                        </a:spcAft>
                        <a:buSzPts val="700"/>
                        <a:buChar char="●"/>
                      </a:pPr>
                      <a:r>
                        <a:rPr lang="en" sz="700"/>
                        <a:t>Above &amp; Beyond</a:t>
                      </a:r>
                      <a:endParaRPr sz="700"/>
                    </a:p>
                    <a:p>
                      <a:pPr marL="457200" lvl="0" indent="-273050" algn="l" rtl="0">
                        <a:spcBef>
                          <a:spcPts val="0"/>
                        </a:spcBef>
                        <a:spcAft>
                          <a:spcPts val="0"/>
                        </a:spcAft>
                        <a:buSzPts val="700"/>
                        <a:buChar char="●"/>
                      </a:pPr>
                      <a:r>
                        <a:rPr lang="en" sz="700"/>
                        <a:t>Didn’t meet expectations</a:t>
                      </a:r>
                      <a:endParaRPr sz="700"/>
                    </a:p>
                    <a:p>
                      <a:pPr marL="457200" lvl="0" indent="-273050" algn="l" rtl="0">
                        <a:spcBef>
                          <a:spcPts val="0"/>
                        </a:spcBef>
                        <a:spcAft>
                          <a:spcPts val="0"/>
                        </a:spcAft>
                        <a:buSzPts val="700"/>
                        <a:buChar char="●"/>
                      </a:pPr>
                      <a:r>
                        <a:rPr lang="en" sz="700"/>
                        <a:t>Prioritizing customer needs</a:t>
                      </a:r>
                      <a:endParaRPr sz="700"/>
                    </a:p>
                  </a:txBody>
                  <a:tcPr marL="91425" marR="91425" marT="91425" marB="91425" anchor="ctr"/>
                </a:tc>
                <a:tc>
                  <a:txBody>
                    <a:bodyPr/>
                    <a:lstStyle/>
                    <a:p>
                      <a:pPr marL="0" lvl="0" indent="0" algn="l" rtl="0">
                        <a:spcBef>
                          <a:spcPts val="0"/>
                        </a:spcBef>
                        <a:spcAft>
                          <a:spcPts val="0"/>
                        </a:spcAft>
                        <a:buNone/>
                      </a:pPr>
                      <a:r>
                        <a:rPr lang="en" sz="700" b="1"/>
                        <a:t>Customer vRNI SDWAN </a:t>
                      </a:r>
                      <a:endParaRPr sz="700" b="1"/>
                    </a:p>
                    <a:p>
                      <a:pPr marL="0" lvl="0" indent="0" algn="l" rtl="0">
                        <a:spcBef>
                          <a:spcPts val="0"/>
                        </a:spcBef>
                        <a:spcAft>
                          <a:spcPts val="0"/>
                        </a:spcAft>
                        <a:buNone/>
                      </a:pPr>
                      <a:endParaRPr sz="700"/>
                    </a:p>
                    <a:p>
                      <a:pPr marL="457200" lvl="0" indent="-273050" algn="l" rtl="0">
                        <a:spcBef>
                          <a:spcPts val="0"/>
                        </a:spcBef>
                        <a:spcAft>
                          <a:spcPts val="0"/>
                        </a:spcAft>
                        <a:buSzPts val="700"/>
                        <a:buChar char="●"/>
                      </a:pPr>
                      <a:r>
                        <a:rPr lang="en" sz="700"/>
                        <a:t>Challenge : don’t have capabilities to win. But Won PO : MD Anderson</a:t>
                      </a:r>
                      <a:endParaRPr sz="700"/>
                    </a:p>
                    <a:p>
                      <a:pPr marL="457200" lvl="0" indent="-273050" algn="l" rtl="0">
                        <a:spcBef>
                          <a:spcPts val="0"/>
                        </a:spcBef>
                        <a:spcAft>
                          <a:spcPts val="0"/>
                        </a:spcAft>
                        <a:buSzPts val="700"/>
                        <a:buChar char="●"/>
                      </a:pPr>
                      <a:r>
                        <a:rPr lang="en" sz="700"/>
                        <a:t>Challenge : Competition ingrained and need to discover opportunity. Competitive Win : Evonik</a:t>
                      </a:r>
                      <a:endParaRPr sz="700"/>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 sz="700" b="1">
                          <a:solidFill>
                            <a:schemeClr val="dk1"/>
                          </a:solidFill>
                        </a:rPr>
                        <a:t>AWW</a:t>
                      </a:r>
                      <a:endParaRPr sz="700" b="1">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Challenge : Gaps with Ecosystem Messaging : Interop with competition, value of platform</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Convince on integrated use cases</a:t>
                      </a:r>
                      <a:endParaRPr sz="700" b="1"/>
                    </a:p>
                    <a:p>
                      <a:pPr marL="0" lvl="0" indent="0" algn="l" rtl="0">
                        <a:spcBef>
                          <a:spcPts val="0"/>
                        </a:spcBef>
                        <a:spcAft>
                          <a:spcPts val="0"/>
                        </a:spcAft>
                        <a:buNone/>
                      </a:pPr>
                      <a:endParaRPr sz="700"/>
                    </a:p>
                  </a:txBody>
                  <a:tcPr marL="91425" marR="91425" marT="91425" marB="91425" anchor="ctr"/>
                </a:tc>
                <a:tc>
                  <a:txBody>
                    <a:bodyPr/>
                    <a:lstStyle/>
                    <a:p>
                      <a:pPr marL="0" lvl="0" indent="0" algn="l" rtl="0">
                        <a:spcBef>
                          <a:spcPts val="0"/>
                        </a:spcBef>
                        <a:spcAft>
                          <a:spcPts val="0"/>
                        </a:spcAft>
                        <a:buNone/>
                      </a:pPr>
                      <a:endParaRPr sz="700" b="1"/>
                    </a:p>
                    <a:p>
                      <a:pPr marL="0" lvl="0" indent="0" algn="l" rtl="0">
                        <a:spcBef>
                          <a:spcPts val="0"/>
                        </a:spcBef>
                        <a:spcAft>
                          <a:spcPts val="0"/>
                        </a:spcAft>
                        <a:buClr>
                          <a:schemeClr val="dk1"/>
                        </a:buClr>
                        <a:buSzPts val="1100"/>
                        <a:buFont typeface="Arial"/>
                        <a:buNone/>
                      </a:pPr>
                      <a:r>
                        <a:rPr lang="en" sz="700" b="1">
                          <a:solidFill>
                            <a:schemeClr val="dk1"/>
                          </a:solidFill>
                        </a:rPr>
                        <a:t>vRNI SDWAN Partnership</a:t>
                      </a:r>
                      <a:endParaRPr sz="700" b="1">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Challenge : Lack of commitment from Velo BU &amp; Sales. Compete than complement</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Influence Velo leadership to commit and partner through Unified Vision. Use data : customer 3rd party + OL, Competition, Gartner . vRNI DC success, Trade off basic monitoring by understanding their perspective</a:t>
                      </a:r>
                      <a:endParaRPr sz="700"/>
                    </a:p>
                  </a:txBody>
                  <a:tcPr marL="91425" marR="91425" marT="91425" marB="91425" anchor="ctr"/>
                </a:tc>
                <a:extLst>
                  <a:ext uri="{0D108BD9-81ED-4DB2-BD59-A6C34878D82A}">
                    <a16:rowId xmlns:a16="http://schemas.microsoft.com/office/drawing/2014/main" val="10001"/>
                  </a:ext>
                </a:extLst>
              </a:tr>
              <a:tr h="1308000">
                <a:tc>
                  <a:txBody>
                    <a:bodyPr/>
                    <a:lstStyle/>
                    <a:p>
                      <a:pPr marL="0" lvl="0" indent="0" algn="ctr" rtl="0">
                        <a:spcBef>
                          <a:spcPts val="0"/>
                        </a:spcBef>
                        <a:spcAft>
                          <a:spcPts val="0"/>
                        </a:spcAft>
                        <a:buNone/>
                      </a:pPr>
                      <a:r>
                        <a:rPr lang="en" sz="700" b="1"/>
                        <a:t>Think Big</a:t>
                      </a:r>
                      <a:endParaRPr sz="700" b="1"/>
                    </a:p>
                  </a:txBody>
                  <a:tcPr marL="91425" marR="91425" marT="91425" marB="91425" anchor="ctr"/>
                </a:tc>
                <a:tc>
                  <a:txBody>
                    <a:bodyPr/>
                    <a:lstStyle/>
                    <a:p>
                      <a:pPr marL="457200" lvl="0" indent="-273050" algn="l" rtl="0">
                        <a:spcBef>
                          <a:spcPts val="0"/>
                        </a:spcBef>
                        <a:spcAft>
                          <a:spcPts val="0"/>
                        </a:spcAft>
                        <a:buSzPts val="700"/>
                        <a:buChar char="●"/>
                      </a:pPr>
                      <a:r>
                        <a:rPr lang="en" sz="700"/>
                        <a:t>Most significant professional achievement</a:t>
                      </a:r>
                      <a:endParaRPr sz="700"/>
                    </a:p>
                    <a:p>
                      <a:pPr marL="457200" lvl="0" indent="-273050" algn="l" rtl="0">
                        <a:spcBef>
                          <a:spcPts val="0"/>
                        </a:spcBef>
                        <a:spcAft>
                          <a:spcPts val="0"/>
                        </a:spcAft>
                        <a:buSzPts val="700"/>
                        <a:buChar char="●"/>
                      </a:pPr>
                      <a:r>
                        <a:rPr lang="en" sz="700"/>
                        <a:t>Vision led to great impact</a:t>
                      </a:r>
                      <a:endParaRPr sz="700"/>
                    </a:p>
                    <a:p>
                      <a:pPr marL="457200" lvl="0" indent="-273050" algn="l" rtl="0">
                        <a:spcBef>
                          <a:spcPts val="0"/>
                        </a:spcBef>
                        <a:spcAft>
                          <a:spcPts val="0"/>
                        </a:spcAft>
                        <a:buSzPts val="700"/>
                        <a:buChar char="●"/>
                      </a:pPr>
                      <a:r>
                        <a:rPr lang="en" sz="700"/>
                        <a:t>Bold direction led to outstanding results</a:t>
                      </a:r>
                      <a:endParaRPr sz="700"/>
                    </a:p>
                  </a:txBody>
                  <a:tcPr marL="91425" marR="91425" marT="91425" marB="91425" anchor="ctr"/>
                </a:tc>
                <a:tc>
                  <a:txBody>
                    <a:bodyPr/>
                    <a:lstStyle/>
                    <a:p>
                      <a:pPr marL="0" lvl="0" indent="0" algn="l" rtl="0">
                        <a:spcBef>
                          <a:spcPts val="0"/>
                        </a:spcBef>
                        <a:spcAft>
                          <a:spcPts val="0"/>
                        </a:spcAft>
                        <a:buNone/>
                      </a:pPr>
                      <a:r>
                        <a:rPr lang="en" sz="700" b="1"/>
                        <a:t>vRNI SDWAN</a:t>
                      </a:r>
                      <a:endParaRPr sz="700" b="1"/>
                    </a:p>
                    <a:p>
                      <a:pPr marL="457200" lvl="0" indent="-273050" algn="l" rtl="0">
                        <a:spcBef>
                          <a:spcPts val="0"/>
                        </a:spcBef>
                        <a:spcAft>
                          <a:spcPts val="0"/>
                        </a:spcAft>
                        <a:buSzPts val="700"/>
                        <a:buChar char="●"/>
                      </a:pPr>
                      <a:r>
                        <a:rPr lang="en" sz="700"/>
                        <a:t>Challenge : Motivate vRNI eng given lack of velo and sales commit. Only $500K sales since launch about  a 2-quarters ago. Velo compete than complement. Not enough pipeline.</a:t>
                      </a:r>
                      <a:endParaRPr sz="700"/>
                    </a:p>
                    <a:p>
                      <a:pPr marL="457200" lvl="0" indent="-273050" algn="l" rtl="0">
                        <a:spcBef>
                          <a:spcPts val="0"/>
                        </a:spcBef>
                        <a:spcAft>
                          <a:spcPts val="0"/>
                        </a:spcAft>
                        <a:buSzPts val="700"/>
                        <a:buChar char="●"/>
                      </a:pPr>
                      <a:r>
                        <a:rPr lang="en" sz="700"/>
                        <a:t>Focus on new vision/Differentiation through customer impact/better Partnership with Velo &amp; Sales teams</a:t>
                      </a:r>
                      <a:endParaRPr sz="700"/>
                    </a:p>
                  </a:txBody>
                  <a:tcPr marL="91425" marR="91425" marT="91425" marB="91425" anchor="ctr"/>
                </a:tc>
                <a:tc>
                  <a:txBody>
                    <a:bodyPr/>
                    <a:lstStyle/>
                    <a:p>
                      <a:pPr marL="0" lvl="0" indent="0" algn="l" rtl="0">
                        <a:spcBef>
                          <a:spcPts val="0"/>
                        </a:spcBef>
                        <a:spcAft>
                          <a:spcPts val="0"/>
                        </a:spcAft>
                        <a:buNone/>
                      </a:pPr>
                      <a:r>
                        <a:rPr lang="en" sz="700" b="1"/>
                        <a:t>vRNIC:</a:t>
                      </a:r>
                      <a:endParaRPr sz="700" b="1"/>
                    </a:p>
                    <a:p>
                      <a:pPr marL="457200" lvl="0" indent="-273050" algn="l" rtl="0">
                        <a:spcBef>
                          <a:spcPts val="0"/>
                        </a:spcBef>
                        <a:spcAft>
                          <a:spcPts val="0"/>
                        </a:spcAft>
                        <a:buSzPts val="700"/>
                        <a:buChar char="●"/>
                      </a:pPr>
                      <a:r>
                        <a:rPr lang="en" sz="700"/>
                        <a:t>Challenge : Low sales/adoption of vRNIC </a:t>
                      </a:r>
                      <a:endParaRPr sz="700"/>
                    </a:p>
                    <a:p>
                      <a:pPr marL="457200" lvl="0" indent="-273050" algn="l" rtl="0">
                        <a:spcBef>
                          <a:spcPts val="0"/>
                        </a:spcBef>
                        <a:spcAft>
                          <a:spcPts val="0"/>
                        </a:spcAft>
                        <a:buSzPts val="700"/>
                        <a:buChar char="●"/>
                      </a:pPr>
                      <a:r>
                        <a:rPr lang="en" sz="700"/>
                        <a:t>Focus : Product value, segment to focus, messaging/value, PnP</a:t>
                      </a:r>
                      <a:endParaRPr sz="700"/>
                    </a:p>
                    <a:p>
                      <a:pPr marL="457200" lvl="0" indent="-273050" algn="l" rtl="0">
                        <a:spcBef>
                          <a:spcPts val="0"/>
                        </a:spcBef>
                        <a:spcAft>
                          <a:spcPts val="0"/>
                        </a:spcAft>
                        <a:buSzPts val="700"/>
                        <a:buChar char="●"/>
                      </a:pPr>
                      <a:r>
                        <a:rPr lang="en" sz="700"/>
                        <a:t>How : vRNIC awareness, Value of SaaS over On-prem benefits, PnP, sales attach motions, objection handling (sec/availability/slas), Geo Expansion, Sales quota retirement &amp; EOL opportunity, segment of focus</a:t>
                      </a:r>
                      <a:endParaRPr sz="700"/>
                    </a:p>
                  </a:txBody>
                  <a:tcPr marL="91425" marR="91425" marT="91425" marB="91425" anchor="ctr"/>
                </a:tc>
                <a:tc>
                  <a:txBody>
                    <a:bodyPr/>
                    <a:lstStyle/>
                    <a:p>
                      <a:pPr marL="0" lvl="0" indent="0" algn="l" rtl="0">
                        <a:spcBef>
                          <a:spcPts val="0"/>
                        </a:spcBef>
                        <a:spcAft>
                          <a:spcPts val="0"/>
                        </a:spcAft>
                        <a:buNone/>
                      </a:pPr>
                      <a:endParaRPr sz="700"/>
                    </a:p>
                  </a:txBody>
                  <a:tcPr marL="91425" marR="91425" marT="91425" marB="91425" anchor="ctr"/>
                </a:tc>
                <a:extLst>
                  <a:ext uri="{0D108BD9-81ED-4DB2-BD59-A6C34878D82A}">
                    <a16:rowId xmlns:a16="http://schemas.microsoft.com/office/drawing/2014/main" val="10002"/>
                  </a:ext>
                </a:extLst>
              </a:tr>
              <a:tr h="1664750">
                <a:tc>
                  <a:txBody>
                    <a:bodyPr/>
                    <a:lstStyle/>
                    <a:p>
                      <a:pPr marL="0" lvl="0" indent="0" algn="ctr" rtl="0">
                        <a:spcBef>
                          <a:spcPts val="0"/>
                        </a:spcBef>
                        <a:spcAft>
                          <a:spcPts val="0"/>
                        </a:spcAft>
                        <a:buNone/>
                      </a:pPr>
                      <a:r>
                        <a:rPr lang="en" sz="700" b="1"/>
                        <a:t>Bias for Action</a:t>
                      </a:r>
                      <a:endParaRPr sz="700" b="1"/>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73050" algn="l" rtl="0">
                        <a:spcBef>
                          <a:spcPts val="0"/>
                        </a:spcBef>
                        <a:spcAft>
                          <a:spcPts val="0"/>
                        </a:spcAft>
                        <a:buSzPts val="700"/>
                        <a:buChar char="●"/>
                      </a:pPr>
                      <a:r>
                        <a:rPr lang="en" sz="700"/>
                        <a:t>60% data only available and rest hypothesis</a:t>
                      </a:r>
                      <a:endParaRPr sz="700"/>
                    </a:p>
                    <a:p>
                      <a:pPr marL="457200" lvl="0" indent="-273050" algn="l" rtl="0">
                        <a:spcBef>
                          <a:spcPts val="0"/>
                        </a:spcBef>
                        <a:spcAft>
                          <a:spcPts val="0"/>
                        </a:spcAft>
                        <a:buSzPts val="700"/>
                        <a:buChar char="●"/>
                      </a:pPr>
                      <a:r>
                        <a:rPr lang="en" sz="700"/>
                        <a:t>Calculated risk</a:t>
                      </a:r>
                      <a:endParaRPr sz="700"/>
                    </a:p>
                    <a:p>
                      <a:pPr marL="457200" lvl="0" indent="-273050" algn="l" rtl="0">
                        <a:spcBef>
                          <a:spcPts val="0"/>
                        </a:spcBef>
                        <a:spcAft>
                          <a:spcPts val="0"/>
                        </a:spcAft>
                        <a:buSzPts val="700"/>
                        <a:buChar char="●"/>
                      </a:pPr>
                      <a:r>
                        <a:rPr lang="en" sz="700"/>
                        <a:t>Info needed but stakeholder not responsive</a:t>
                      </a:r>
                      <a:endParaRPr sz="700"/>
                    </a:p>
                    <a:p>
                      <a:pPr marL="457200" lvl="0" indent="-273050" algn="l" rtl="0">
                        <a:spcBef>
                          <a:spcPts val="0"/>
                        </a:spcBef>
                        <a:spcAft>
                          <a:spcPts val="0"/>
                        </a:spcAft>
                        <a:buSzPts val="700"/>
                        <a:buChar char="●"/>
                      </a:pPr>
                      <a:r>
                        <a:rPr lang="en" sz="700"/>
                        <a:t>Value speed of execution</a:t>
                      </a:r>
                      <a:endParaRPr sz="700"/>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700" b="1">
                          <a:solidFill>
                            <a:schemeClr val="dk1"/>
                          </a:solidFill>
                        </a:rPr>
                        <a:t>AWW</a:t>
                      </a:r>
                      <a:endParaRPr sz="700" b="1">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Challenge : Solution launched 3 Quarters ago. But lack of success in rev from Partners. Data available on target partners with competencies in EUC/SASE/CB but unsure why they aren’t selling across solutions</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How : Litmus test and gaps in key areas awareness, value, influence of persona, use cases and pricing, incentives/promotions</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Created White glove partner programm</a:t>
                      </a:r>
                      <a:endParaRPr sz="70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700"/>
                    </a:p>
                    <a:p>
                      <a:pPr marL="0" lvl="0" indent="0" algn="l" rtl="0">
                        <a:spcBef>
                          <a:spcPts val="0"/>
                        </a:spcBef>
                        <a:spcAft>
                          <a:spcPts val="0"/>
                        </a:spcAft>
                        <a:buNone/>
                      </a:pPr>
                      <a:endParaRPr sz="700" b="1">
                        <a:solidFill>
                          <a:schemeClr val="dk1"/>
                        </a:solidFill>
                      </a:endParaRPr>
                    </a:p>
                    <a:p>
                      <a:pPr marL="0" lvl="0" indent="0" algn="l" rtl="0">
                        <a:spcBef>
                          <a:spcPts val="0"/>
                        </a:spcBef>
                        <a:spcAft>
                          <a:spcPts val="0"/>
                        </a:spcAft>
                        <a:buNone/>
                      </a:pPr>
                      <a:endParaRPr sz="700" b="1">
                        <a:solidFill>
                          <a:schemeClr val="dk1"/>
                        </a:solidFill>
                      </a:endParaRPr>
                    </a:p>
                    <a:p>
                      <a:pPr marL="0" lvl="0" indent="0" algn="l" rtl="0">
                        <a:spcBef>
                          <a:spcPts val="0"/>
                        </a:spcBef>
                        <a:spcAft>
                          <a:spcPts val="0"/>
                        </a:spcAft>
                        <a:buClr>
                          <a:schemeClr val="dk1"/>
                        </a:buClr>
                        <a:buSzPts val="1100"/>
                        <a:buFont typeface="Arial"/>
                        <a:buNone/>
                      </a:pPr>
                      <a:r>
                        <a:rPr lang="en" sz="700" b="1">
                          <a:solidFill>
                            <a:schemeClr val="dk1"/>
                          </a:solidFill>
                        </a:rPr>
                        <a:t>vRNIC PnP</a:t>
                      </a:r>
                      <a:endParaRPr sz="700" b="1">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Challenge : PnP Gaps leading to sales opportunities.  </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How : Missing ADV tier for new customers and missing upgrade path from Ent for existing customers. ADV to ENT SaaS upgrade SKU available but only 3yr term. And launched new SKU’s for multi-term ADV to ENT upgrade </a:t>
                      </a:r>
                      <a:endParaRPr sz="700">
                        <a:solidFill>
                          <a:schemeClr val="dk1"/>
                        </a:solidFill>
                      </a:endParaRPr>
                    </a:p>
                    <a:p>
                      <a:pPr marL="0" lvl="0" indent="0" algn="l" rtl="0">
                        <a:spcBef>
                          <a:spcPts val="0"/>
                        </a:spcBef>
                        <a:spcAft>
                          <a:spcPts val="0"/>
                        </a:spcAft>
                        <a:buNone/>
                      </a:pPr>
                      <a:endParaRPr sz="700"/>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700" b="1">
                          <a:solidFill>
                            <a:schemeClr val="dk1"/>
                          </a:solidFill>
                        </a:rPr>
                        <a:t>vRNIC</a:t>
                      </a:r>
                      <a:endParaRPr sz="700" b="1">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Challenge : Low adoption of SaaS trials.</a:t>
                      </a:r>
                      <a:endParaRPr sz="700">
                        <a:solidFill>
                          <a:schemeClr val="dk1"/>
                        </a:solidFill>
                      </a:endParaRPr>
                    </a:p>
                    <a:p>
                      <a:pPr marL="457200" lvl="0" indent="-273050" algn="l" rtl="0">
                        <a:spcBef>
                          <a:spcPts val="0"/>
                        </a:spcBef>
                        <a:spcAft>
                          <a:spcPts val="0"/>
                        </a:spcAft>
                        <a:buClr>
                          <a:schemeClr val="dk1"/>
                        </a:buClr>
                        <a:buSzPts val="700"/>
                        <a:buChar char="●"/>
                      </a:pPr>
                      <a:r>
                        <a:rPr lang="en" sz="700">
                          <a:solidFill>
                            <a:schemeClr val="dk1"/>
                          </a:solidFill>
                        </a:rPr>
                        <a:t>How : Process improvement around customer engagement during trial</a:t>
                      </a:r>
                      <a:endParaRPr sz="700">
                        <a:solidFill>
                          <a:schemeClr val="dk1"/>
                        </a:solidFill>
                      </a:endParaRPr>
                    </a:p>
                    <a:p>
                      <a:pPr marL="0" lvl="0" indent="0" algn="l" rtl="0">
                        <a:spcBef>
                          <a:spcPts val="0"/>
                        </a:spcBef>
                        <a:spcAft>
                          <a:spcPts val="0"/>
                        </a:spcAft>
                        <a:buNone/>
                      </a:pPr>
                      <a:endParaRPr sz="700" b="1">
                        <a:solidFill>
                          <a:schemeClr val="dk1"/>
                        </a:solidFill>
                      </a:endParaRPr>
                    </a:p>
                    <a:p>
                      <a:pPr marL="0" lvl="0" indent="0" algn="l" rtl="0">
                        <a:spcBef>
                          <a:spcPts val="0"/>
                        </a:spcBef>
                        <a:spcAft>
                          <a:spcPts val="0"/>
                        </a:spcAft>
                        <a:buNone/>
                      </a:pPr>
                      <a:r>
                        <a:rPr lang="en" sz="700" b="1">
                          <a:solidFill>
                            <a:schemeClr val="dk1"/>
                          </a:solidFill>
                        </a:rPr>
                        <a:t>O365- Possibly also</a:t>
                      </a:r>
                      <a:endParaRPr sz="70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45" name="Google Shape;145;p28"/>
          <p:cNvGraphicFramePr/>
          <p:nvPr/>
        </p:nvGraphicFramePr>
        <p:xfrm>
          <a:off x="77375" y="38450"/>
          <a:ext cx="9046475" cy="5116395"/>
        </p:xfrm>
        <a:graphic>
          <a:graphicData uri="http://schemas.openxmlformats.org/drawingml/2006/table">
            <a:tbl>
              <a:tblPr>
                <a:noFill/>
                <a:tableStyleId>{3216DD8F-D192-47E8-9425-CEED70C932B8}</a:tableStyleId>
              </a:tblPr>
              <a:tblGrid>
                <a:gridCol w="704525">
                  <a:extLst>
                    <a:ext uri="{9D8B030D-6E8A-4147-A177-3AD203B41FA5}">
                      <a16:colId xmlns:a16="http://schemas.microsoft.com/office/drawing/2014/main" val="20000"/>
                    </a:ext>
                  </a:extLst>
                </a:gridCol>
                <a:gridCol w="1685475">
                  <a:extLst>
                    <a:ext uri="{9D8B030D-6E8A-4147-A177-3AD203B41FA5}">
                      <a16:colId xmlns:a16="http://schemas.microsoft.com/office/drawing/2014/main" val="20001"/>
                    </a:ext>
                  </a:extLst>
                </a:gridCol>
                <a:gridCol w="2377725">
                  <a:extLst>
                    <a:ext uri="{9D8B030D-6E8A-4147-A177-3AD203B41FA5}">
                      <a16:colId xmlns:a16="http://schemas.microsoft.com/office/drawing/2014/main" val="20002"/>
                    </a:ext>
                  </a:extLst>
                </a:gridCol>
                <a:gridCol w="2173225">
                  <a:extLst>
                    <a:ext uri="{9D8B030D-6E8A-4147-A177-3AD203B41FA5}">
                      <a16:colId xmlns:a16="http://schemas.microsoft.com/office/drawing/2014/main" val="20003"/>
                    </a:ext>
                  </a:extLst>
                </a:gridCol>
                <a:gridCol w="2105525">
                  <a:extLst>
                    <a:ext uri="{9D8B030D-6E8A-4147-A177-3AD203B41FA5}">
                      <a16:colId xmlns:a16="http://schemas.microsoft.com/office/drawing/2014/main" val="20004"/>
                    </a:ext>
                  </a:extLst>
                </a:gridCol>
              </a:tblGrid>
              <a:tr h="407325">
                <a:tc>
                  <a:txBody>
                    <a:bodyPr/>
                    <a:lstStyle/>
                    <a:p>
                      <a:pPr marL="0" lvl="0" indent="0" algn="ctr" rtl="0">
                        <a:spcBef>
                          <a:spcPts val="0"/>
                        </a:spcBef>
                        <a:spcAft>
                          <a:spcPts val="0"/>
                        </a:spcAft>
                        <a:buNone/>
                      </a:pPr>
                      <a:r>
                        <a:rPr lang="en" sz="650" b="1"/>
                        <a:t>Leadership Principle</a:t>
                      </a:r>
                      <a:endParaRPr sz="650" b="1"/>
                    </a:p>
                  </a:txBody>
                  <a:tcPr marL="91425" marR="91425" marT="91425" marB="91425" anchor="ctr"/>
                </a:tc>
                <a:tc>
                  <a:txBody>
                    <a:bodyPr/>
                    <a:lstStyle/>
                    <a:p>
                      <a:pPr marL="0" lvl="0" indent="0" algn="ctr" rtl="0">
                        <a:spcBef>
                          <a:spcPts val="0"/>
                        </a:spcBef>
                        <a:spcAft>
                          <a:spcPts val="0"/>
                        </a:spcAft>
                        <a:buNone/>
                      </a:pPr>
                      <a:r>
                        <a:rPr lang="en" sz="650" b="1"/>
                        <a:t>Key Insights sought</a:t>
                      </a:r>
                      <a:endParaRPr sz="650" b="1"/>
                    </a:p>
                  </a:txBody>
                  <a:tcPr marL="91425" marR="91425" marT="91425" marB="91425" anchor="ctr"/>
                </a:tc>
                <a:tc>
                  <a:txBody>
                    <a:bodyPr/>
                    <a:lstStyle/>
                    <a:p>
                      <a:pPr marL="0" lvl="0" indent="0" algn="ctr" rtl="0">
                        <a:spcBef>
                          <a:spcPts val="0"/>
                        </a:spcBef>
                        <a:spcAft>
                          <a:spcPts val="0"/>
                        </a:spcAft>
                        <a:buNone/>
                      </a:pPr>
                      <a:r>
                        <a:rPr lang="en" sz="650" b="1"/>
                        <a:t>Primary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Secondary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3rd &amp; 4th Preferred Project Example</a:t>
                      </a:r>
                      <a:endParaRPr sz="650" b="1"/>
                    </a:p>
                  </a:txBody>
                  <a:tcPr marL="91425" marR="91425" marT="91425" marB="91425" anchor="ctr"/>
                </a:tc>
                <a:extLst>
                  <a:ext uri="{0D108BD9-81ED-4DB2-BD59-A6C34878D82A}">
                    <a16:rowId xmlns:a16="http://schemas.microsoft.com/office/drawing/2014/main" val="10000"/>
                  </a:ext>
                </a:extLst>
              </a:tr>
              <a:tr h="1644475">
                <a:tc>
                  <a:txBody>
                    <a:bodyPr/>
                    <a:lstStyle/>
                    <a:p>
                      <a:pPr marL="0" lvl="0" indent="0" algn="ctr" rtl="0">
                        <a:spcBef>
                          <a:spcPts val="0"/>
                        </a:spcBef>
                        <a:spcAft>
                          <a:spcPts val="0"/>
                        </a:spcAft>
                        <a:buNone/>
                      </a:pPr>
                      <a:r>
                        <a:rPr lang="en" sz="650" b="1"/>
                        <a:t>Dive Deep</a:t>
                      </a:r>
                      <a:endParaRPr sz="650" b="1"/>
                    </a:p>
                  </a:txBody>
                  <a:tcPr marL="91425" marR="91425" marT="91425" marB="91425" anchor="ctr"/>
                </a:tc>
                <a:tc>
                  <a:txBody>
                    <a:bodyPr/>
                    <a:lstStyle/>
                    <a:p>
                      <a:pPr marL="457200" lvl="0" indent="-269875" algn="l" rtl="0">
                        <a:spcBef>
                          <a:spcPts val="0"/>
                        </a:spcBef>
                        <a:spcAft>
                          <a:spcPts val="0"/>
                        </a:spcAft>
                        <a:buSzPts val="650"/>
                        <a:buChar char="●"/>
                      </a:pPr>
                      <a:r>
                        <a:rPr lang="en" sz="650"/>
                        <a:t>Deep analysis to understand root cause of the problem</a:t>
                      </a:r>
                      <a:endParaRPr sz="650"/>
                    </a:p>
                    <a:p>
                      <a:pPr marL="457200" lvl="0" indent="-269875" algn="l" rtl="0">
                        <a:spcBef>
                          <a:spcPts val="0"/>
                        </a:spcBef>
                        <a:spcAft>
                          <a:spcPts val="0"/>
                        </a:spcAft>
                        <a:buSzPts val="650"/>
                        <a:buChar char="●"/>
                      </a:pPr>
                      <a:r>
                        <a:rPr lang="en" sz="650"/>
                        <a:t>Complicated problem and how do you know you are focusing on the right problem</a:t>
                      </a:r>
                      <a:endParaRPr sz="650"/>
                    </a:p>
                    <a:p>
                      <a:pPr marL="457200" lvl="0" indent="-269875" algn="l" rtl="0">
                        <a:spcBef>
                          <a:spcPts val="0"/>
                        </a:spcBef>
                        <a:spcAft>
                          <a:spcPts val="0"/>
                        </a:spcAft>
                        <a:buSzPts val="650"/>
                        <a:buChar char="●"/>
                      </a:pPr>
                      <a:r>
                        <a:rPr lang="en" sz="650"/>
                        <a:t>Utilized in-depth data to develop a solution</a:t>
                      </a:r>
                      <a:endParaRPr sz="650"/>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 sz="650" b="1">
                          <a:solidFill>
                            <a:schemeClr val="dk1"/>
                          </a:solidFill>
                        </a:rPr>
                        <a:t>vRNIC</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 Low sales/adoption of vRNIC since launch of 2-quarters but only 5 customers till date. Why sell vRNIC and who to sell it to</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Focus : questions from sales around awareness, why saas/product value, security objections, which customers to focus and plays? </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Road to 100:  : IB </a:t>
                      </a:r>
                      <a:r>
                        <a:rPr lang="en" sz="650" b="1">
                          <a:solidFill>
                            <a:schemeClr val="dk1"/>
                          </a:solidFill>
                        </a:rPr>
                        <a:t>EOL opportunity to focus in phased approach, </a:t>
                      </a:r>
                      <a:r>
                        <a:rPr lang="en" sz="650">
                          <a:solidFill>
                            <a:schemeClr val="dk1"/>
                          </a:solidFill>
                        </a:rPr>
                        <a:t>segment of focus,, Value of SaaS over On-prem benefits objection handling (sec/availability/slas), PnP, sales attach motions, financial modelling TCO of saas over onprem, Geo Expansion, Sales quota retirement, </a:t>
                      </a:r>
                      <a:r>
                        <a:rPr lang="en" sz="650">
                          <a:solidFill>
                            <a:srgbClr val="FF0000"/>
                          </a:solidFill>
                        </a:rPr>
                        <a:t>at&amp;t tos/sla</a:t>
                      </a:r>
                      <a:endParaRPr sz="650">
                        <a:solidFill>
                          <a:srgbClr val="FF0000"/>
                        </a:solidFill>
                      </a:endParaRPr>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 sz="650" b="1">
                          <a:solidFill>
                            <a:schemeClr val="dk1"/>
                          </a:solidFill>
                        </a:rPr>
                        <a:t>mGig</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Low adoption of mGig platform. Lead in innovation against competition. Reliance only on Wave2 use case leading to 7% adoption vs expected 30% target</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Discuss/Survey with field : capture additional use cases and update in messaging,Incentives 6%, SeeIT 70% off,</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Raffle : Top 2 sellers by Units get apple watch in 1H</a:t>
                      </a:r>
                      <a:endParaRPr sz="650"/>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 sz="650" b="1">
                          <a:solidFill>
                            <a:schemeClr val="dk1"/>
                          </a:solidFill>
                        </a:rPr>
                        <a:t>AWW:</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 why partners are not selling cross technology use cases?</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Identify transformational partners based off (Rev, competencies in EUC/SASE/CB),  Litmus test on awareness, value, use cases and pricing. </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Create a program : White glove with insights to highlight Market opportunity/differentiation, vision &amp; break it down by use case/selling motion, Incentives and Promotions</a:t>
                      </a:r>
                      <a:endParaRPr sz="650"/>
                    </a:p>
                  </a:txBody>
                  <a:tcPr marL="91425" marR="91425" marT="91425" marB="91425" anchor="ctr"/>
                </a:tc>
                <a:extLst>
                  <a:ext uri="{0D108BD9-81ED-4DB2-BD59-A6C34878D82A}">
                    <a16:rowId xmlns:a16="http://schemas.microsoft.com/office/drawing/2014/main" val="10001"/>
                  </a:ext>
                </a:extLst>
              </a:tr>
              <a:tr h="1644475">
                <a:tc>
                  <a:txBody>
                    <a:bodyPr/>
                    <a:lstStyle/>
                    <a:p>
                      <a:pPr marL="0" lvl="0" indent="0" algn="ctr" rtl="0">
                        <a:spcBef>
                          <a:spcPts val="0"/>
                        </a:spcBef>
                        <a:spcAft>
                          <a:spcPts val="0"/>
                        </a:spcAft>
                        <a:buNone/>
                      </a:pPr>
                      <a:r>
                        <a:rPr lang="en" sz="650" b="1"/>
                        <a:t>Have Backbone &amp; Disagree</a:t>
                      </a:r>
                      <a:endParaRPr sz="650" b="1"/>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69875" algn="l" rtl="0">
                        <a:spcBef>
                          <a:spcPts val="0"/>
                        </a:spcBef>
                        <a:spcAft>
                          <a:spcPts val="0"/>
                        </a:spcAft>
                        <a:buSzPts val="650"/>
                        <a:buChar char="●"/>
                      </a:pPr>
                      <a:r>
                        <a:rPr lang="en" sz="650"/>
                        <a:t>Disagree with approach but commit</a:t>
                      </a:r>
                      <a:endParaRPr sz="650"/>
                    </a:p>
                    <a:p>
                      <a:pPr marL="457200" lvl="0" indent="-269875" algn="l" rtl="0">
                        <a:spcBef>
                          <a:spcPts val="0"/>
                        </a:spcBef>
                        <a:spcAft>
                          <a:spcPts val="0"/>
                        </a:spcAft>
                        <a:buSzPts val="650"/>
                        <a:buChar char="●"/>
                      </a:pPr>
                      <a:r>
                        <a:rPr lang="en" sz="650"/>
                        <a:t>Something you believe, nobody does unpopular decision</a:t>
                      </a:r>
                      <a:endParaRPr sz="650"/>
                    </a:p>
                    <a:p>
                      <a:pPr marL="457200" lvl="0" indent="-269875" algn="l" rtl="0">
                        <a:spcBef>
                          <a:spcPts val="0"/>
                        </a:spcBef>
                        <a:spcAft>
                          <a:spcPts val="0"/>
                        </a:spcAft>
                        <a:buSzPts val="650"/>
                        <a:buChar char="●"/>
                      </a:pPr>
                      <a:r>
                        <a:rPr lang="en" sz="650"/>
                        <a:t>Halt project halfway through as it wasn’t headed in right direction</a:t>
                      </a:r>
                      <a:endParaRPr sz="650"/>
                    </a:p>
                    <a:p>
                      <a:pPr marL="457200" lvl="0" indent="-269875" algn="l" rtl="0">
                        <a:spcBef>
                          <a:spcPts val="0"/>
                        </a:spcBef>
                        <a:spcAft>
                          <a:spcPts val="0"/>
                        </a:spcAft>
                        <a:buSzPts val="650"/>
                        <a:buChar char="●"/>
                      </a:pPr>
                      <a:r>
                        <a:rPr lang="en" sz="650"/>
                        <a:t>Unpopular decision of yours</a:t>
                      </a:r>
                      <a:endParaRPr sz="650"/>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t>vRNI SMART</a:t>
                      </a:r>
                      <a:endParaRPr sz="650" b="1"/>
                    </a:p>
                    <a:p>
                      <a:pPr marL="457200" lvl="0" indent="-269875" algn="l" rtl="0">
                        <a:spcBef>
                          <a:spcPts val="0"/>
                        </a:spcBef>
                        <a:spcAft>
                          <a:spcPts val="0"/>
                        </a:spcAft>
                        <a:buClr>
                          <a:schemeClr val="dk1"/>
                        </a:buClr>
                        <a:buSzPts val="650"/>
                        <a:buChar char="●"/>
                      </a:pPr>
                      <a:r>
                        <a:rPr lang="en" sz="650">
                          <a:solidFill>
                            <a:schemeClr val="dk1"/>
                          </a:solidFill>
                        </a:rPr>
                        <a:t>Challenge : Telco RTM imp to win vRNI SDWAN</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vRNI not much Telco adoption historically, SMARTs Telco adoption great, Low investment resources from vRNI.  Time to market key</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But Sesh wants Telco adoption across entire vRNI and wants to make investment. Cons: also will require new legal contracts vs amendments</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Worked with Platform PM : captured key PRD for Telco RTM : Multi-tenance, RBAC. But change of priority led to postpone of commit by 2+ quarters</a:t>
                      </a:r>
                      <a:endParaRPr sz="65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rgbClr val="FF0000"/>
                          </a:solidFill>
                        </a:rPr>
                        <a:t>vRNIC Cost optimization</a:t>
                      </a:r>
                      <a:endParaRPr sz="650" b="1">
                        <a:solidFill>
                          <a:srgbClr val="FF0000"/>
                        </a:solidFill>
                      </a:endParaRPr>
                    </a:p>
                    <a:p>
                      <a:pPr marL="457200" lvl="0" indent="-269875" algn="l" rtl="0">
                        <a:spcBef>
                          <a:spcPts val="0"/>
                        </a:spcBef>
                        <a:spcAft>
                          <a:spcPts val="0"/>
                        </a:spcAft>
                        <a:buClr>
                          <a:schemeClr val="dk1"/>
                        </a:buClr>
                        <a:buSzPts val="650"/>
                        <a:buChar char="●"/>
                      </a:pPr>
                      <a:r>
                        <a:rPr lang="en" sz="650">
                          <a:solidFill>
                            <a:schemeClr val="dk1"/>
                          </a:solidFill>
                        </a:rPr>
                        <a:t>Challenge : Pressures on margins leading to cost optimization focus vs more imp focus around Migration</a:t>
                      </a:r>
                      <a:endParaRPr sz="650">
                        <a:solidFill>
                          <a:schemeClr val="dk1"/>
                        </a:solidFill>
                      </a:endParaRPr>
                    </a:p>
                    <a:p>
                      <a:pPr marL="457200" marR="0" lvl="0" indent="-269875" algn="l" rtl="0">
                        <a:lnSpc>
                          <a:spcPct val="100000"/>
                        </a:lnSpc>
                        <a:spcBef>
                          <a:spcPts val="0"/>
                        </a:spcBef>
                        <a:spcAft>
                          <a:spcPts val="0"/>
                        </a:spcAft>
                        <a:buSzPts val="650"/>
                        <a:buChar char="●"/>
                      </a:pPr>
                      <a:r>
                        <a:rPr lang="en" sz="650">
                          <a:solidFill>
                            <a:schemeClr val="dk1"/>
                          </a:solidFill>
                        </a:rPr>
                        <a:t>How : Cost optimization 85% vs 95% margins off list price. Eats into margin but doesn’t change customer revenue focus. Didnt want to trade off momentum around Self service Migration and found other means through other resources (central eng team) and minimal engagement/support from vRNI Eng</a:t>
                      </a:r>
                      <a:r>
                        <a:rPr lang="en" sz="650"/>
                        <a:t> </a:t>
                      </a:r>
                      <a:endParaRPr sz="650"/>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rgbClr val="FF0000"/>
                          </a:solidFill>
                        </a:rPr>
                        <a:t>vRNIC PnP</a:t>
                      </a:r>
                      <a:endParaRPr sz="650" b="1">
                        <a:solidFill>
                          <a:srgbClr val="FF0000"/>
                        </a:solidFill>
                      </a:endParaRPr>
                    </a:p>
                    <a:p>
                      <a:pPr marL="457200" lvl="0" indent="-269875" algn="l" rtl="0">
                        <a:spcBef>
                          <a:spcPts val="0"/>
                        </a:spcBef>
                        <a:spcAft>
                          <a:spcPts val="0"/>
                        </a:spcAft>
                        <a:buClr>
                          <a:schemeClr val="dk1"/>
                        </a:buClr>
                        <a:buSzPts val="650"/>
                        <a:buChar char="●"/>
                      </a:pPr>
                      <a:r>
                        <a:rPr lang="en" sz="650">
                          <a:solidFill>
                            <a:schemeClr val="dk1"/>
                          </a:solidFill>
                        </a:rPr>
                        <a:t>Challenge : PnP Gaps leading to sales opportunities. </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Missing ADV tier for new customers and missing upgrade path from Ent for existing customers. ADV to ENT SaaS upgrade SKU available but only 3yr term. And launched new SKU’s for multi-term ADV to ENT upgrade </a:t>
                      </a:r>
                      <a:endParaRPr sz="650" b="1">
                        <a:solidFill>
                          <a:srgbClr val="FF0000"/>
                        </a:solidFill>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368775">
                <a:tc>
                  <a:txBody>
                    <a:bodyPr/>
                    <a:lstStyle/>
                    <a:p>
                      <a:pPr marL="0" lvl="0" indent="0" algn="ctr" rtl="0">
                        <a:spcBef>
                          <a:spcPts val="0"/>
                        </a:spcBef>
                        <a:spcAft>
                          <a:spcPts val="0"/>
                        </a:spcAft>
                        <a:buNone/>
                      </a:pPr>
                      <a:r>
                        <a:rPr lang="en" sz="650" b="1"/>
                        <a:t>Ownership</a:t>
                      </a:r>
                      <a:endParaRPr sz="65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69875" algn="l" rtl="0">
                        <a:spcBef>
                          <a:spcPts val="0"/>
                        </a:spcBef>
                        <a:spcAft>
                          <a:spcPts val="0"/>
                        </a:spcAft>
                        <a:buSzPts val="650"/>
                        <a:buChar char="●"/>
                      </a:pPr>
                      <a:r>
                        <a:rPr lang="en" sz="650"/>
                        <a:t>Beyond your job responsibilities (Unclear responsibilities/Fix outside of your area)</a:t>
                      </a:r>
                      <a:endParaRPr sz="650"/>
                    </a:p>
                    <a:p>
                      <a:pPr marL="457200" lvl="0" indent="-269875" algn="l" rtl="0">
                        <a:spcBef>
                          <a:spcPts val="0"/>
                        </a:spcBef>
                        <a:spcAft>
                          <a:spcPts val="0"/>
                        </a:spcAft>
                        <a:buSzPts val="650"/>
                        <a:buChar char="●"/>
                      </a:pPr>
                      <a:r>
                        <a:rPr lang="en" sz="650"/>
                        <a:t>Long term value over short term success</a:t>
                      </a:r>
                      <a:endParaRPr sz="650"/>
                    </a:p>
                    <a:p>
                      <a:pPr marL="457200" lvl="0" indent="-269875" algn="l" rtl="0">
                        <a:spcBef>
                          <a:spcPts val="0"/>
                        </a:spcBef>
                        <a:spcAft>
                          <a:spcPts val="0"/>
                        </a:spcAft>
                        <a:buSzPts val="650"/>
                        <a:buChar char="●"/>
                      </a:pPr>
                      <a:r>
                        <a:rPr lang="en" sz="650"/>
                        <a:t>Showed initiative to work on challenging project</a:t>
                      </a:r>
                      <a:endParaRPr sz="65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t>vRNIC</a:t>
                      </a:r>
                      <a:endParaRPr sz="650" b="1"/>
                    </a:p>
                    <a:p>
                      <a:pPr marL="457200" lvl="0" indent="-269875" algn="l" rtl="0">
                        <a:spcBef>
                          <a:spcPts val="0"/>
                        </a:spcBef>
                        <a:spcAft>
                          <a:spcPts val="0"/>
                        </a:spcAft>
                        <a:buSzPts val="650"/>
                        <a:buChar char="●"/>
                      </a:pPr>
                      <a:r>
                        <a:rPr lang="en" sz="650"/>
                        <a:t>Challenge : Sales still positioning on-prem. Influence SaaS over Onprem positioning by Sales through Financial model</a:t>
                      </a:r>
                      <a:endParaRPr sz="650"/>
                    </a:p>
                    <a:p>
                      <a:pPr marL="457200" lvl="0" indent="-269875" algn="l" rtl="0">
                        <a:spcBef>
                          <a:spcPts val="0"/>
                        </a:spcBef>
                        <a:spcAft>
                          <a:spcPts val="0"/>
                        </a:spcAft>
                        <a:buClr>
                          <a:srgbClr val="FF0000"/>
                        </a:buClr>
                        <a:buSzPts val="650"/>
                        <a:buChar char="●"/>
                      </a:pPr>
                      <a:r>
                        <a:rPr lang="en" sz="650"/>
                        <a:t>How : Pricing team didn’t have cycles on it. Value realization on </a:t>
                      </a:r>
                      <a:r>
                        <a:rPr lang="en" sz="650" b="1"/>
                        <a:t>TCO benefits of SaaS</a:t>
                      </a:r>
                      <a:r>
                        <a:rPr lang="en" sz="650"/>
                        <a:t> over Onprem and marketing messaging why vRNI SaaS. Scenarios created.60% onprem unused/shelfware  by customers</a:t>
                      </a:r>
                      <a:endParaRPr sz="650" b="1">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650" b="1">
                          <a:solidFill>
                            <a:schemeClr val="dk1"/>
                          </a:solidFill>
                        </a:rPr>
                        <a:t>AWW:</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Partners lacking incentive to drive cross technology use cases</a:t>
                      </a:r>
                      <a:endParaRPr sz="650">
                        <a:solidFill>
                          <a:schemeClr val="dk1"/>
                        </a:solidFill>
                      </a:endParaRPr>
                    </a:p>
                    <a:p>
                      <a:pPr marL="0" lvl="0" indent="0" algn="l" rtl="0">
                        <a:spcBef>
                          <a:spcPts val="0"/>
                        </a:spcBef>
                        <a:spcAft>
                          <a:spcPts val="0"/>
                        </a:spcAft>
                        <a:buNone/>
                      </a:pPr>
                      <a:r>
                        <a:rPr lang="en" sz="650">
                          <a:solidFill>
                            <a:schemeClr val="dk1"/>
                          </a:solidFill>
                        </a:rPr>
                        <a:t>How : Make products eligible and esp. Influence through Solution rewards incentive, interop message</a:t>
                      </a: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650" b="1">
                          <a:solidFill>
                            <a:schemeClr val="dk1"/>
                          </a:solidFill>
                        </a:rPr>
                        <a:t>vRNI SDWAN</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 Velo not willing to commit partnership. Compete than complement mindset.</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Influence Velo leadership to commit and partner through Unified Vision. Use data : customer 3rd party + OL, Competition, Gartner . vRNI DC success, Trade off basic monitoring by understanding their perspective</a:t>
                      </a:r>
                      <a:endParaRPr sz="650">
                        <a:solidFill>
                          <a:schemeClr val="dk1"/>
                        </a:solidFill>
                      </a:endParaRPr>
                    </a:p>
                    <a:p>
                      <a:pPr marL="0" lvl="0" indent="0" algn="l" rtl="0">
                        <a:spcBef>
                          <a:spcPts val="0"/>
                        </a:spcBef>
                        <a:spcAft>
                          <a:spcPts val="0"/>
                        </a:spcAft>
                        <a:buNone/>
                      </a:pPr>
                      <a:endParaRPr sz="650" b="1"/>
                    </a:p>
                    <a:p>
                      <a:pPr marL="0" lvl="0" indent="0" algn="l" rtl="0">
                        <a:spcBef>
                          <a:spcPts val="0"/>
                        </a:spcBef>
                        <a:spcAft>
                          <a:spcPts val="0"/>
                        </a:spcAft>
                        <a:buNone/>
                      </a:pPr>
                      <a:endParaRPr sz="650" b="1">
                        <a:solidFill>
                          <a:srgbClr val="FF0000"/>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graphicFrame>
        <p:nvGraphicFramePr>
          <p:cNvPr id="150" name="Google Shape;150;p29"/>
          <p:cNvGraphicFramePr/>
          <p:nvPr/>
        </p:nvGraphicFramePr>
        <p:xfrm>
          <a:off x="77375" y="38450"/>
          <a:ext cx="3000000" cy="3000000"/>
        </p:xfrm>
        <a:graphic>
          <a:graphicData uri="http://schemas.openxmlformats.org/drawingml/2006/table">
            <a:tbl>
              <a:tblPr>
                <a:noFill/>
                <a:tableStyleId>{3216DD8F-D192-47E8-9425-CEED70C932B8}</a:tableStyleId>
              </a:tblPr>
              <a:tblGrid>
                <a:gridCol w="701450">
                  <a:extLst>
                    <a:ext uri="{9D8B030D-6E8A-4147-A177-3AD203B41FA5}">
                      <a16:colId xmlns:a16="http://schemas.microsoft.com/office/drawing/2014/main" val="20000"/>
                    </a:ext>
                  </a:extLst>
                </a:gridCol>
                <a:gridCol w="1670425">
                  <a:extLst>
                    <a:ext uri="{9D8B030D-6E8A-4147-A177-3AD203B41FA5}">
                      <a16:colId xmlns:a16="http://schemas.microsoft.com/office/drawing/2014/main" val="20001"/>
                    </a:ext>
                  </a:extLst>
                </a:gridCol>
                <a:gridCol w="2195025">
                  <a:extLst>
                    <a:ext uri="{9D8B030D-6E8A-4147-A177-3AD203B41FA5}">
                      <a16:colId xmlns:a16="http://schemas.microsoft.com/office/drawing/2014/main" val="20002"/>
                    </a:ext>
                  </a:extLst>
                </a:gridCol>
                <a:gridCol w="2051025">
                  <a:extLst>
                    <a:ext uri="{9D8B030D-6E8A-4147-A177-3AD203B41FA5}">
                      <a16:colId xmlns:a16="http://schemas.microsoft.com/office/drawing/2014/main" val="20003"/>
                    </a:ext>
                  </a:extLst>
                </a:gridCol>
                <a:gridCol w="2389075">
                  <a:extLst>
                    <a:ext uri="{9D8B030D-6E8A-4147-A177-3AD203B41FA5}">
                      <a16:colId xmlns:a16="http://schemas.microsoft.com/office/drawing/2014/main" val="20004"/>
                    </a:ext>
                  </a:extLst>
                </a:gridCol>
              </a:tblGrid>
              <a:tr h="516050">
                <a:tc>
                  <a:txBody>
                    <a:bodyPr/>
                    <a:lstStyle/>
                    <a:p>
                      <a:pPr marL="0" lvl="0" indent="0" algn="ctr" rtl="0">
                        <a:spcBef>
                          <a:spcPts val="0"/>
                        </a:spcBef>
                        <a:spcAft>
                          <a:spcPts val="0"/>
                        </a:spcAft>
                        <a:buNone/>
                      </a:pPr>
                      <a:r>
                        <a:rPr lang="en" sz="650" b="1"/>
                        <a:t>Leadership Principle</a:t>
                      </a:r>
                      <a:endParaRPr sz="650" b="1"/>
                    </a:p>
                  </a:txBody>
                  <a:tcPr marL="91425" marR="91425" marT="91425" marB="91425" anchor="ctr"/>
                </a:tc>
                <a:tc>
                  <a:txBody>
                    <a:bodyPr/>
                    <a:lstStyle/>
                    <a:p>
                      <a:pPr marL="0" lvl="0" indent="0" algn="ctr" rtl="0">
                        <a:spcBef>
                          <a:spcPts val="0"/>
                        </a:spcBef>
                        <a:spcAft>
                          <a:spcPts val="0"/>
                        </a:spcAft>
                        <a:buNone/>
                      </a:pPr>
                      <a:r>
                        <a:rPr lang="en" sz="650" b="1"/>
                        <a:t>Key Insights sought</a:t>
                      </a:r>
                      <a:endParaRPr sz="650" b="1"/>
                    </a:p>
                  </a:txBody>
                  <a:tcPr marL="91425" marR="91425" marT="91425" marB="91425" anchor="ctr"/>
                </a:tc>
                <a:tc>
                  <a:txBody>
                    <a:bodyPr/>
                    <a:lstStyle/>
                    <a:p>
                      <a:pPr marL="0" lvl="0" indent="0" algn="ctr" rtl="0">
                        <a:spcBef>
                          <a:spcPts val="0"/>
                        </a:spcBef>
                        <a:spcAft>
                          <a:spcPts val="0"/>
                        </a:spcAft>
                        <a:buNone/>
                      </a:pPr>
                      <a:r>
                        <a:rPr lang="en" sz="650" b="1"/>
                        <a:t>Primary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Secondary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3rd &amp; 4th Preferred Project Example</a:t>
                      </a:r>
                      <a:endParaRPr sz="650" b="1"/>
                    </a:p>
                  </a:txBody>
                  <a:tcPr marL="91425" marR="91425" marT="91425" marB="91425" anchor="ctr"/>
                </a:tc>
                <a:extLst>
                  <a:ext uri="{0D108BD9-81ED-4DB2-BD59-A6C34878D82A}">
                    <a16:rowId xmlns:a16="http://schemas.microsoft.com/office/drawing/2014/main" val="10000"/>
                  </a:ext>
                </a:extLst>
              </a:tr>
              <a:tr h="1671975">
                <a:tc>
                  <a:txBody>
                    <a:bodyPr/>
                    <a:lstStyle/>
                    <a:p>
                      <a:pPr marL="0" lvl="0" indent="0" algn="ctr" rtl="0">
                        <a:spcBef>
                          <a:spcPts val="0"/>
                        </a:spcBef>
                        <a:spcAft>
                          <a:spcPts val="0"/>
                        </a:spcAft>
                        <a:buNone/>
                      </a:pPr>
                      <a:r>
                        <a:rPr lang="en" sz="600" b="1"/>
                        <a:t>Earn Trust</a:t>
                      </a:r>
                      <a:endParaRPr sz="600" b="1"/>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66700" algn="l" rtl="0">
                        <a:spcBef>
                          <a:spcPts val="0"/>
                        </a:spcBef>
                        <a:spcAft>
                          <a:spcPts val="0"/>
                        </a:spcAft>
                        <a:buSzPts val="600"/>
                        <a:buChar char="●"/>
                      </a:pPr>
                      <a:r>
                        <a:rPr lang="en" sz="600"/>
                        <a:t>Communicate change in direction</a:t>
                      </a:r>
                      <a:endParaRPr sz="600"/>
                    </a:p>
                    <a:p>
                      <a:pPr marL="457200" lvl="0" indent="-266700" algn="l" rtl="0">
                        <a:spcBef>
                          <a:spcPts val="0"/>
                        </a:spcBef>
                        <a:spcAft>
                          <a:spcPts val="0"/>
                        </a:spcAft>
                        <a:buSzPts val="600"/>
                        <a:buChar char="●"/>
                      </a:pPr>
                      <a:r>
                        <a:rPr lang="en" sz="600"/>
                        <a:t>Tough or critical piece of feedback received</a:t>
                      </a:r>
                      <a:endParaRPr sz="600"/>
                    </a:p>
                    <a:p>
                      <a:pPr marL="457200" lvl="0" indent="-266700" algn="l" rtl="0">
                        <a:spcBef>
                          <a:spcPts val="0"/>
                        </a:spcBef>
                        <a:spcAft>
                          <a:spcPts val="0"/>
                        </a:spcAft>
                        <a:buClr>
                          <a:srgbClr val="FF0000"/>
                        </a:buClr>
                        <a:buSzPts val="600"/>
                        <a:buChar char="●"/>
                      </a:pPr>
                      <a:r>
                        <a:rPr lang="en" sz="600">
                          <a:solidFill>
                            <a:srgbClr val="FF0000"/>
                          </a:solidFill>
                        </a:rPr>
                        <a:t>You put others interests before yours (teammates, customers, company)</a:t>
                      </a:r>
                      <a:endParaRPr sz="600">
                        <a:solidFill>
                          <a:srgbClr val="FF0000"/>
                        </a:solidFill>
                      </a:endParaRPr>
                    </a:p>
                    <a:p>
                      <a:pPr marL="457200" lvl="0" indent="-266700" algn="l" rtl="0">
                        <a:spcBef>
                          <a:spcPts val="0"/>
                        </a:spcBef>
                        <a:spcAft>
                          <a:spcPts val="0"/>
                        </a:spcAft>
                        <a:buClr>
                          <a:schemeClr val="dk1"/>
                        </a:buClr>
                        <a:buSzPts val="600"/>
                        <a:buChar char="●"/>
                      </a:pPr>
                      <a:r>
                        <a:rPr lang="en" sz="600">
                          <a:solidFill>
                            <a:schemeClr val="dk1"/>
                          </a:solidFill>
                        </a:rPr>
                        <a:t>Situation where you had to speak up in difficult or uncomfortable environment and what did you do to gain trust </a:t>
                      </a:r>
                      <a:endParaRPr sz="60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600" b="1">
                          <a:solidFill>
                            <a:schemeClr val="dk1"/>
                          </a:solidFill>
                        </a:rPr>
                        <a:t>vRNI SDWAN</a:t>
                      </a:r>
                      <a:endParaRPr sz="600" b="1">
                        <a:solidFill>
                          <a:schemeClr val="dk1"/>
                        </a:solidFill>
                      </a:endParaRPr>
                    </a:p>
                    <a:p>
                      <a:pPr marL="457200" lvl="0" indent="-266700" algn="l" rtl="0">
                        <a:spcBef>
                          <a:spcPts val="0"/>
                        </a:spcBef>
                        <a:spcAft>
                          <a:spcPts val="0"/>
                        </a:spcAft>
                        <a:buClr>
                          <a:schemeClr val="dk1"/>
                        </a:buClr>
                        <a:buSzPts val="600"/>
                        <a:buChar char="●"/>
                      </a:pPr>
                      <a:r>
                        <a:rPr lang="en" sz="600">
                          <a:solidFill>
                            <a:schemeClr val="dk1"/>
                          </a:solidFill>
                        </a:rPr>
                        <a:t>Challenge : Eng challenging new direction. Lack of commitment from velo and wins for vRNI SDWAN</a:t>
                      </a:r>
                      <a:endParaRPr sz="600">
                        <a:solidFill>
                          <a:schemeClr val="dk1"/>
                        </a:solidFill>
                      </a:endParaRPr>
                    </a:p>
                    <a:p>
                      <a:pPr marL="457200" lvl="0" indent="-266700" algn="l" rtl="0">
                        <a:spcBef>
                          <a:spcPts val="0"/>
                        </a:spcBef>
                        <a:spcAft>
                          <a:spcPts val="0"/>
                        </a:spcAft>
                        <a:buClr>
                          <a:schemeClr val="dk1"/>
                        </a:buClr>
                        <a:buSzPts val="600"/>
                        <a:buChar char="●"/>
                      </a:pPr>
                      <a:r>
                        <a:rPr lang="en" sz="600">
                          <a:solidFill>
                            <a:schemeClr val="dk1"/>
                          </a:solidFill>
                        </a:rPr>
                        <a:t>Influence vRNI Eng  with new areas of investment to focus on Differentiation and driving Partnership with Velo, Sales teams</a:t>
                      </a:r>
                      <a:endParaRPr sz="600">
                        <a:solidFill>
                          <a:schemeClr val="dk1"/>
                        </a:solidFill>
                      </a:endParaRPr>
                    </a:p>
                    <a:p>
                      <a:pPr marL="0" lvl="0" indent="0" algn="l" rtl="0">
                        <a:spcBef>
                          <a:spcPts val="0"/>
                        </a:spcBef>
                        <a:spcAft>
                          <a:spcPts val="0"/>
                        </a:spcAft>
                        <a:buNone/>
                      </a:pPr>
                      <a:endParaRPr sz="600">
                        <a:solidFill>
                          <a:schemeClr val="dk1"/>
                        </a:solidFill>
                      </a:endParaRPr>
                    </a:p>
                    <a:p>
                      <a:pPr marL="0" lvl="0" indent="0" algn="l" rtl="0">
                        <a:spcBef>
                          <a:spcPts val="0"/>
                        </a:spcBef>
                        <a:spcAft>
                          <a:spcPts val="0"/>
                        </a:spcAft>
                        <a:buNone/>
                      </a:pPr>
                      <a:endParaRPr sz="6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600" b="1">
                          <a:solidFill>
                            <a:schemeClr val="dk1"/>
                          </a:solidFill>
                        </a:rPr>
                        <a:t>Cisco UKI Heatmap:</a:t>
                      </a:r>
                      <a:endParaRPr sz="600" b="1">
                        <a:solidFill>
                          <a:schemeClr val="dk1"/>
                        </a:solidFill>
                      </a:endParaRPr>
                    </a:p>
                    <a:p>
                      <a:pPr marL="457200" lvl="0" indent="-266700" algn="l" rtl="0">
                        <a:spcBef>
                          <a:spcPts val="0"/>
                        </a:spcBef>
                        <a:spcAft>
                          <a:spcPts val="0"/>
                        </a:spcAft>
                        <a:buClr>
                          <a:schemeClr val="dk1"/>
                        </a:buClr>
                        <a:buSzPts val="600"/>
                        <a:buChar char="●"/>
                      </a:pPr>
                      <a:r>
                        <a:rPr lang="en" sz="600">
                          <a:solidFill>
                            <a:schemeClr val="dk1"/>
                          </a:solidFill>
                        </a:rPr>
                        <a:t>Challenge : Need to build trust with UKI leader as they want to grow in net new markets. </a:t>
                      </a:r>
                      <a:endParaRPr sz="600" b="1"/>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AWW:</a:t>
                      </a:r>
                      <a:endParaRPr sz="600" b="1"/>
                    </a:p>
                    <a:p>
                      <a:pPr marL="457200" lvl="0" indent="-266700" algn="l" rtl="0">
                        <a:spcBef>
                          <a:spcPts val="0"/>
                        </a:spcBef>
                        <a:spcAft>
                          <a:spcPts val="0"/>
                        </a:spcAft>
                        <a:buSzPts val="600"/>
                        <a:buChar char="●"/>
                      </a:pPr>
                      <a:r>
                        <a:rPr lang="en" sz="600"/>
                        <a:t>Change in direction of platform strategy. </a:t>
                      </a:r>
                      <a:endParaRPr sz="600"/>
                    </a:p>
                    <a:p>
                      <a:pPr marL="457200" lvl="0" indent="-266700" algn="l" rtl="0">
                        <a:spcBef>
                          <a:spcPts val="0"/>
                        </a:spcBef>
                        <a:spcAft>
                          <a:spcPts val="0"/>
                        </a:spcAft>
                        <a:buSzPts val="600"/>
                        <a:buChar char="●"/>
                      </a:pPr>
                      <a:r>
                        <a:rPr lang="en" sz="600"/>
                        <a:t>We heard from most Partners and learnt from direct sales, its tough to sell </a:t>
                      </a:r>
                      <a:endParaRPr sz="600"/>
                    </a:p>
                    <a:p>
                      <a:pPr marL="457200" lvl="0" indent="-266700" algn="l" rtl="0">
                        <a:spcBef>
                          <a:spcPts val="0"/>
                        </a:spcBef>
                        <a:spcAft>
                          <a:spcPts val="0"/>
                        </a:spcAft>
                        <a:buSzPts val="600"/>
                        <a:buChar char="●"/>
                      </a:pPr>
                      <a:r>
                        <a:rPr lang="en" sz="600"/>
                        <a:t>Now more focus on EUC use cases despite recent pitches to Full AWW platform</a:t>
                      </a:r>
                      <a:endParaRPr sz="600"/>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93100">
                <a:tc>
                  <a:txBody>
                    <a:bodyPr/>
                    <a:lstStyle/>
                    <a:p>
                      <a:pPr marL="0" lvl="0" indent="0" algn="ctr" rtl="0">
                        <a:spcBef>
                          <a:spcPts val="0"/>
                        </a:spcBef>
                        <a:spcAft>
                          <a:spcPts val="0"/>
                        </a:spcAft>
                        <a:buNone/>
                      </a:pPr>
                      <a:r>
                        <a:rPr lang="en" sz="600" b="1"/>
                        <a:t>Are right a Lot</a:t>
                      </a:r>
                      <a:endParaRPr sz="6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66700" algn="l" rtl="0">
                        <a:spcBef>
                          <a:spcPts val="0"/>
                        </a:spcBef>
                        <a:spcAft>
                          <a:spcPts val="0"/>
                        </a:spcAft>
                        <a:buSzPts val="600"/>
                        <a:buChar char="●"/>
                      </a:pPr>
                      <a:r>
                        <a:rPr lang="en" sz="600"/>
                        <a:t>Lacks data : new &amp; ambiguous</a:t>
                      </a:r>
                      <a:endParaRPr sz="600"/>
                    </a:p>
                    <a:p>
                      <a:pPr marL="457200" lvl="0" indent="-266700" algn="l" rtl="0">
                        <a:spcBef>
                          <a:spcPts val="0"/>
                        </a:spcBef>
                        <a:spcAft>
                          <a:spcPts val="0"/>
                        </a:spcAft>
                        <a:buSzPts val="600"/>
                        <a:buChar char="●"/>
                      </a:pPr>
                      <a:r>
                        <a:rPr lang="en" sz="600"/>
                        <a:t>Use Judgement call/Experience to solve problem</a:t>
                      </a:r>
                      <a:endParaRPr sz="600"/>
                    </a:p>
                    <a:p>
                      <a:pPr marL="457200" lvl="0" indent="-266700" algn="l" rtl="0">
                        <a:spcBef>
                          <a:spcPts val="0"/>
                        </a:spcBef>
                        <a:spcAft>
                          <a:spcPts val="0"/>
                        </a:spcAft>
                        <a:buSzPts val="600"/>
                        <a:buChar char="●"/>
                      </a:pPr>
                      <a:r>
                        <a:rPr lang="en" sz="600"/>
                        <a:t>Insufficient info or incomplete data</a:t>
                      </a:r>
                      <a:endParaRPr sz="6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vRNI Active Monitoring</a:t>
                      </a:r>
                      <a:endParaRPr sz="600" b="1"/>
                    </a:p>
                    <a:p>
                      <a:pPr marL="457200" lvl="0" indent="-266700" algn="l" rtl="0">
                        <a:spcBef>
                          <a:spcPts val="0"/>
                        </a:spcBef>
                        <a:spcAft>
                          <a:spcPts val="0"/>
                        </a:spcAft>
                        <a:buSzPts val="600"/>
                        <a:buChar char="●"/>
                      </a:pPr>
                      <a:r>
                        <a:rPr lang="en" sz="600"/>
                        <a:t>Challenge : </a:t>
                      </a:r>
                      <a:r>
                        <a:rPr lang="en" sz="600">
                          <a:solidFill>
                            <a:schemeClr val="dk1"/>
                          </a:solidFill>
                        </a:rPr>
                        <a:t>Competition acquired in this space and Velo Partner seeking investments in this area. </a:t>
                      </a:r>
                      <a:r>
                        <a:rPr lang="en" sz="600"/>
                        <a:t>should we invest in this market? </a:t>
                      </a:r>
                      <a:endParaRPr sz="600"/>
                    </a:p>
                    <a:p>
                      <a:pPr marL="457200" lvl="0" indent="-266700" algn="l" rtl="0">
                        <a:spcBef>
                          <a:spcPts val="0"/>
                        </a:spcBef>
                        <a:spcAft>
                          <a:spcPts val="0"/>
                        </a:spcAft>
                        <a:buSzPts val="600"/>
                        <a:buChar char="●"/>
                      </a:pPr>
                      <a:r>
                        <a:rPr lang="en" sz="600"/>
                        <a:t>How : Market opportunity, customer discovery, validation of solution, top use cases and recommendation</a:t>
                      </a:r>
                      <a:endParaRPr sz="6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vRNI SMARTs</a:t>
                      </a:r>
                      <a:endParaRPr sz="600" b="1"/>
                    </a:p>
                    <a:p>
                      <a:pPr marL="457200" lvl="0" indent="-266700" algn="l" rtl="0">
                        <a:spcBef>
                          <a:spcPts val="0"/>
                        </a:spcBef>
                        <a:spcAft>
                          <a:spcPts val="0"/>
                        </a:spcAft>
                        <a:buSzPts val="600"/>
                        <a:buChar char="●"/>
                      </a:pPr>
                      <a:r>
                        <a:rPr lang="en" sz="600"/>
                        <a:t>Challenge : Telco RTM imp to win vRNI SDWAN</a:t>
                      </a:r>
                      <a:endParaRPr sz="600"/>
                    </a:p>
                    <a:p>
                      <a:pPr marL="457200" lvl="0" indent="-266700" algn="l" rtl="0">
                        <a:spcBef>
                          <a:spcPts val="0"/>
                        </a:spcBef>
                        <a:spcAft>
                          <a:spcPts val="0"/>
                        </a:spcAft>
                        <a:buSzPts val="600"/>
                        <a:buChar char="●"/>
                      </a:pPr>
                      <a:r>
                        <a:rPr lang="en" sz="600"/>
                        <a:t>How : vRNI not much Telco adoption historically, SMARTs Telco adoption great, Low investment resources from vRNI</a:t>
                      </a:r>
                      <a:endParaRPr sz="6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O365</a:t>
                      </a:r>
                      <a:endParaRPr sz="600" b="1"/>
                    </a:p>
                    <a:p>
                      <a:pPr marL="457200" lvl="0" indent="-266700" algn="l" rtl="0">
                        <a:spcBef>
                          <a:spcPts val="0"/>
                        </a:spcBef>
                        <a:spcAft>
                          <a:spcPts val="0"/>
                        </a:spcAft>
                        <a:buSzPts val="600"/>
                        <a:buChar char="●"/>
                      </a:pPr>
                      <a:r>
                        <a:rPr lang="en" sz="600"/>
                        <a:t>Challenge: Customers migrating apps to cloud but because of backhaul running into poor user experience</a:t>
                      </a:r>
                      <a:endParaRPr sz="600"/>
                    </a:p>
                    <a:p>
                      <a:pPr marL="457200" lvl="0" indent="-266700" algn="l" rtl="0">
                        <a:spcBef>
                          <a:spcPts val="0"/>
                        </a:spcBef>
                        <a:spcAft>
                          <a:spcPts val="0"/>
                        </a:spcAft>
                        <a:buSzPts val="600"/>
                        <a:buChar char="●"/>
                      </a:pPr>
                      <a:r>
                        <a:rPr lang="en" sz="600"/>
                        <a:t>How : Cloud first &amp; hybrid segment focus over onprem customers. Scale through O365 Network partner program : validated customer problem, overlap with MSFT 0365 customer base, differentiation/time to market</a:t>
                      </a:r>
                      <a:endParaRPr sz="6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895950">
                <a:tc>
                  <a:txBody>
                    <a:bodyPr/>
                    <a:lstStyle/>
                    <a:p>
                      <a:pPr marL="0" lvl="0" indent="0" algn="ctr" rtl="0">
                        <a:spcBef>
                          <a:spcPts val="0"/>
                        </a:spcBef>
                        <a:spcAft>
                          <a:spcPts val="0"/>
                        </a:spcAft>
                        <a:buNone/>
                      </a:pPr>
                      <a:r>
                        <a:rPr lang="en" sz="600" b="1"/>
                        <a:t>Insist on Highest Standards</a:t>
                      </a:r>
                      <a:endParaRPr sz="6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66700" algn="l" rtl="0">
                        <a:spcBef>
                          <a:spcPts val="0"/>
                        </a:spcBef>
                        <a:spcAft>
                          <a:spcPts val="0"/>
                        </a:spcAft>
                        <a:buSzPts val="600"/>
                        <a:buChar char="●"/>
                      </a:pPr>
                      <a:r>
                        <a:rPr lang="en" sz="600"/>
                        <a:t>Dissatisfied with quality of project</a:t>
                      </a:r>
                      <a:endParaRPr sz="600"/>
                    </a:p>
                    <a:p>
                      <a:pPr marL="457200" lvl="0" indent="-266700" algn="l" rtl="0">
                        <a:spcBef>
                          <a:spcPts val="0"/>
                        </a:spcBef>
                        <a:spcAft>
                          <a:spcPts val="0"/>
                        </a:spcAft>
                        <a:buClr>
                          <a:srgbClr val="FF0000"/>
                        </a:buClr>
                        <a:buSzPts val="600"/>
                        <a:buChar char="●"/>
                      </a:pPr>
                      <a:r>
                        <a:rPr lang="en" sz="600">
                          <a:solidFill>
                            <a:srgbClr val="FF0000"/>
                          </a:solidFill>
                        </a:rPr>
                        <a:t>Motivated others to go above and beyond</a:t>
                      </a:r>
                      <a:endParaRPr sz="600">
                        <a:solidFill>
                          <a:srgbClr val="FF0000"/>
                        </a:solidFill>
                      </a:endParaRPr>
                    </a:p>
                    <a:p>
                      <a:pPr marL="457200" lvl="0" indent="-266700" algn="l" rtl="0">
                        <a:spcBef>
                          <a:spcPts val="0"/>
                        </a:spcBef>
                        <a:spcAft>
                          <a:spcPts val="0"/>
                        </a:spcAft>
                        <a:buSzPts val="600"/>
                        <a:buChar char="●"/>
                      </a:pPr>
                      <a:r>
                        <a:rPr lang="en" sz="600"/>
                        <a:t>Couldn’t meet your standards and expectations on a task</a:t>
                      </a:r>
                      <a:endParaRPr sz="6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vRNI SDWAN PnP/legal</a:t>
                      </a:r>
                      <a:endParaRPr sz="600" b="1"/>
                    </a:p>
                    <a:p>
                      <a:pPr marL="457200" lvl="0" indent="-266700" algn="l" rtl="0">
                        <a:spcBef>
                          <a:spcPts val="0"/>
                        </a:spcBef>
                        <a:spcAft>
                          <a:spcPts val="0"/>
                        </a:spcAft>
                        <a:buSzPts val="600"/>
                        <a:buChar char="●"/>
                      </a:pPr>
                      <a:r>
                        <a:rPr lang="en" sz="600"/>
                        <a:t>Challenge : Great product but unable to sell as Telco &amp; MSP partners were having transactability issues. Need to meet deadlines with Pricing committee for approval.</a:t>
                      </a:r>
                      <a:endParaRPr sz="600"/>
                    </a:p>
                    <a:p>
                      <a:pPr marL="457200" lvl="0" indent="-266700" algn="l" rtl="0">
                        <a:spcBef>
                          <a:spcPts val="0"/>
                        </a:spcBef>
                        <a:spcAft>
                          <a:spcPts val="0"/>
                        </a:spcAft>
                        <a:buSzPts val="600"/>
                        <a:buChar char="●"/>
                      </a:pPr>
                      <a:r>
                        <a:rPr lang="en" sz="600"/>
                        <a:t>How : Telco/MSPs very interested with Product value. Business case created to make the vRNI SKUs available on Velo Paper for Telco transactability. And worked with pricing committee and legal to drive sales. But unsuccessful due to legal amendments required with Telco’s. Alternatively i found out 20% of MSPs are available on VMware paper. Worked on MSP VMware paper then. MSP on Partner connect a success but not Velo paper due to legal amendment need/delays. Motivated MSP operations and pricing team to deliver the SKUs</a:t>
                      </a:r>
                      <a:endParaRPr sz="600"/>
                    </a:p>
                    <a:p>
                      <a:pPr marL="457200" lvl="0" indent="-266700" algn="l" rtl="0">
                        <a:spcBef>
                          <a:spcPts val="0"/>
                        </a:spcBef>
                        <a:spcAft>
                          <a:spcPts val="0"/>
                        </a:spcAft>
                        <a:buSzPts val="600"/>
                        <a:buChar char="●"/>
                      </a:pPr>
                      <a:r>
                        <a:rPr lang="en" sz="600"/>
                        <a:t>Drove operational simplicity in Pricing/quoting workflow for sales : add-on to velo sdwan</a:t>
                      </a:r>
                      <a:endParaRPr sz="6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t>vRNIC</a:t>
                      </a:r>
                      <a:endParaRPr sz="600" b="1"/>
                    </a:p>
                    <a:p>
                      <a:pPr marL="457200" lvl="0" indent="-266700" algn="l" rtl="0">
                        <a:spcBef>
                          <a:spcPts val="0"/>
                        </a:spcBef>
                        <a:spcAft>
                          <a:spcPts val="0"/>
                        </a:spcAft>
                        <a:buSzPts val="600"/>
                        <a:buChar char="●"/>
                      </a:pPr>
                      <a:r>
                        <a:rPr lang="en" sz="600"/>
                        <a:t>Ch</a:t>
                      </a:r>
                      <a:r>
                        <a:rPr lang="en" sz="600">
                          <a:solidFill>
                            <a:srgbClr val="222222"/>
                          </a:solidFill>
                        </a:rPr>
                        <a:t>allenge : Existing onprem customers cannot migrate to SaaS. And getting pushed because platform team was busy on Analytics focus area. One of the differentiating areas. Limited resources</a:t>
                      </a:r>
                      <a:endParaRPr sz="600">
                        <a:solidFill>
                          <a:srgbClr val="222222"/>
                        </a:solidFill>
                      </a:endParaRPr>
                    </a:p>
                    <a:p>
                      <a:pPr marL="457200" lvl="0" indent="-266700" algn="l" rtl="0">
                        <a:spcBef>
                          <a:spcPts val="0"/>
                        </a:spcBef>
                        <a:spcAft>
                          <a:spcPts val="0"/>
                        </a:spcAft>
                        <a:buClr>
                          <a:schemeClr val="dk1"/>
                        </a:buClr>
                        <a:buSzPts val="600"/>
                        <a:buChar char="●"/>
                      </a:pPr>
                      <a:r>
                        <a:rPr lang="en" sz="600">
                          <a:solidFill>
                            <a:schemeClr val="dk1"/>
                          </a:solidFill>
                        </a:rPr>
                        <a:t>How : Self service migration capabilities to SaaS. PRD : Key use cases for migration, Customer impact, prioritization, leverage cross BU resources to expedite</a:t>
                      </a:r>
                      <a:endParaRPr sz="6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00" b="1">
                          <a:solidFill>
                            <a:schemeClr val="dk1"/>
                          </a:solidFill>
                        </a:rPr>
                        <a:t>AWW:</a:t>
                      </a:r>
                      <a:endParaRPr sz="600" b="1">
                        <a:solidFill>
                          <a:schemeClr val="dk1"/>
                        </a:solidFill>
                      </a:endParaRPr>
                    </a:p>
                    <a:p>
                      <a:pPr marL="457200" lvl="0" indent="-266700" algn="l" rtl="0">
                        <a:spcBef>
                          <a:spcPts val="0"/>
                        </a:spcBef>
                        <a:spcAft>
                          <a:spcPts val="0"/>
                        </a:spcAft>
                        <a:buClr>
                          <a:schemeClr val="dk1"/>
                        </a:buClr>
                        <a:buSzPts val="600"/>
                        <a:buChar char="●"/>
                      </a:pPr>
                      <a:r>
                        <a:rPr lang="en" sz="600">
                          <a:solidFill>
                            <a:schemeClr val="dk1"/>
                          </a:solidFill>
                        </a:rPr>
                        <a:t>Challenge: Partners lacking incentive to drive cross technology use cases and needed support from Incentives team</a:t>
                      </a:r>
                      <a:endParaRPr sz="600">
                        <a:solidFill>
                          <a:schemeClr val="dk1"/>
                        </a:solidFill>
                      </a:endParaRPr>
                    </a:p>
                    <a:p>
                      <a:pPr marL="457200" lvl="0" indent="-266700" algn="l" rtl="0">
                        <a:spcBef>
                          <a:spcPts val="0"/>
                        </a:spcBef>
                        <a:spcAft>
                          <a:spcPts val="0"/>
                        </a:spcAft>
                        <a:buClr>
                          <a:schemeClr val="dk1"/>
                        </a:buClr>
                        <a:buSzPts val="600"/>
                        <a:buChar char="●"/>
                      </a:pPr>
                      <a:r>
                        <a:rPr lang="en" sz="600">
                          <a:solidFill>
                            <a:schemeClr val="dk1"/>
                          </a:solidFill>
                        </a:rPr>
                        <a:t>How : Influence through Solution rewards incentive, interop message</a:t>
                      </a:r>
                      <a:endParaRPr sz="6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graphicFrame>
        <p:nvGraphicFramePr>
          <p:cNvPr id="155" name="Google Shape;155;p30"/>
          <p:cNvGraphicFramePr/>
          <p:nvPr/>
        </p:nvGraphicFramePr>
        <p:xfrm>
          <a:off x="77375" y="38450"/>
          <a:ext cx="9007000" cy="5014500"/>
        </p:xfrm>
        <a:graphic>
          <a:graphicData uri="http://schemas.openxmlformats.org/drawingml/2006/table">
            <a:tbl>
              <a:tblPr>
                <a:noFill/>
                <a:tableStyleId>{3216DD8F-D192-47E8-9425-CEED70C932B8}</a:tableStyleId>
              </a:tblPr>
              <a:tblGrid>
                <a:gridCol w="701450">
                  <a:extLst>
                    <a:ext uri="{9D8B030D-6E8A-4147-A177-3AD203B41FA5}">
                      <a16:colId xmlns:a16="http://schemas.microsoft.com/office/drawing/2014/main" val="20000"/>
                    </a:ext>
                  </a:extLst>
                </a:gridCol>
                <a:gridCol w="1670425">
                  <a:extLst>
                    <a:ext uri="{9D8B030D-6E8A-4147-A177-3AD203B41FA5}">
                      <a16:colId xmlns:a16="http://schemas.microsoft.com/office/drawing/2014/main" val="20001"/>
                    </a:ext>
                  </a:extLst>
                </a:gridCol>
                <a:gridCol w="2719025">
                  <a:extLst>
                    <a:ext uri="{9D8B030D-6E8A-4147-A177-3AD203B41FA5}">
                      <a16:colId xmlns:a16="http://schemas.microsoft.com/office/drawing/2014/main" val="20002"/>
                    </a:ext>
                  </a:extLst>
                </a:gridCol>
                <a:gridCol w="2015425">
                  <a:extLst>
                    <a:ext uri="{9D8B030D-6E8A-4147-A177-3AD203B41FA5}">
                      <a16:colId xmlns:a16="http://schemas.microsoft.com/office/drawing/2014/main" val="20003"/>
                    </a:ext>
                  </a:extLst>
                </a:gridCol>
                <a:gridCol w="1900675">
                  <a:extLst>
                    <a:ext uri="{9D8B030D-6E8A-4147-A177-3AD203B41FA5}">
                      <a16:colId xmlns:a16="http://schemas.microsoft.com/office/drawing/2014/main" val="20004"/>
                    </a:ext>
                  </a:extLst>
                </a:gridCol>
              </a:tblGrid>
              <a:tr h="505725">
                <a:tc>
                  <a:txBody>
                    <a:bodyPr/>
                    <a:lstStyle/>
                    <a:p>
                      <a:pPr marL="0" lvl="0" indent="0" algn="ctr" rtl="0">
                        <a:spcBef>
                          <a:spcPts val="0"/>
                        </a:spcBef>
                        <a:spcAft>
                          <a:spcPts val="0"/>
                        </a:spcAft>
                        <a:buNone/>
                      </a:pPr>
                      <a:r>
                        <a:rPr lang="en" sz="650" b="1"/>
                        <a:t>Leadership Principle</a:t>
                      </a:r>
                      <a:endParaRPr sz="650" b="1"/>
                    </a:p>
                  </a:txBody>
                  <a:tcPr marL="91425" marR="91425" marT="91425" marB="91425" anchor="ctr"/>
                </a:tc>
                <a:tc>
                  <a:txBody>
                    <a:bodyPr/>
                    <a:lstStyle/>
                    <a:p>
                      <a:pPr marL="0" lvl="0" indent="0" algn="ctr" rtl="0">
                        <a:spcBef>
                          <a:spcPts val="0"/>
                        </a:spcBef>
                        <a:spcAft>
                          <a:spcPts val="0"/>
                        </a:spcAft>
                        <a:buNone/>
                      </a:pPr>
                      <a:r>
                        <a:rPr lang="en" sz="650" b="1"/>
                        <a:t>Key Insights sought</a:t>
                      </a:r>
                      <a:endParaRPr sz="650" b="1"/>
                    </a:p>
                  </a:txBody>
                  <a:tcPr marL="91425" marR="91425" marT="91425" marB="91425" anchor="ctr"/>
                </a:tc>
                <a:tc>
                  <a:txBody>
                    <a:bodyPr/>
                    <a:lstStyle/>
                    <a:p>
                      <a:pPr marL="0" lvl="0" indent="0" algn="ctr" rtl="0">
                        <a:spcBef>
                          <a:spcPts val="0"/>
                        </a:spcBef>
                        <a:spcAft>
                          <a:spcPts val="0"/>
                        </a:spcAft>
                        <a:buNone/>
                      </a:pPr>
                      <a:r>
                        <a:rPr lang="en" sz="650" b="1"/>
                        <a:t>Primary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Secondary Example/Project</a:t>
                      </a:r>
                      <a:endParaRPr sz="650" b="1"/>
                    </a:p>
                  </a:txBody>
                  <a:tcPr marL="91425" marR="91425" marT="91425" marB="91425" anchor="ctr"/>
                </a:tc>
                <a:tc>
                  <a:txBody>
                    <a:bodyPr/>
                    <a:lstStyle/>
                    <a:p>
                      <a:pPr marL="0" lvl="0" indent="0" algn="ctr" rtl="0">
                        <a:spcBef>
                          <a:spcPts val="0"/>
                        </a:spcBef>
                        <a:spcAft>
                          <a:spcPts val="0"/>
                        </a:spcAft>
                        <a:buNone/>
                      </a:pPr>
                      <a:r>
                        <a:rPr lang="en" sz="650" b="1"/>
                        <a:t>3rd &amp; 4th Preferred Project Example</a:t>
                      </a:r>
                      <a:endParaRPr sz="650" b="1"/>
                    </a:p>
                  </a:txBody>
                  <a:tcPr marL="91425" marR="91425" marT="91425" marB="91425" anchor="ctr"/>
                </a:tc>
                <a:extLst>
                  <a:ext uri="{0D108BD9-81ED-4DB2-BD59-A6C34878D82A}">
                    <a16:rowId xmlns:a16="http://schemas.microsoft.com/office/drawing/2014/main" val="10000"/>
                  </a:ext>
                </a:extLst>
              </a:tr>
              <a:tr h="1502925">
                <a:tc>
                  <a:txBody>
                    <a:bodyPr/>
                    <a:lstStyle/>
                    <a:p>
                      <a:pPr marL="0" lvl="0" indent="0" algn="ctr" rtl="0">
                        <a:spcBef>
                          <a:spcPts val="0"/>
                        </a:spcBef>
                        <a:spcAft>
                          <a:spcPts val="0"/>
                        </a:spcAft>
                        <a:buNone/>
                      </a:pPr>
                      <a:r>
                        <a:rPr lang="en" sz="650" b="1"/>
                        <a:t>Deliver Results</a:t>
                      </a:r>
                      <a:endParaRPr sz="650" b="1"/>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69875" algn="l" rtl="0">
                        <a:spcBef>
                          <a:spcPts val="0"/>
                        </a:spcBef>
                        <a:spcAft>
                          <a:spcPts val="0"/>
                        </a:spcAft>
                        <a:buSzPts val="650"/>
                        <a:buChar char="●"/>
                      </a:pPr>
                      <a:r>
                        <a:rPr lang="en" sz="650"/>
                        <a:t>Challenging situation and how you handled/overcame  it</a:t>
                      </a:r>
                      <a:endParaRPr sz="650"/>
                    </a:p>
                    <a:p>
                      <a:pPr marL="457200" lvl="0" indent="-269875" algn="l" rtl="0">
                        <a:spcBef>
                          <a:spcPts val="0"/>
                        </a:spcBef>
                        <a:spcAft>
                          <a:spcPts val="0"/>
                        </a:spcAft>
                        <a:buClr>
                          <a:srgbClr val="FF0000"/>
                        </a:buClr>
                        <a:buSzPts val="650"/>
                        <a:buChar char="●"/>
                      </a:pPr>
                      <a:r>
                        <a:rPr lang="en" sz="650">
                          <a:solidFill>
                            <a:srgbClr val="FF0000"/>
                          </a:solidFill>
                        </a:rPr>
                        <a:t>Team gave up, you pushed for results</a:t>
                      </a:r>
                      <a:endParaRPr sz="650">
                        <a:solidFill>
                          <a:srgbClr val="FF0000"/>
                        </a:solidFill>
                      </a:endParaRPr>
                    </a:p>
                    <a:p>
                      <a:pPr marL="457200" lvl="0" indent="-269875" algn="l" rtl="0">
                        <a:spcBef>
                          <a:spcPts val="0"/>
                        </a:spcBef>
                        <a:spcAft>
                          <a:spcPts val="0"/>
                        </a:spcAft>
                        <a:buClr>
                          <a:schemeClr val="dk1"/>
                        </a:buClr>
                        <a:buSzPts val="650"/>
                        <a:buChar char="●"/>
                      </a:pPr>
                      <a:r>
                        <a:rPr lang="en" sz="650">
                          <a:solidFill>
                            <a:schemeClr val="dk1"/>
                          </a:solidFill>
                        </a:rPr>
                        <a:t>Example when you had to handle variety of assignments and what was outcome</a:t>
                      </a:r>
                      <a:endParaRPr sz="65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chemeClr val="dk1"/>
                          </a:solidFill>
                        </a:rPr>
                        <a:t>O365</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Customers migrating apps to cloud but because of backhaul running into poor user experience. VP supportive but GM Approval required given OCEDO SD-LAN wireless acquisition.. Focus was heavily on OCEDO integration and VP/team gave up on GM approval</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Cloud first &amp; hybrid segment focus over onprem customers. Scale through O365 Network partner program : validated customer problem, overlap with MSFT 0365 customer base, differentiation/time to market. Potential significant revenue driver with co-market offering</a:t>
                      </a:r>
                      <a:endParaRPr sz="65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chemeClr val="dk1"/>
                          </a:solidFill>
                        </a:rPr>
                        <a:t>vRNI SDWAN:</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Challenge : Team was almost giving up on SDWAN attach motion</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How : Drove comprehensively</a:t>
                      </a:r>
                      <a:endParaRPr sz="65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650" b="1">
                          <a:solidFill>
                            <a:srgbClr val="222222"/>
                          </a:solidFill>
                        </a:rPr>
                        <a:t>UKI CSCO:</a:t>
                      </a:r>
                      <a:endParaRPr sz="650" b="1">
                        <a:solidFill>
                          <a:srgbClr val="222222"/>
                        </a:solidFill>
                      </a:endParaRPr>
                    </a:p>
                    <a:p>
                      <a:pPr marL="457200" lvl="0" indent="-269875" algn="l" rtl="0">
                        <a:spcBef>
                          <a:spcPts val="0"/>
                        </a:spcBef>
                        <a:spcAft>
                          <a:spcPts val="0"/>
                        </a:spcAft>
                        <a:buClr>
                          <a:schemeClr val="dk1"/>
                        </a:buClr>
                        <a:buSzPts val="650"/>
                        <a:buChar char="●"/>
                      </a:pPr>
                      <a:r>
                        <a:rPr lang="en" sz="650">
                          <a:solidFill>
                            <a:schemeClr val="dk1"/>
                          </a:solidFill>
                        </a:rPr>
                        <a:t>Challenge : Need to build trust with UKI leader as they want to grow in net new markets. Incumbent Cisco displacement to capture white space. </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vRNIC premium product and sled discounted skus were still not enough</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New fenced skus : Target list of partners for target list of customer accounts only</a:t>
                      </a:r>
                      <a:endParaRPr sz="650" b="1"/>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02925">
                <a:tc>
                  <a:txBody>
                    <a:bodyPr/>
                    <a:lstStyle/>
                    <a:p>
                      <a:pPr marL="0" lvl="0" indent="0" algn="ctr" rtl="0">
                        <a:spcBef>
                          <a:spcPts val="0"/>
                        </a:spcBef>
                        <a:spcAft>
                          <a:spcPts val="0"/>
                        </a:spcAft>
                        <a:buNone/>
                      </a:pPr>
                      <a:r>
                        <a:rPr lang="en" sz="650" b="1"/>
                        <a:t>Learn &amp; Be Curious</a:t>
                      </a:r>
                      <a:endParaRPr sz="65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69875" algn="l" rtl="0">
                        <a:spcBef>
                          <a:spcPts val="0"/>
                        </a:spcBef>
                        <a:spcAft>
                          <a:spcPts val="0"/>
                        </a:spcAft>
                        <a:buSzPts val="650"/>
                        <a:buChar char="●"/>
                      </a:pPr>
                      <a:r>
                        <a:rPr lang="en" sz="650"/>
                        <a:t>Mostly Follow-up Question</a:t>
                      </a:r>
                      <a:endParaRPr sz="650"/>
                    </a:p>
                    <a:p>
                      <a:pPr marL="457200" lvl="0" indent="-269875" algn="l" rtl="0">
                        <a:spcBef>
                          <a:spcPts val="0"/>
                        </a:spcBef>
                        <a:spcAft>
                          <a:spcPts val="0"/>
                        </a:spcAft>
                        <a:buSzPts val="650"/>
                        <a:buChar char="●"/>
                      </a:pPr>
                      <a:r>
                        <a:rPr lang="en" sz="650"/>
                        <a:t>Needed Deeper Level SME to do job</a:t>
                      </a:r>
                      <a:endParaRPr sz="650"/>
                    </a:p>
                    <a:p>
                      <a:pPr marL="457200" lvl="0" indent="-269875" algn="l" rtl="0">
                        <a:spcBef>
                          <a:spcPts val="0"/>
                        </a:spcBef>
                        <a:spcAft>
                          <a:spcPts val="0"/>
                        </a:spcAft>
                        <a:buSzPts val="650"/>
                        <a:buChar char="●"/>
                      </a:pPr>
                      <a:r>
                        <a:rPr lang="en" sz="650"/>
                        <a:t>Outside of Comfort Area</a:t>
                      </a:r>
                      <a:endParaRPr sz="650"/>
                    </a:p>
                    <a:p>
                      <a:pPr marL="457200" lvl="0" indent="-269875" algn="l" rtl="0">
                        <a:spcBef>
                          <a:spcPts val="0"/>
                        </a:spcBef>
                        <a:spcAft>
                          <a:spcPts val="0"/>
                        </a:spcAft>
                        <a:buSzPts val="650"/>
                        <a:buChar char="●"/>
                      </a:pPr>
                      <a:r>
                        <a:rPr lang="en" sz="650"/>
                        <a:t>Important lesson you learned over past year</a:t>
                      </a:r>
                      <a:endParaRPr sz="650"/>
                    </a:p>
                    <a:p>
                      <a:pPr marL="457200" lvl="0" indent="-269875" algn="l" rtl="0">
                        <a:spcBef>
                          <a:spcPts val="0"/>
                        </a:spcBef>
                        <a:spcAft>
                          <a:spcPts val="0"/>
                        </a:spcAft>
                        <a:buSzPts val="650"/>
                        <a:buChar char="●"/>
                      </a:pPr>
                      <a:r>
                        <a:rPr lang="en" sz="650"/>
                        <a:t>Changed way of your thinking</a:t>
                      </a:r>
                      <a:endParaRPr sz="650"/>
                    </a:p>
                    <a:p>
                      <a:pPr marL="457200" lvl="0" indent="-269875" algn="l" rtl="0">
                        <a:spcBef>
                          <a:spcPts val="0"/>
                        </a:spcBef>
                        <a:spcAft>
                          <a:spcPts val="0"/>
                        </a:spcAft>
                        <a:buSzPts val="650"/>
                        <a:buChar char="●"/>
                      </a:pPr>
                      <a:r>
                        <a:rPr lang="en" sz="650"/>
                        <a:t>Smarter decision with help of curiosity</a:t>
                      </a:r>
                      <a:endParaRPr sz="65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chemeClr val="dk1"/>
                          </a:solidFill>
                        </a:rPr>
                        <a:t>Steelconnect Competitive</a:t>
                      </a:r>
                      <a:endParaRPr sz="650" b="1">
                        <a:solidFill>
                          <a:schemeClr val="dk1"/>
                        </a:solidFill>
                      </a:endParaRPr>
                    </a:p>
                    <a:p>
                      <a:pPr marL="457200" lvl="0" indent="-269875" algn="l" rtl="0">
                        <a:spcBef>
                          <a:spcPts val="0"/>
                        </a:spcBef>
                        <a:spcAft>
                          <a:spcPts val="0"/>
                        </a:spcAft>
                        <a:buSzPts val="650"/>
                        <a:buChar char="●"/>
                      </a:pPr>
                      <a:r>
                        <a:rPr lang="en" sz="650">
                          <a:solidFill>
                            <a:schemeClr val="dk1"/>
                          </a:solidFill>
                        </a:rPr>
                        <a:t>Not just one dimensional Product but built comprehensive framework around Corp strategy/GTM/Partnerships/PnP etc.</a:t>
                      </a:r>
                      <a:endParaRPr sz="650">
                        <a:solidFill>
                          <a:schemeClr val="dk1"/>
                        </a:solidFill>
                      </a:endParaRPr>
                    </a:p>
                    <a:p>
                      <a:pPr marL="0" lvl="0" indent="0" algn="l" rtl="0">
                        <a:spcBef>
                          <a:spcPts val="0"/>
                        </a:spcBef>
                        <a:spcAft>
                          <a:spcPts val="0"/>
                        </a:spcAft>
                        <a:buNone/>
                      </a:pPr>
                      <a:endParaRPr sz="650" b="1">
                        <a:solidFill>
                          <a:schemeClr val="dk1"/>
                        </a:solidFill>
                      </a:endParaRPr>
                    </a:p>
                    <a:p>
                      <a:pPr marL="0" lvl="0" indent="0" algn="l" rtl="0">
                        <a:spcBef>
                          <a:spcPts val="0"/>
                        </a:spcBef>
                        <a:spcAft>
                          <a:spcPts val="0"/>
                        </a:spcAft>
                        <a:buNone/>
                      </a:pPr>
                      <a:r>
                        <a:rPr lang="en" sz="650" b="1">
                          <a:solidFill>
                            <a:schemeClr val="dk1"/>
                          </a:solidFill>
                        </a:rPr>
                        <a:t>Steelconnect RFP:</a:t>
                      </a: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solidFill>
                            <a:schemeClr val="dk1"/>
                          </a:solidFill>
                        </a:rPr>
                        <a:t>AWW</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New Business &amp; Technology Exposure</a:t>
                      </a:r>
                      <a:endParaRPr sz="650">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Key Use cases, Differentiation, Competitive Landscape, Eco-system play</a:t>
                      </a: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t>Boomerang </a:t>
                      </a:r>
                      <a:r>
                        <a:rPr lang="en" sz="650" b="1">
                          <a:solidFill>
                            <a:schemeClr val="dk1"/>
                          </a:solidFill>
                        </a:rPr>
                        <a:t>Operations Project</a:t>
                      </a:r>
                      <a:endParaRPr sz="650" b="1">
                        <a:solidFill>
                          <a:schemeClr val="dk1"/>
                        </a:solidFill>
                      </a:endParaRPr>
                    </a:p>
                    <a:p>
                      <a:pPr marL="457200" lvl="0" indent="-269875" algn="l" rtl="0">
                        <a:spcBef>
                          <a:spcPts val="0"/>
                        </a:spcBef>
                        <a:spcAft>
                          <a:spcPts val="0"/>
                        </a:spcAft>
                        <a:buClr>
                          <a:schemeClr val="dk1"/>
                        </a:buClr>
                        <a:buSzPts val="650"/>
                        <a:buChar char="●"/>
                      </a:pPr>
                      <a:r>
                        <a:rPr lang="en" sz="650">
                          <a:solidFill>
                            <a:schemeClr val="dk1"/>
                          </a:solidFill>
                        </a:rPr>
                        <a:t>Waste $ on Support tickets with RMAs coming back </a:t>
                      </a:r>
                      <a:endParaRPr sz="650">
                        <a:solidFill>
                          <a:schemeClr val="dk1"/>
                        </a:solidFill>
                      </a:endParaRPr>
                    </a:p>
                    <a:p>
                      <a:pPr marL="457200" lvl="0" indent="-269875" algn="l" rtl="0">
                        <a:spcBef>
                          <a:spcPts val="0"/>
                        </a:spcBef>
                        <a:spcAft>
                          <a:spcPts val="0"/>
                        </a:spcAft>
                        <a:buSzPts val="650"/>
                        <a:buChar char="●"/>
                      </a:pPr>
                      <a:r>
                        <a:rPr lang="en" sz="650">
                          <a:solidFill>
                            <a:schemeClr val="dk1"/>
                          </a:solidFill>
                        </a:rPr>
                        <a:t>Identified Critical accounts, Enabled Support teams and Acco</a:t>
                      </a:r>
                      <a:r>
                        <a:rPr lang="en" sz="650"/>
                        <a:t>unt teams on the patterns to avoid</a:t>
                      </a:r>
                      <a:endParaRPr sz="650"/>
                    </a:p>
                    <a:p>
                      <a:pPr marL="457200" lvl="0" indent="-269875" algn="l" rtl="0">
                        <a:spcBef>
                          <a:spcPts val="0"/>
                        </a:spcBef>
                        <a:spcAft>
                          <a:spcPts val="0"/>
                        </a:spcAft>
                        <a:buSzPts val="650"/>
                        <a:buChar char="●"/>
                      </a:pPr>
                      <a:r>
                        <a:rPr lang="en" sz="650"/>
                        <a:t>Impacted $25M</a:t>
                      </a: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502925">
                <a:tc>
                  <a:txBody>
                    <a:bodyPr/>
                    <a:lstStyle/>
                    <a:p>
                      <a:pPr marL="0" lvl="0" indent="0" algn="ctr" rtl="0">
                        <a:spcBef>
                          <a:spcPts val="0"/>
                        </a:spcBef>
                        <a:spcAft>
                          <a:spcPts val="0"/>
                        </a:spcAft>
                        <a:buNone/>
                      </a:pPr>
                      <a:r>
                        <a:rPr lang="en" sz="650" b="1"/>
                        <a:t>Invent &amp; Simplify</a:t>
                      </a:r>
                      <a:endParaRPr sz="65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69875" algn="l" rtl="0">
                        <a:spcBef>
                          <a:spcPts val="0"/>
                        </a:spcBef>
                        <a:spcAft>
                          <a:spcPts val="0"/>
                        </a:spcAft>
                        <a:buSzPts val="650"/>
                        <a:buChar char="●"/>
                      </a:pPr>
                      <a:r>
                        <a:rPr lang="en" sz="650"/>
                        <a:t>Complex problem with simple solution</a:t>
                      </a:r>
                      <a:endParaRPr sz="650"/>
                    </a:p>
                    <a:p>
                      <a:pPr marL="457200" lvl="0" indent="-269875" algn="l" rtl="0">
                        <a:spcBef>
                          <a:spcPts val="0"/>
                        </a:spcBef>
                        <a:spcAft>
                          <a:spcPts val="0"/>
                        </a:spcAft>
                        <a:buSzPts val="650"/>
                        <a:buChar char="●"/>
                      </a:pPr>
                      <a:r>
                        <a:rPr lang="en" sz="650"/>
                        <a:t>Most innovative thing you have done</a:t>
                      </a:r>
                      <a:endParaRPr sz="650"/>
                    </a:p>
                    <a:p>
                      <a:pPr marL="457200" lvl="0" indent="-269875" algn="l" rtl="0">
                        <a:spcBef>
                          <a:spcPts val="0"/>
                        </a:spcBef>
                        <a:spcAft>
                          <a:spcPts val="0"/>
                        </a:spcAft>
                        <a:buSzPts val="650"/>
                        <a:buChar char="●"/>
                      </a:pPr>
                      <a:r>
                        <a:rPr lang="en" sz="650"/>
                        <a:t>Simplify a process but failed. What would you do differently</a:t>
                      </a:r>
                      <a:endParaRPr sz="65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t>Steelconnect Competitive framework</a:t>
                      </a:r>
                      <a:endParaRPr sz="650" b="1"/>
                    </a:p>
                    <a:p>
                      <a:pPr marL="457200" lvl="0" indent="-269875" algn="l" rtl="0">
                        <a:spcBef>
                          <a:spcPts val="0"/>
                        </a:spcBef>
                        <a:spcAft>
                          <a:spcPts val="0"/>
                        </a:spcAft>
                        <a:buSzPts val="650"/>
                        <a:buChar char="●"/>
                      </a:pPr>
                      <a:r>
                        <a:rPr lang="en" sz="650"/>
                        <a:t>Challenge : Beat Competition and Get well plan to understand tactics &amp; strategy of competition</a:t>
                      </a:r>
                      <a:endParaRPr sz="650"/>
                    </a:p>
                    <a:p>
                      <a:pPr marL="457200" lvl="0" indent="-269875" algn="l" rtl="0">
                        <a:spcBef>
                          <a:spcPts val="0"/>
                        </a:spcBef>
                        <a:spcAft>
                          <a:spcPts val="0"/>
                        </a:spcAft>
                        <a:buSzPts val="650"/>
                        <a:buChar char="●"/>
                      </a:pPr>
                      <a:r>
                        <a:rPr lang="en" sz="650"/>
                        <a:t>How : Design comprehensive framework that incorporates beyond Product capabilities with Business/Alliances/PnP/Events/Partnerships/New Exec hires</a:t>
                      </a:r>
                      <a:endParaRPr sz="65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650" b="1"/>
                        <a:t>Steelconnect Field Inquiry:</a:t>
                      </a:r>
                      <a:endParaRPr sz="650" b="1"/>
                    </a:p>
                    <a:p>
                      <a:pPr marL="457200" lvl="0" indent="-269875" algn="l" rtl="0">
                        <a:spcBef>
                          <a:spcPts val="0"/>
                        </a:spcBef>
                        <a:spcAft>
                          <a:spcPts val="0"/>
                        </a:spcAft>
                        <a:buSzPts val="650"/>
                        <a:buChar char="●"/>
                      </a:pPr>
                      <a:r>
                        <a:rPr lang="en" sz="650"/>
                        <a:t>Challenge: Lack of clear clear ownership leading to delays in supporting sales teams</a:t>
                      </a:r>
                      <a:endParaRPr sz="650"/>
                    </a:p>
                    <a:p>
                      <a:pPr marL="457200" lvl="0" indent="-269875" algn="l" rtl="0">
                        <a:spcBef>
                          <a:spcPts val="0"/>
                        </a:spcBef>
                        <a:spcAft>
                          <a:spcPts val="0"/>
                        </a:spcAft>
                        <a:buSzPts val="650"/>
                        <a:buChar char="●"/>
                      </a:pPr>
                      <a:r>
                        <a:rPr lang="en" sz="650"/>
                        <a:t>How : Simple framework that categories diff problems/asks : RFx, Pricing, Tech qualification, Design &amp; POC. And map tiered escalation process and ownership</a:t>
                      </a: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65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940"/>
              <a:t>AWS Leadership Principles : Insights &amp; Questions</a:t>
            </a:r>
            <a:endParaRPr sz="294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aphicFrame>
        <p:nvGraphicFramePr>
          <p:cNvPr id="165" name="Google Shape;165;p32"/>
          <p:cNvGraphicFramePr/>
          <p:nvPr/>
        </p:nvGraphicFramePr>
        <p:xfrm>
          <a:off x="83463" y="25950"/>
          <a:ext cx="3000000" cy="3000000"/>
        </p:xfrm>
        <a:graphic>
          <a:graphicData uri="http://schemas.openxmlformats.org/drawingml/2006/table">
            <a:tbl>
              <a:tblPr>
                <a:noFill/>
                <a:tableStyleId>{3216DD8F-D192-47E8-9425-CEED70C932B8}</a:tableStyleId>
              </a:tblPr>
              <a:tblGrid>
                <a:gridCol w="677350">
                  <a:extLst>
                    <a:ext uri="{9D8B030D-6E8A-4147-A177-3AD203B41FA5}">
                      <a16:colId xmlns:a16="http://schemas.microsoft.com/office/drawing/2014/main" val="20000"/>
                    </a:ext>
                  </a:extLst>
                </a:gridCol>
                <a:gridCol w="1952925">
                  <a:extLst>
                    <a:ext uri="{9D8B030D-6E8A-4147-A177-3AD203B41FA5}">
                      <a16:colId xmlns:a16="http://schemas.microsoft.com/office/drawing/2014/main" val="20001"/>
                    </a:ext>
                  </a:extLst>
                </a:gridCol>
                <a:gridCol w="819225">
                  <a:extLst>
                    <a:ext uri="{9D8B030D-6E8A-4147-A177-3AD203B41FA5}">
                      <a16:colId xmlns:a16="http://schemas.microsoft.com/office/drawing/2014/main" val="20002"/>
                    </a:ext>
                  </a:extLst>
                </a:gridCol>
                <a:gridCol w="2535225">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gridCol w="2293825">
                  <a:extLst>
                    <a:ext uri="{9D8B030D-6E8A-4147-A177-3AD203B41FA5}">
                      <a16:colId xmlns:a16="http://schemas.microsoft.com/office/drawing/2014/main" val="20005"/>
                    </a:ext>
                  </a:extLst>
                </a:gridCol>
              </a:tblGrid>
              <a:tr h="1126475">
                <a:tc>
                  <a:txBody>
                    <a:bodyPr/>
                    <a:lstStyle/>
                    <a:p>
                      <a:pPr marL="0" lvl="0" indent="0" algn="ctr" rtl="0">
                        <a:spcBef>
                          <a:spcPts val="0"/>
                        </a:spcBef>
                        <a:spcAft>
                          <a:spcPts val="0"/>
                        </a:spcAft>
                        <a:buNone/>
                      </a:pPr>
                      <a:r>
                        <a:rPr lang="en" sz="700" b="1"/>
                        <a:t>Customer obsession</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Difficult interaction</a:t>
                      </a:r>
                      <a:endParaRPr sz="700"/>
                    </a:p>
                    <a:p>
                      <a:pPr marL="457200" lvl="0" indent="-273050" algn="l" rtl="0">
                        <a:spcBef>
                          <a:spcPts val="0"/>
                        </a:spcBef>
                        <a:spcAft>
                          <a:spcPts val="0"/>
                        </a:spcAft>
                        <a:buSzPts val="700"/>
                        <a:buChar char="●"/>
                      </a:pPr>
                      <a:r>
                        <a:rPr lang="en" sz="700"/>
                        <a:t>Above &amp; Beyond</a:t>
                      </a:r>
                      <a:endParaRPr sz="700"/>
                    </a:p>
                    <a:p>
                      <a:pPr marL="457200" lvl="0" indent="-273050" algn="l" rtl="0">
                        <a:spcBef>
                          <a:spcPts val="0"/>
                        </a:spcBef>
                        <a:spcAft>
                          <a:spcPts val="0"/>
                        </a:spcAft>
                        <a:buSzPts val="700"/>
                        <a:buChar char="●"/>
                      </a:pPr>
                      <a:r>
                        <a:rPr lang="en" sz="700"/>
                        <a:t>Didn’t meet expectations</a:t>
                      </a:r>
                      <a:endParaRPr sz="700"/>
                    </a:p>
                    <a:p>
                      <a:pPr marL="457200" lvl="0" indent="-273050" algn="l" rtl="0">
                        <a:spcBef>
                          <a:spcPts val="0"/>
                        </a:spcBef>
                        <a:spcAft>
                          <a:spcPts val="0"/>
                        </a:spcAft>
                        <a:buSzPts val="700"/>
                        <a:buChar char="●"/>
                      </a:pPr>
                      <a:r>
                        <a:rPr lang="en" sz="700"/>
                        <a:t>Prioritizing customer needs</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Dive Deep</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Deep analysis to understand root cause of the problem</a:t>
                      </a:r>
                      <a:endParaRPr sz="700"/>
                    </a:p>
                    <a:p>
                      <a:pPr marL="457200" lvl="0" indent="-273050" algn="l" rtl="0">
                        <a:spcBef>
                          <a:spcPts val="0"/>
                        </a:spcBef>
                        <a:spcAft>
                          <a:spcPts val="0"/>
                        </a:spcAft>
                        <a:buSzPts val="700"/>
                        <a:buChar char="●"/>
                      </a:pPr>
                      <a:r>
                        <a:rPr lang="en" sz="700"/>
                        <a:t>Complicated problem and how do you know you are focusing on the right problem</a:t>
                      </a:r>
                      <a:endParaRPr sz="700"/>
                    </a:p>
                    <a:p>
                      <a:pPr marL="457200" lvl="0" indent="-273050" algn="l" rtl="0">
                        <a:spcBef>
                          <a:spcPts val="0"/>
                        </a:spcBef>
                        <a:spcAft>
                          <a:spcPts val="0"/>
                        </a:spcAft>
                        <a:buSzPts val="700"/>
                        <a:buChar char="●"/>
                      </a:pPr>
                      <a:r>
                        <a:rPr lang="en" sz="700"/>
                        <a:t>Utilized in-depth data to develop a solution</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Deliver Results</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Challenging situation and how you handled/overcame  it</a:t>
                      </a:r>
                      <a:endParaRPr sz="700"/>
                    </a:p>
                    <a:p>
                      <a:pPr marL="457200" lvl="0" indent="-273050" algn="l" rtl="0">
                        <a:spcBef>
                          <a:spcPts val="0"/>
                        </a:spcBef>
                        <a:spcAft>
                          <a:spcPts val="0"/>
                        </a:spcAft>
                        <a:buClr>
                          <a:srgbClr val="FF0000"/>
                        </a:buClr>
                        <a:buSzPts val="700"/>
                        <a:buChar char="●"/>
                      </a:pPr>
                      <a:r>
                        <a:rPr lang="en" sz="700">
                          <a:solidFill>
                            <a:srgbClr val="FF0000"/>
                          </a:solidFill>
                        </a:rPr>
                        <a:t>Team gave up, you pushed for results</a:t>
                      </a:r>
                      <a:endParaRPr sz="700">
                        <a:solidFill>
                          <a:srgbClr val="FF0000"/>
                        </a:solidFill>
                      </a:endParaRPr>
                    </a:p>
                    <a:p>
                      <a:pPr marL="457200" lvl="0" indent="-273050" algn="l" rtl="0">
                        <a:spcBef>
                          <a:spcPts val="0"/>
                        </a:spcBef>
                        <a:spcAft>
                          <a:spcPts val="0"/>
                        </a:spcAft>
                        <a:buClr>
                          <a:schemeClr val="dk1"/>
                        </a:buClr>
                        <a:buSzPts val="700"/>
                        <a:buChar char="●"/>
                      </a:pPr>
                      <a:r>
                        <a:rPr lang="en" sz="700">
                          <a:solidFill>
                            <a:schemeClr val="dk1"/>
                          </a:solidFill>
                        </a:rPr>
                        <a:t>Example when you had to handle variety of assignments and what was outcome</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208225">
                <a:tc>
                  <a:txBody>
                    <a:bodyPr/>
                    <a:lstStyle/>
                    <a:p>
                      <a:pPr marL="0" lvl="0" indent="0" algn="ctr" rtl="0">
                        <a:spcBef>
                          <a:spcPts val="0"/>
                        </a:spcBef>
                        <a:spcAft>
                          <a:spcPts val="0"/>
                        </a:spcAft>
                        <a:buNone/>
                      </a:pPr>
                      <a:r>
                        <a:rPr lang="en" sz="700" b="1"/>
                        <a:t>Think Big</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Most significant professional achievement</a:t>
                      </a:r>
                      <a:endParaRPr sz="700"/>
                    </a:p>
                    <a:p>
                      <a:pPr marL="457200" lvl="0" indent="-273050" algn="l" rtl="0">
                        <a:spcBef>
                          <a:spcPts val="0"/>
                        </a:spcBef>
                        <a:spcAft>
                          <a:spcPts val="0"/>
                        </a:spcAft>
                        <a:buSzPts val="700"/>
                        <a:buChar char="●"/>
                      </a:pPr>
                      <a:r>
                        <a:rPr lang="en" sz="700"/>
                        <a:t>Vision led to great impact</a:t>
                      </a:r>
                      <a:endParaRPr sz="700"/>
                    </a:p>
                    <a:p>
                      <a:pPr marL="457200" lvl="0" indent="-273050" algn="l" rtl="0">
                        <a:spcBef>
                          <a:spcPts val="0"/>
                        </a:spcBef>
                        <a:spcAft>
                          <a:spcPts val="0"/>
                        </a:spcAft>
                        <a:buSzPts val="700"/>
                        <a:buChar char="●"/>
                      </a:pPr>
                      <a:r>
                        <a:rPr lang="en" sz="700"/>
                        <a:t>Bold direction led to outstanding results</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Have Backbone &amp; Disagree</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Disagree with approach but commit</a:t>
                      </a:r>
                      <a:endParaRPr sz="700"/>
                    </a:p>
                    <a:p>
                      <a:pPr marL="457200" lvl="0" indent="-273050" algn="l" rtl="0">
                        <a:spcBef>
                          <a:spcPts val="0"/>
                        </a:spcBef>
                        <a:spcAft>
                          <a:spcPts val="0"/>
                        </a:spcAft>
                        <a:buSzPts val="700"/>
                        <a:buChar char="●"/>
                      </a:pPr>
                      <a:r>
                        <a:rPr lang="en" sz="700"/>
                        <a:t>Something you believe, nobody does unpopular decision</a:t>
                      </a:r>
                      <a:endParaRPr sz="700"/>
                    </a:p>
                    <a:p>
                      <a:pPr marL="457200" lvl="0" indent="-273050" algn="l" rtl="0">
                        <a:spcBef>
                          <a:spcPts val="0"/>
                        </a:spcBef>
                        <a:spcAft>
                          <a:spcPts val="0"/>
                        </a:spcAft>
                        <a:buSzPts val="700"/>
                        <a:buChar char="●"/>
                      </a:pPr>
                      <a:r>
                        <a:rPr lang="en" sz="700"/>
                        <a:t>Halt project halfway through as it wasn’t headed in right direction</a:t>
                      </a:r>
                      <a:endParaRPr sz="700"/>
                    </a:p>
                    <a:p>
                      <a:pPr marL="457200" lvl="0" indent="-273050" algn="l" rtl="0">
                        <a:spcBef>
                          <a:spcPts val="0"/>
                        </a:spcBef>
                        <a:spcAft>
                          <a:spcPts val="0"/>
                        </a:spcAft>
                        <a:buSzPts val="700"/>
                        <a:buChar char="●"/>
                      </a:pPr>
                      <a:r>
                        <a:rPr lang="en" sz="700"/>
                        <a:t>Unpopular decision of yours</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Earn Trust</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Communicate change in direction</a:t>
                      </a:r>
                      <a:endParaRPr sz="700"/>
                    </a:p>
                    <a:p>
                      <a:pPr marL="457200" lvl="0" indent="-273050" algn="l" rtl="0">
                        <a:spcBef>
                          <a:spcPts val="0"/>
                        </a:spcBef>
                        <a:spcAft>
                          <a:spcPts val="0"/>
                        </a:spcAft>
                        <a:buSzPts val="700"/>
                        <a:buChar char="●"/>
                      </a:pPr>
                      <a:r>
                        <a:rPr lang="en" sz="700"/>
                        <a:t>Tough or critical piece of feedback received</a:t>
                      </a:r>
                      <a:endParaRPr sz="700"/>
                    </a:p>
                    <a:p>
                      <a:pPr marL="457200" lvl="0" indent="-273050" algn="l" rtl="0">
                        <a:spcBef>
                          <a:spcPts val="0"/>
                        </a:spcBef>
                        <a:spcAft>
                          <a:spcPts val="0"/>
                        </a:spcAft>
                        <a:buClr>
                          <a:srgbClr val="FF0000"/>
                        </a:buClr>
                        <a:buSzPts val="700"/>
                        <a:buChar char="●"/>
                      </a:pPr>
                      <a:r>
                        <a:rPr lang="en" sz="700">
                          <a:solidFill>
                            <a:srgbClr val="FF0000"/>
                          </a:solidFill>
                        </a:rPr>
                        <a:t>You put others interests before yours (teammates, customers, company)</a:t>
                      </a:r>
                      <a:endParaRPr sz="700">
                        <a:solidFill>
                          <a:srgbClr val="FF0000"/>
                        </a:solidFill>
                      </a:endParaRPr>
                    </a:p>
                    <a:p>
                      <a:pPr marL="457200" lvl="0" indent="-273050" algn="l" rtl="0">
                        <a:spcBef>
                          <a:spcPts val="0"/>
                        </a:spcBef>
                        <a:spcAft>
                          <a:spcPts val="0"/>
                        </a:spcAft>
                        <a:buClr>
                          <a:schemeClr val="dk1"/>
                        </a:buClr>
                        <a:buSzPts val="700"/>
                        <a:buChar char="●"/>
                      </a:pPr>
                      <a:r>
                        <a:rPr lang="en" sz="700">
                          <a:solidFill>
                            <a:schemeClr val="dk1"/>
                          </a:solidFill>
                        </a:rPr>
                        <a:t>Situation where you had to speak up in difficult or uncomfortable environment and what did you do to gain trust </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269250">
                <a:tc>
                  <a:txBody>
                    <a:bodyPr/>
                    <a:lstStyle/>
                    <a:p>
                      <a:pPr marL="0" lvl="0" indent="0" algn="ctr" rtl="0">
                        <a:spcBef>
                          <a:spcPts val="0"/>
                        </a:spcBef>
                        <a:spcAft>
                          <a:spcPts val="0"/>
                        </a:spcAft>
                        <a:buNone/>
                      </a:pPr>
                      <a:r>
                        <a:rPr lang="en" sz="700" b="1"/>
                        <a:t>Bias for Action</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60% data only available and rest hypothesis</a:t>
                      </a:r>
                      <a:endParaRPr sz="700"/>
                    </a:p>
                    <a:p>
                      <a:pPr marL="457200" lvl="0" indent="-273050" algn="l" rtl="0">
                        <a:spcBef>
                          <a:spcPts val="0"/>
                        </a:spcBef>
                        <a:spcAft>
                          <a:spcPts val="0"/>
                        </a:spcAft>
                        <a:buSzPts val="700"/>
                        <a:buChar char="●"/>
                      </a:pPr>
                      <a:r>
                        <a:rPr lang="en" sz="700"/>
                        <a:t>Calculated risk</a:t>
                      </a:r>
                      <a:endParaRPr sz="700"/>
                    </a:p>
                    <a:p>
                      <a:pPr marL="457200" lvl="0" indent="-273050" algn="l" rtl="0">
                        <a:spcBef>
                          <a:spcPts val="0"/>
                        </a:spcBef>
                        <a:spcAft>
                          <a:spcPts val="0"/>
                        </a:spcAft>
                        <a:buSzPts val="700"/>
                        <a:buChar char="●"/>
                      </a:pPr>
                      <a:r>
                        <a:rPr lang="en" sz="700"/>
                        <a:t>Info needed but stakeholder not responsive</a:t>
                      </a:r>
                      <a:endParaRPr sz="700"/>
                    </a:p>
                    <a:p>
                      <a:pPr marL="457200" lvl="0" indent="-273050" algn="l" rtl="0">
                        <a:spcBef>
                          <a:spcPts val="0"/>
                        </a:spcBef>
                        <a:spcAft>
                          <a:spcPts val="0"/>
                        </a:spcAft>
                        <a:buSzPts val="700"/>
                        <a:buChar char="●"/>
                      </a:pPr>
                      <a:r>
                        <a:rPr lang="en" sz="700"/>
                        <a:t>Value speed of execution</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Invent &amp; Simplify</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Complex problem with simple solution</a:t>
                      </a:r>
                      <a:endParaRPr sz="700"/>
                    </a:p>
                    <a:p>
                      <a:pPr marL="457200" lvl="0" indent="-273050" algn="l" rtl="0">
                        <a:spcBef>
                          <a:spcPts val="0"/>
                        </a:spcBef>
                        <a:spcAft>
                          <a:spcPts val="0"/>
                        </a:spcAft>
                        <a:buSzPts val="700"/>
                        <a:buChar char="●"/>
                      </a:pPr>
                      <a:r>
                        <a:rPr lang="en" sz="700"/>
                        <a:t>Most innovative thing you have done</a:t>
                      </a:r>
                      <a:endParaRPr sz="700"/>
                    </a:p>
                    <a:p>
                      <a:pPr marL="457200" lvl="0" indent="-273050" algn="l" rtl="0">
                        <a:spcBef>
                          <a:spcPts val="0"/>
                        </a:spcBef>
                        <a:spcAft>
                          <a:spcPts val="0"/>
                        </a:spcAft>
                        <a:buSzPts val="700"/>
                        <a:buChar char="●"/>
                      </a:pPr>
                      <a:r>
                        <a:rPr lang="en" sz="700"/>
                        <a:t>Simplify a process but failed. What would you do differently</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Learn &amp; Be Curious</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Mostly Follow-up Question</a:t>
                      </a:r>
                      <a:endParaRPr sz="700"/>
                    </a:p>
                    <a:p>
                      <a:pPr marL="457200" lvl="0" indent="-273050" algn="l" rtl="0">
                        <a:spcBef>
                          <a:spcPts val="0"/>
                        </a:spcBef>
                        <a:spcAft>
                          <a:spcPts val="0"/>
                        </a:spcAft>
                        <a:buSzPts val="700"/>
                        <a:buChar char="●"/>
                      </a:pPr>
                      <a:r>
                        <a:rPr lang="en" sz="700"/>
                        <a:t>Needed Deeper Level SME to do job</a:t>
                      </a:r>
                      <a:endParaRPr sz="700"/>
                    </a:p>
                    <a:p>
                      <a:pPr marL="457200" lvl="0" indent="-273050" algn="l" rtl="0">
                        <a:spcBef>
                          <a:spcPts val="0"/>
                        </a:spcBef>
                        <a:spcAft>
                          <a:spcPts val="0"/>
                        </a:spcAft>
                        <a:buSzPts val="700"/>
                        <a:buChar char="●"/>
                      </a:pPr>
                      <a:r>
                        <a:rPr lang="en" sz="700"/>
                        <a:t>Outside of Comfort Area</a:t>
                      </a:r>
                      <a:endParaRPr sz="700"/>
                    </a:p>
                    <a:p>
                      <a:pPr marL="457200" lvl="0" indent="-273050" algn="l" rtl="0">
                        <a:spcBef>
                          <a:spcPts val="0"/>
                        </a:spcBef>
                        <a:spcAft>
                          <a:spcPts val="0"/>
                        </a:spcAft>
                        <a:buSzPts val="700"/>
                        <a:buChar char="●"/>
                      </a:pPr>
                      <a:r>
                        <a:rPr lang="en" sz="700"/>
                        <a:t>Important lesson you learned over past year</a:t>
                      </a:r>
                      <a:endParaRPr sz="700"/>
                    </a:p>
                    <a:p>
                      <a:pPr marL="457200" lvl="0" indent="-273050" algn="l" rtl="0">
                        <a:spcBef>
                          <a:spcPts val="0"/>
                        </a:spcBef>
                        <a:spcAft>
                          <a:spcPts val="0"/>
                        </a:spcAft>
                        <a:buSzPts val="700"/>
                        <a:buChar char="●"/>
                      </a:pPr>
                      <a:r>
                        <a:rPr lang="en" sz="700"/>
                        <a:t>Changed way of your thinking</a:t>
                      </a:r>
                      <a:endParaRPr sz="700"/>
                    </a:p>
                    <a:p>
                      <a:pPr marL="457200" lvl="0" indent="-273050" algn="l" rtl="0">
                        <a:spcBef>
                          <a:spcPts val="0"/>
                        </a:spcBef>
                        <a:spcAft>
                          <a:spcPts val="0"/>
                        </a:spcAft>
                        <a:buSzPts val="700"/>
                        <a:buChar char="●"/>
                      </a:pPr>
                      <a:r>
                        <a:rPr lang="en" sz="700"/>
                        <a:t>Smarter decision with help of curiosity</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445700">
                <a:tc>
                  <a:txBody>
                    <a:bodyPr/>
                    <a:lstStyle/>
                    <a:p>
                      <a:pPr marL="0" lvl="0" indent="0" algn="ctr" rtl="0">
                        <a:spcBef>
                          <a:spcPts val="0"/>
                        </a:spcBef>
                        <a:spcAft>
                          <a:spcPts val="0"/>
                        </a:spcAft>
                        <a:buNone/>
                      </a:pPr>
                      <a:r>
                        <a:rPr lang="en" sz="700" b="1"/>
                        <a:t>Ownership</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Beyond your job responsibilities (Unclear responsibilities/Fix outside of your area)</a:t>
                      </a:r>
                      <a:endParaRPr sz="700"/>
                    </a:p>
                    <a:p>
                      <a:pPr marL="457200" lvl="0" indent="-273050" algn="l" rtl="0">
                        <a:spcBef>
                          <a:spcPts val="0"/>
                        </a:spcBef>
                        <a:spcAft>
                          <a:spcPts val="0"/>
                        </a:spcAft>
                        <a:buSzPts val="700"/>
                        <a:buChar char="●"/>
                      </a:pPr>
                      <a:r>
                        <a:rPr lang="en" sz="700"/>
                        <a:t>Long term value over short term success</a:t>
                      </a:r>
                      <a:endParaRPr sz="700"/>
                    </a:p>
                    <a:p>
                      <a:pPr marL="457200" lvl="0" indent="-273050" algn="l" rtl="0">
                        <a:spcBef>
                          <a:spcPts val="0"/>
                        </a:spcBef>
                        <a:spcAft>
                          <a:spcPts val="0"/>
                        </a:spcAft>
                        <a:buSzPts val="700"/>
                        <a:buChar char="●"/>
                      </a:pPr>
                      <a:r>
                        <a:rPr lang="en" sz="700"/>
                        <a:t>Showed initiative to work on challenging project</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Insist on Highest Standards</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Dissatisfied with quality of project</a:t>
                      </a:r>
                      <a:endParaRPr sz="700"/>
                    </a:p>
                    <a:p>
                      <a:pPr marL="457200" lvl="0" indent="-273050" algn="l" rtl="0">
                        <a:spcBef>
                          <a:spcPts val="0"/>
                        </a:spcBef>
                        <a:spcAft>
                          <a:spcPts val="0"/>
                        </a:spcAft>
                        <a:buSzPts val="700"/>
                        <a:buChar char="●"/>
                      </a:pPr>
                      <a:r>
                        <a:rPr lang="en" sz="700"/>
                        <a:t>Motivated others to go above and beyond</a:t>
                      </a:r>
                      <a:endParaRPr sz="700"/>
                    </a:p>
                    <a:p>
                      <a:pPr marL="457200" lvl="0" indent="-273050" algn="l" rtl="0">
                        <a:spcBef>
                          <a:spcPts val="0"/>
                        </a:spcBef>
                        <a:spcAft>
                          <a:spcPts val="0"/>
                        </a:spcAft>
                        <a:buSzPts val="700"/>
                        <a:buChar char="●"/>
                      </a:pPr>
                      <a:r>
                        <a:rPr lang="en" sz="700"/>
                        <a:t>Couldn’t meet your standards and expectations on a task</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700" b="1"/>
                        <a:t>Are right a Lot</a:t>
                      </a:r>
                      <a:endParaRPr sz="7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457200" lvl="0" indent="-273050" algn="l" rtl="0">
                        <a:spcBef>
                          <a:spcPts val="0"/>
                        </a:spcBef>
                        <a:spcAft>
                          <a:spcPts val="0"/>
                        </a:spcAft>
                        <a:buSzPts val="700"/>
                        <a:buChar char="●"/>
                      </a:pPr>
                      <a:r>
                        <a:rPr lang="en" sz="700"/>
                        <a:t>Lacks data : new &amp; ambiguous</a:t>
                      </a:r>
                      <a:endParaRPr sz="700"/>
                    </a:p>
                    <a:p>
                      <a:pPr marL="457200" lvl="0" indent="-273050" algn="l" rtl="0">
                        <a:spcBef>
                          <a:spcPts val="0"/>
                        </a:spcBef>
                        <a:spcAft>
                          <a:spcPts val="0"/>
                        </a:spcAft>
                        <a:buSzPts val="700"/>
                        <a:buChar char="●"/>
                      </a:pPr>
                      <a:r>
                        <a:rPr lang="en" sz="700"/>
                        <a:t>Use Judgement call/Experience to solve problem</a:t>
                      </a:r>
                      <a:endParaRPr sz="700"/>
                    </a:p>
                    <a:p>
                      <a:pPr marL="457200" lvl="0" indent="-273050" algn="l" rtl="0">
                        <a:spcBef>
                          <a:spcPts val="0"/>
                        </a:spcBef>
                        <a:spcAft>
                          <a:spcPts val="0"/>
                        </a:spcAft>
                        <a:buSzPts val="700"/>
                        <a:buChar char="●"/>
                      </a:pPr>
                      <a:r>
                        <a:rPr lang="en" sz="700"/>
                        <a:t>Insufficient info or incomplete data</a:t>
                      </a:r>
                      <a:endParaRPr sz="7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3"/>
          <p:cNvSpPr txBox="1">
            <a:spLocks noGrp="1"/>
          </p:cNvSpPr>
          <p:nvPr>
            <p:ph type="title"/>
          </p:nvPr>
        </p:nvSpPr>
        <p:spPr>
          <a:xfrm>
            <a:off x="1725" y="-788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a:t>AWS LP Questions : (Page 1)</a:t>
            </a:r>
            <a:endParaRPr sz="1620"/>
          </a:p>
        </p:txBody>
      </p:sp>
      <p:graphicFrame>
        <p:nvGraphicFramePr>
          <p:cNvPr id="171" name="Google Shape;171;p33"/>
          <p:cNvGraphicFramePr/>
          <p:nvPr/>
        </p:nvGraphicFramePr>
        <p:xfrm>
          <a:off x="69731" y="462225"/>
          <a:ext cx="9004525" cy="4412605"/>
        </p:xfrm>
        <a:graphic>
          <a:graphicData uri="http://schemas.openxmlformats.org/drawingml/2006/table">
            <a:tbl>
              <a:tblPr>
                <a:noFill/>
                <a:tableStyleId>{3216DD8F-D192-47E8-9425-CEED70C932B8}</a:tableStyleId>
              </a:tblPr>
              <a:tblGrid>
                <a:gridCol w="1374475">
                  <a:extLst>
                    <a:ext uri="{9D8B030D-6E8A-4147-A177-3AD203B41FA5}">
                      <a16:colId xmlns:a16="http://schemas.microsoft.com/office/drawing/2014/main" val="20000"/>
                    </a:ext>
                  </a:extLst>
                </a:gridCol>
                <a:gridCol w="7630050">
                  <a:extLst>
                    <a:ext uri="{9D8B030D-6E8A-4147-A177-3AD203B41FA5}">
                      <a16:colId xmlns:a16="http://schemas.microsoft.com/office/drawing/2014/main" val="20001"/>
                    </a:ext>
                  </a:extLst>
                </a:gridCol>
              </a:tblGrid>
              <a:tr h="374125">
                <a:tc>
                  <a:txBody>
                    <a:bodyPr/>
                    <a:lstStyle/>
                    <a:p>
                      <a:pPr marL="0" lvl="0" indent="0" algn="l" rtl="0">
                        <a:lnSpc>
                          <a:spcPct val="100000"/>
                        </a:lnSpc>
                        <a:spcBef>
                          <a:spcPts val="0"/>
                        </a:spcBef>
                        <a:spcAft>
                          <a:spcPts val="0"/>
                        </a:spcAft>
                        <a:buNone/>
                      </a:pPr>
                      <a:r>
                        <a:rPr lang="en" sz="700" b="1">
                          <a:solidFill>
                            <a:schemeClr val="dk1"/>
                          </a:solidFill>
                        </a:rPr>
                        <a:t>Leadership Principle </a:t>
                      </a:r>
                      <a:endParaRPr sz="700" b="1">
                        <a:solidFill>
                          <a:schemeClr val="dk1"/>
                        </a:solidFill>
                      </a:endParaRPr>
                    </a:p>
                  </a:txBody>
                  <a:tcPr marL="91425" marR="91425" marT="91425" marB="91425" anchor="ctr"/>
                </a:tc>
                <a:tc>
                  <a:txBody>
                    <a:bodyPr/>
                    <a:lstStyle/>
                    <a:p>
                      <a:pPr marL="0" lvl="0" indent="0" algn="l" rtl="0">
                        <a:lnSpc>
                          <a:spcPct val="100000"/>
                        </a:lnSpc>
                        <a:spcBef>
                          <a:spcPts val="0"/>
                        </a:spcBef>
                        <a:spcAft>
                          <a:spcPts val="0"/>
                        </a:spcAft>
                        <a:buClr>
                          <a:schemeClr val="dk1"/>
                        </a:buClr>
                        <a:buSzPts val="1100"/>
                        <a:buFont typeface="Arial"/>
                        <a:buNone/>
                      </a:pPr>
                      <a:r>
                        <a:rPr lang="en" sz="700" b="1">
                          <a:solidFill>
                            <a:schemeClr val="dk1"/>
                          </a:solidFill>
                        </a:rPr>
                        <a:t>Insights about LP &amp; Typical Questions </a:t>
                      </a:r>
                      <a:endParaRPr sz="700" b="1">
                        <a:solidFill>
                          <a:schemeClr val="dk1"/>
                        </a:solidFill>
                      </a:endParaRPr>
                    </a:p>
                  </a:txBody>
                  <a:tcPr marL="91425" marR="91425" marT="91425" marB="91425" anchor="ctr"/>
                </a:tc>
                <a:extLst>
                  <a:ext uri="{0D108BD9-81ED-4DB2-BD59-A6C34878D82A}">
                    <a16:rowId xmlns:a16="http://schemas.microsoft.com/office/drawing/2014/main" val="10000"/>
                  </a:ext>
                </a:extLst>
              </a:tr>
              <a:tr h="822925">
                <a:tc>
                  <a:txBody>
                    <a:bodyPr/>
                    <a:lstStyle/>
                    <a:p>
                      <a:pPr marL="0" lvl="0" indent="0" algn="l" rtl="0">
                        <a:spcBef>
                          <a:spcPts val="0"/>
                        </a:spcBef>
                        <a:spcAft>
                          <a:spcPts val="0"/>
                        </a:spcAft>
                        <a:buClr>
                          <a:schemeClr val="dk1"/>
                        </a:buClr>
                        <a:buSzPts val="1100"/>
                        <a:buFont typeface="Arial"/>
                        <a:buNone/>
                      </a:pPr>
                      <a:r>
                        <a:rPr lang="en" sz="700">
                          <a:solidFill>
                            <a:schemeClr val="dk1"/>
                          </a:solidFill>
                        </a:rPr>
                        <a:t>Customer Obsession</a:t>
                      </a:r>
                      <a:endParaRPr sz="700">
                        <a:solidFill>
                          <a:schemeClr val="dk1"/>
                        </a:solidFill>
                      </a:endParaRPr>
                    </a:p>
                  </a:txBody>
                  <a:tcPr marL="91425" marR="91425" marT="91425" marB="91425" anchor="ctr"/>
                </a:tc>
                <a:tc>
                  <a:txBody>
                    <a:bodyPr/>
                    <a:lstStyle/>
                    <a:p>
                      <a:pPr marL="457200" lvl="0" indent="-273050" algn="l" rtl="0">
                        <a:lnSpc>
                          <a:spcPct val="100000"/>
                        </a:lnSpc>
                        <a:spcBef>
                          <a:spcPts val="0"/>
                        </a:spcBef>
                        <a:spcAft>
                          <a:spcPts val="0"/>
                        </a:spcAft>
                        <a:buClr>
                          <a:schemeClr val="dk1"/>
                        </a:buClr>
                        <a:buSzPts val="700"/>
                        <a:buChar char="●"/>
                      </a:pPr>
                      <a:r>
                        <a:rPr lang="en" sz="700">
                          <a:solidFill>
                            <a:schemeClr val="dk1"/>
                          </a:solidFill>
                        </a:rPr>
                        <a:t>Successful leaders always </a:t>
                      </a:r>
                      <a:r>
                        <a:rPr lang="en" sz="700" b="1">
                          <a:solidFill>
                            <a:schemeClr val="dk1"/>
                          </a:solidFill>
                        </a:rPr>
                        <a:t>start with the customer</a:t>
                      </a:r>
                      <a:r>
                        <a:rPr lang="en" sz="700">
                          <a:solidFill>
                            <a:schemeClr val="dk1"/>
                          </a:solidFill>
                        </a:rPr>
                        <a:t> and work their way backward. They work hard to </a:t>
                      </a:r>
                      <a:r>
                        <a:rPr lang="en" sz="700" b="1">
                          <a:solidFill>
                            <a:schemeClr val="dk1"/>
                          </a:solidFill>
                        </a:rPr>
                        <a:t>earn and maintain customer trust</a:t>
                      </a:r>
                      <a:r>
                        <a:rPr lang="en" sz="700">
                          <a:solidFill>
                            <a:schemeClr val="dk1"/>
                          </a:solidFill>
                        </a:rPr>
                        <a:t>, and even though they pay attention to competitors, customers are always the priority.</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b="1">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Describe a difficult interaction you had with a customer.</a:t>
                      </a:r>
                      <a:r>
                        <a:rPr lang="en" sz="700">
                          <a:solidFill>
                            <a:schemeClr val="dk1"/>
                          </a:solidFill>
                        </a:rPr>
                        <a:t> How did you deal with it? What was the outcome? How would you handle it differently?</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b="1">
                          <a:solidFill>
                            <a:schemeClr val="dk1"/>
                          </a:solidFill>
                        </a:rPr>
                        <a:t>Tell me about a time when you went above and beyond </a:t>
                      </a:r>
                      <a:r>
                        <a:rPr lang="en" sz="700">
                          <a:solidFill>
                            <a:schemeClr val="dk1"/>
                          </a:solidFill>
                        </a:rPr>
                        <a:t>for a customer. Why did you do it? How did the customer respond? What was the outcome?</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b="1">
                          <a:solidFill>
                            <a:schemeClr val="dk1"/>
                          </a:solidFill>
                        </a:rPr>
                        <a:t>Who was your most difficult customer</a:t>
                      </a:r>
                      <a:r>
                        <a:rPr lang="en" sz="700">
                          <a:solidFill>
                            <a:schemeClr val="dk1"/>
                          </a:solidFill>
                        </a:rPr>
                        <a: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a:t>
                      </a:r>
                      <a:r>
                        <a:rPr lang="en" sz="700" b="1">
                          <a:solidFill>
                            <a:schemeClr val="dk1"/>
                          </a:solidFill>
                        </a:rPr>
                        <a:t>you didn't meet customer expectations</a:t>
                      </a:r>
                      <a:r>
                        <a:rPr lang="en" sz="700">
                          <a:solidFill>
                            <a:schemeClr val="dk1"/>
                          </a:solidFill>
                        </a:rPr>
                        <a:t>. What happened, and </a:t>
                      </a:r>
                      <a:r>
                        <a:rPr lang="en" sz="700" b="1">
                          <a:solidFill>
                            <a:schemeClr val="dk1"/>
                          </a:solidFill>
                        </a:rPr>
                        <a:t>how did you deal</a:t>
                      </a:r>
                      <a:r>
                        <a:rPr lang="en" sz="700">
                          <a:solidFill>
                            <a:schemeClr val="dk1"/>
                          </a:solidFill>
                        </a:rPr>
                        <a:t> with the situation?</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How do you go about </a:t>
                      </a:r>
                      <a:r>
                        <a:rPr lang="en" sz="700" b="1">
                          <a:solidFill>
                            <a:schemeClr val="dk1"/>
                          </a:solidFill>
                        </a:rPr>
                        <a:t>prioritizing customer needs</a:t>
                      </a:r>
                      <a:r>
                        <a:rPr lang="en" sz="700">
                          <a:solidFill>
                            <a:schemeClr val="dk1"/>
                          </a:solidFill>
                        </a:rPr>
                        <a:t> when you are dealing with a large number of customers?</a:t>
                      </a:r>
                      <a:endParaRPr sz="700">
                        <a:solidFill>
                          <a:schemeClr val="dk1"/>
                        </a:solidFill>
                      </a:endParaRPr>
                    </a:p>
                  </a:txBody>
                  <a:tcPr marL="91425" marR="91425" marT="91425" marB="91425" anchor="ctr"/>
                </a:tc>
                <a:extLst>
                  <a:ext uri="{0D108BD9-81ED-4DB2-BD59-A6C34878D82A}">
                    <a16:rowId xmlns:a16="http://schemas.microsoft.com/office/drawing/2014/main" val="10001"/>
                  </a:ext>
                </a:extLst>
              </a:tr>
              <a:tr h="716250">
                <a:tc>
                  <a:txBody>
                    <a:bodyPr/>
                    <a:lstStyle/>
                    <a:p>
                      <a:pPr marL="0" lvl="0" indent="0" algn="l" rtl="0">
                        <a:lnSpc>
                          <a:spcPct val="100000"/>
                        </a:lnSpc>
                        <a:spcBef>
                          <a:spcPts val="0"/>
                        </a:spcBef>
                        <a:spcAft>
                          <a:spcPts val="0"/>
                        </a:spcAft>
                        <a:buNone/>
                      </a:pPr>
                      <a:r>
                        <a:rPr lang="en" sz="700">
                          <a:solidFill>
                            <a:schemeClr val="dk1"/>
                          </a:solidFill>
                        </a:rPr>
                        <a:t>Invent &amp; Simplify</a:t>
                      </a:r>
                      <a:endParaRPr sz="700">
                        <a:solidFill>
                          <a:schemeClr val="dk1"/>
                        </a:solidFill>
                      </a:endParaRPr>
                    </a:p>
                  </a:txBody>
                  <a:tcPr marL="91425" marR="91425" marT="91425" marB="91425" anchor="ctr"/>
                </a:tc>
                <a:tc>
                  <a:txBody>
                    <a:bodyPr/>
                    <a:lstStyle/>
                    <a:p>
                      <a:pPr marL="457200" lvl="0" indent="-273050" algn="l" rtl="0">
                        <a:lnSpc>
                          <a:spcPct val="100000"/>
                        </a:lnSpc>
                        <a:spcBef>
                          <a:spcPts val="0"/>
                        </a:spcBef>
                        <a:spcAft>
                          <a:spcPts val="0"/>
                        </a:spcAft>
                        <a:buClr>
                          <a:schemeClr val="dk1"/>
                        </a:buClr>
                        <a:buSzPts val="700"/>
                        <a:buChar char="●"/>
                      </a:pPr>
                      <a:r>
                        <a:rPr lang="en" sz="700">
                          <a:solidFill>
                            <a:schemeClr val="dk1"/>
                          </a:solidFill>
                        </a:rPr>
                        <a:t>Leaders always seek ways to simplify and always require invention and innovation from their teams. Their thinking has no limits, and they always search for new ideas from everywhere. And, as they try new things, they expect to be sometimes misunderstood.</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b="1">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Give me an example of a complex problem you solved with a simple solution. What made the problem complex?</a:t>
                      </a:r>
                      <a:r>
                        <a:rPr lang="en" sz="700">
                          <a:solidFill>
                            <a:schemeClr val="dk1"/>
                          </a:solidFill>
                        </a:rPr>
                        <a:t> How do you know your solution addressed the problem?</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Describe the most innovative thing you’ve done and why you thought it was innovative.</a:t>
                      </a:r>
                      <a:r>
                        <a:rPr lang="en" sz="700">
                          <a:solidFill>
                            <a:schemeClr val="dk1"/>
                          </a:solidFill>
                        </a:rPr>
                        <a:t> Ask for one or two more examples to see if it's a pattern of innovative thinking. What was the problem it was solving? What was innovative about it?</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tried to simplify a process but failed. What would you have done differently?</a:t>
                      </a:r>
                      <a:endParaRPr sz="700">
                        <a:solidFill>
                          <a:schemeClr val="dk1"/>
                        </a:solidFill>
                      </a:endParaRPr>
                    </a:p>
                  </a:txBody>
                  <a:tcPr marL="91425" marR="91425" marT="91425" marB="91425" anchor="ctr"/>
                </a:tc>
                <a:extLst>
                  <a:ext uri="{0D108BD9-81ED-4DB2-BD59-A6C34878D82A}">
                    <a16:rowId xmlns:a16="http://schemas.microsoft.com/office/drawing/2014/main" val="10002"/>
                  </a:ext>
                </a:extLst>
              </a:tr>
              <a:tr h="716250">
                <a:tc>
                  <a:txBody>
                    <a:bodyPr/>
                    <a:lstStyle/>
                    <a:p>
                      <a:pPr marL="0" lvl="0" indent="0" algn="l" rtl="0">
                        <a:lnSpc>
                          <a:spcPct val="100000"/>
                        </a:lnSpc>
                        <a:spcBef>
                          <a:spcPts val="0"/>
                        </a:spcBef>
                        <a:spcAft>
                          <a:spcPts val="0"/>
                        </a:spcAft>
                        <a:buNone/>
                      </a:pPr>
                      <a:r>
                        <a:rPr lang="en" sz="700" b="1">
                          <a:solidFill>
                            <a:schemeClr val="dk1"/>
                          </a:solidFill>
                        </a:rPr>
                        <a:t>Learn &amp; Be Curious</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73050" algn="l" rtl="0">
                        <a:lnSpc>
                          <a:spcPct val="100000"/>
                        </a:lnSpc>
                        <a:spcBef>
                          <a:spcPts val="0"/>
                        </a:spcBef>
                        <a:spcAft>
                          <a:spcPts val="0"/>
                        </a:spcAft>
                        <a:buClr>
                          <a:schemeClr val="dk1"/>
                        </a:buClr>
                        <a:buSzPts val="700"/>
                        <a:buChar char="●"/>
                      </a:pPr>
                      <a:r>
                        <a:rPr lang="en" sz="700">
                          <a:solidFill>
                            <a:schemeClr val="dk1"/>
                          </a:solidFill>
                        </a:rPr>
                        <a:t>Usually is </a:t>
                      </a:r>
                      <a:r>
                        <a:rPr lang="en" sz="700" b="1">
                          <a:solidFill>
                            <a:schemeClr val="dk1"/>
                          </a:solidFill>
                        </a:rPr>
                        <a:t>more a follow-up question</a:t>
                      </a:r>
                      <a:r>
                        <a:rPr lang="en" sz="700">
                          <a:solidFill>
                            <a:schemeClr val="dk1"/>
                          </a:solidFill>
                        </a:rPr>
                        <a:t> such as what would you have done differently or what have you learnt from project etc.</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a:solidFill>
                            <a:schemeClr val="dk1"/>
                          </a:solidFill>
                        </a:rPr>
                        <a:t>Leaders always seek ways to improve themselves and </a:t>
                      </a:r>
                      <a:r>
                        <a:rPr lang="en" sz="700" b="1">
                          <a:solidFill>
                            <a:schemeClr val="dk1"/>
                          </a:solidFill>
                        </a:rPr>
                        <a:t>never stop learning</a:t>
                      </a:r>
                      <a:r>
                        <a:rPr lang="en" sz="700">
                          <a:solidFill>
                            <a:schemeClr val="dk1"/>
                          </a:solidFill>
                        </a:rPr>
                        <a:t>. They are curious about new opportunities and </a:t>
                      </a:r>
                      <a:r>
                        <a:rPr lang="en" sz="700" b="1">
                          <a:solidFill>
                            <a:schemeClr val="dk1"/>
                          </a:solidFill>
                        </a:rPr>
                        <a:t>aren't afraid to explore the unknown</a:t>
                      </a:r>
                      <a:r>
                        <a:rPr lang="en" sz="700">
                          <a:solidFill>
                            <a:schemeClr val="dk1"/>
                          </a:solidFill>
                        </a:rPr>
                        <a:t>.</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b="1">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Tell me about a time when you realized you needed a deeper level of subject matter expertise to do your job well. What did you do about it? </a:t>
                      </a:r>
                      <a:r>
                        <a:rPr lang="en" sz="700">
                          <a:solidFill>
                            <a:schemeClr val="dk1"/>
                          </a:solidFill>
                        </a:rPr>
                        <a:t>What was the outcome? Is there anything you would have done differently?</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b="1">
                          <a:solidFill>
                            <a:schemeClr val="dk1"/>
                          </a:solidFill>
                        </a:rPr>
                        <a:t>Describe a time when you took on work outside of your comfort area. How did you identify what you needed to learn to be successful?</a:t>
                      </a:r>
                      <a:r>
                        <a:rPr lang="en" sz="700">
                          <a:solidFill>
                            <a:schemeClr val="dk1"/>
                          </a:solidFill>
                        </a:rPr>
                        <a:t> How did you go about building expertise to meet your goal? Did you meet your goal?</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t>
                      </a:r>
                      <a:r>
                        <a:rPr lang="en" sz="700" b="1">
                          <a:solidFill>
                            <a:schemeClr val="dk1"/>
                          </a:solidFill>
                        </a:rPr>
                        <a:t>an important lesson you learned over the past year.</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situation or experience you went through</a:t>
                      </a:r>
                      <a:r>
                        <a:rPr lang="en" sz="700" b="1">
                          <a:solidFill>
                            <a:schemeClr val="dk1"/>
                          </a:solidFill>
                        </a:rPr>
                        <a:t> that changed your way of thinking.</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made a s</a:t>
                      </a:r>
                      <a:r>
                        <a:rPr lang="en" sz="700" b="1">
                          <a:solidFill>
                            <a:schemeClr val="dk1"/>
                          </a:solidFill>
                        </a:rPr>
                        <a:t>marter decision with the help of your curiosity.</a:t>
                      </a:r>
                      <a:endParaRPr sz="700">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16250">
                <a:tc>
                  <a:txBody>
                    <a:bodyPr/>
                    <a:lstStyle/>
                    <a:p>
                      <a:pPr marL="0" lvl="0" indent="0" algn="l" rtl="0">
                        <a:lnSpc>
                          <a:spcPct val="100000"/>
                        </a:lnSpc>
                        <a:spcBef>
                          <a:spcPts val="0"/>
                        </a:spcBef>
                        <a:spcAft>
                          <a:spcPts val="0"/>
                        </a:spcAft>
                        <a:buNone/>
                      </a:pPr>
                      <a:r>
                        <a:rPr lang="en" sz="700" b="1">
                          <a:solidFill>
                            <a:schemeClr val="dk1"/>
                          </a:solidFill>
                        </a:rPr>
                        <a:t>Think Big</a:t>
                      </a:r>
                      <a:r>
                        <a:rPr lang="en" sz="1450" b="1">
                          <a:solidFill>
                            <a:srgbClr val="42464A"/>
                          </a:solidFill>
                          <a:highlight>
                            <a:srgbClr val="FFFFFF"/>
                          </a:highlight>
                          <a:latin typeface="Nunito"/>
                          <a:ea typeface="Nunito"/>
                          <a:cs typeface="Nunito"/>
                          <a:sym typeface="Nunito"/>
                        </a:rPr>
                        <a:t> </a:t>
                      </a:r>
                      <a:endParaRPr sz="7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think differently and envisage a </a:t>
                      </a:r>
                      <a:r>
                        <a:rPr lang="en" sz="700" b="1">
                          <a:solidFill>
                            <a:schemeClr val="dk1"/>
                          </a:solidFill>
                        </a:rPr>
                        <a:t>bold direction that inspires outstanding results</a:t>
                      </a:r>
                      <a:r>
                        <a:rPr lang="en" sz="700">
                          <a:solidFill>
                            <a:schemeClr val="dk1"/>
                          </a:solidFill>
                        </a:rPr>
                        <a:t>. They also expertly partake in calculated risk-taking. They think outside of the box to serve customers and achieve a significant impact.</a:t>
                      </a:r>
                      <a:endParaRPr sz="700">
                        <a:solidFill>
                          <a:schemeClr val="dk1"/>
                        </a:solidFill>
                      </a:endParaRPr>
                    </a:p>
                    <a:p>
                      <a:pPr marL="0" marR="0" lvl="0" indent="0" algn="l" rtl="0">
                        <a:lnSpc>
                          <a:spcPct val="100000"/>
                        </a:lnSpc>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your </a:t>
                      </a:r>
                      <a:r>
                        <a:rPr lang="en" sz="700" b="1">
                          <a:solidFill>
                            <a:schemeClr val="dk1"/>
                          </a:solidFill>
                        </a:rPr>
                        <a:t>most significant professional achievement</a:t>
                      </a:r>
                      <a:r>
                        <a:rPr lang="en" sz="700">
                          <a:solidFill>
                            <a:schemeClr val="dk1"/>
                          </a:solidFill>
                        </a:rPr>
                        <a: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had to make a bold and challenging decision.</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a:t>
                      </a:r>
                      <a:r>
                        <a:rPr lang="en" sz="700" b="1">
                          <a:solidFill>
                            <a:schemeClr val="dk1"/>
                          </a:solidFill>
                        </a:rPr>
                        <a:t>your vision led to a great impact</a:t>
                      </a:r>
                      <a:r>
                        <a:rPr lang="en" sz="700">
                          <a:solidFill>
                            <a:schemeClr val="dk1"/>
                          </a:solidFill>
                        </a:rPr>
                        <a:t>.</a:t>
                      </a:r>
                      <a:endParaRPr sz="1450">
                        <a:solidFill>
                          <a:srgbClr val="42464A"/>
                        </a:solidFill>
                        <a:highlight>
                          <a:srgbClr val="FFFFFF"/>
                        </a:highlight>
                        <a:latin typeface="Nunito"/>
                        <a:ea typeface="Nunito"/>
                        <a:cs typeface="Nunito"/>
                        <a:sym typeface="Nunito"/>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4"/>
          <p:cNvSpPr txBox="1">
            <a:spLocks noGrp="1"/>
          </p:cNvSpPr>
          <p:nvPr>
            <p:ph type="title"/>
          </p:nvPr>
        </p:nvSpPr>
        <p:spPr>
          <a:xfrm>
            <a:off x="1725" y="-78800"/>
            <a:ext cx="9386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a:t>AWS LP Questions : (Cont. 2)</a:t>
            </a:r>
            <a:endParaRPr sz="1620"/>
          </a:p>
        </p:txBody>
      </p:sp>
      <p:graphicFrame>
        <p:nvGraphicFramePr>
          <p:cNvPr id="177" name="Google Shape;177;p34"/>
          <p:cNvGraphicFramePr/>
          <p:nvPr/>
        </p:nvGraphicFramePr>
        <p:xfrm>
          <a:off x="69743" y="243350"/>
          <a:ext cx="3000000" cy="3000000"/>
        </p:xfrm>
        <a:graphic>
          <a:graphicData uri="http://schemas.openxmlformats.org/drawingml/2006/table">
            <a:tbl>
              <a:tblPr>
                <a:noFill/>
                <a:tableStyleId>{3216DD8F-D192-47E8-9425-CEED70C932B8}</a:tableStyleId>
              </a:tblPr>
              <a:tblGrid>
                <a:gridCol w="1374475">
                  <a:extLst>
                    <a:ext uri="{9D8B030D-6E8A-4147-A177-3AD203B41FA5}">
                      <a16:colId xmlns:a16="http://schemas.microsoft.com/office/drawing/2014/main" val="20000"/>
                    </a:ext>
                  </a:extLst>
                </a:gridCol>
                <a:gridCol w="7630025">
                  <a:extLst>
                    <a:ext uri="{9D8B030D-6E8A-4147-A177-3AD203B41FA5}">
                      <a16:colId xmlns:a16="http://schemas.microsoft.com/office/drawing/2014/main" val="20001"/>
                    </a:ext>
                  </a:extLst>
                </a:gridCol>
              </a:tblGrid>
              <a:tr h="392575">
                <a:tc>
                  <a:txBody>
                    <a:bodyPr/>
                    <a:lstStyle/>
                    <a:p>
                      <a:pPr marL="0" lvl="0" indent="0" algn="l" rtl="0">
                        <a:lnSpc>
                          <a:spcPct val="100000"/>
                        </a:lnSpc>
                        <a:spcBef>
                          <a:spcPts val="0"/>
                        </a:spcBef>
                        <a:spcAft>
                          <a:spcPts val="0"/>
                        </a:spcAft>
                        <a:buNone/>
                      </a:pPr>
                      <a:r>
                        <a:rPr lang="en" sz="700" b="1">
                          <a:solidFill>
                            <a:schemeClr val="dk1"/>
                          </a:solidFill>
                        </a:rPr>
                        <a:t>Leadership Principle </a:t>
                      </a:r>
                      <a:endParaRPr sz="700" b="1">
                        <a:solidFill>
                          <a:schemeClr val="dk1"/>
                        </a:solidFill>
                      </a:endParaRPr>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 sz="700" b="1">
                          <a:solidFill>
                            <a:schemeClr val="dk1"/>
                          </a:solidFill>
                        </a:rPr>
                        <a:t>Insights about LP &amp; Typical Questions </a:t>
                      </a:r>
                      <a:endParaRPr sz="700" b="1">
                        <a:solidFill>
                          <a:schemeClr val="dk1"/>
                        </a:solidFill>
                      </a:endParaRPr>
                    </a:p>
                  </a:txBody>
                  <a:tcPr marL="91425" marR="91425" marT="91425" marB="91425" anchor="ctr"/>
                </a:tc>
                <a:extLst>
                  <a:ext uri="{0D108BD9-81ED-4DB2-BD59-A6C34878D82A}">
                    <a16:rowId xmlns:a16="http://schemas.microsoft.com/office/drawing/2014/main" val="10000"/>
                  </a:ext>
                </a:extLst>
              </a:tr>
              <a:tr h="1036300">
                <a:tc>
                  <a:txBody>
                    <a:bodyPr/>
                    <a:lstStyle/>
                    <a:p>
                      <a:pPr marL="0" lvl="0" indent="0" algn="l" rtl="0">
                        <a:lnSpc>
                          <a:spcPct val="115000"/>
                        </a:lnSpc>
                        <a:spcBef>
                          <a:spcPts val="0"/>
                        </a:spcBef>
                        <a:spcAft>
                          <a:spcPts val="1200"/>
                        </a:spcAft>
                        <a:buNone/>
                      </a:pPr>
                      <a:r>
                        <a:rPr lang="en" sz="700" b="1">
                          <a:solidFill>
                            <a:schemeClr val="dk1"/>
                          </a:solidFill>
                        </a:rPr>
                        <a:t>Bias for action</a:t>
                      </a:r>
                      <a:endParaRPr sz="700" b="1">
                        <a:solidFill>
                          <a:schemeClr val="dk1"/>
                        </a:solidFill>
                      </a:endParaRPr>
                    </a:p>
                  </a:txBody>
                  <a:tcPr marL="91425" marR="91425" marT="91425" marB="91425" anchor="ct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Evaluates your ability to move quickly. You would proceed forward when </a:t>
                      </a:r>
                      <a:r>
                        <a:rPr lang="en" sz="700" b="1">
                          <a:solidFill>
                            <a:schemeClr val="dk1"/>
                          </a:solidFill>
                        </a:rPr>
                        <a:t>you have collected roughly 60% or so of the needed information</a:t>
                      </a:r>
                      <a:r>
                        <a:rPr lang="en" sz="700">
                          <a:solidFill>
                            <a:schemeClr val="dk1"/>
                          </a:solidFill>
                        </a:rPr>
                        <a:t>. Other 40% of information is missing but you have developed a bunch of hypothesis based on 60% of the data that you already have. </a:t>
                      </a:r>
                      <a:r>
                        <a:rPr lang="en" sz="700" b="1">
                          <a:solidFill>
                            <a:schemeClr val="dk1"/>
                          </a:solidFill>
                        </a:rPr>
                        <a:t>And you have moved forward because you value speed of execution more than having 100% complete data backed picture</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In business, speed matters. Many actions and decisions are reversible and do not require extensive study. They have a bias for action with long-term gains in mind.</a:t>
                      </a:r>
                      <a:endParaRPr sz="700">
                        <a:solidFill>
                          <a:schemeClr val="dk1"/>
                        </a:solidFill>
                      </a:endParaRPr>
                    </a:p>
                    <a:p>
                      <a:pPr marL="0" marR="0" lvl="0" indent="0" algn="l" rtl="0">
                        <a:lnSpc>
                          <a:spcPct val="100000"/>
                        </a:lnSpc>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Provide an example of when you took a </a:t>
                      </a:r>
                      <a:r>
                        <a:rPr lang="en" sz="700" b="1">
                          <a:solidFill>
                            <a:schemeClr val="dk1"/>
                          </a:solidFill>
                        </a:rPr>
                        <a:t>calculated risk.</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a situation when you took the initiative to correct a problem or a mistake rather than waiting for someone else to do it.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a:t>
                      </a:r>
                      <a:r>
                        <a:rPr lang="en" sz="700" b="1">
                          <a:solidFill>
                            <a:schemeClr val="dk1"/>
                          </a:solidFill>
                        </a:rPr>
                        <a:t>when you required some information from somebody else, but they weren't responsive.</a:t>
                      </a:r>
                      <a:r>
                        <a:rPr lang="en" sz="700">
                          <a:solidFill>
                            <a:schemeClr val="dk1"/>
                          </a:solidFill>
                        </a:rPr>
                        <a:t> What did you do?</a:t>
                      </a:r>
                      <a:endParaRPr sz="700" b="1">
                        <a:solidFill>
                          <a:schemeClr val="dk1"/>
                        </a:solidFill>
                      </a:endParaRPr>
                    </a:p>
                  </a:txBody>
                  <a:tcPr marL="91425" marR="91425" marT="91425" marB="91425" anchor="ctr"/>
                </a:tc>
                <a:extLst>
                  <a:ext uri="{0D108BD9-81ED-4DB2-BD59-A6C34878D82A}">
                    <a16:rowId xmlns:a16="http://schemas.microsoft.com/office/drawing/2014/main" val="10001"/>
                  </a:ext>
                </a:extLst>
              </a:tr>
              <a:tr h="1174975">
                <a:tc>
                  <a:txBody>
                    <a:bodyPr/>
                    <a:lstStyle/>
                    <a:p>
                      <a:pPr marL="0" lvl="0" indent="0" algn="l" rtl="0">
                        <a:lnSpc>
                          <a:spcPct val="100000"/>
                        </a:lnSpc>
                        <a:spcBef>
                          <a:spcPts val="0"/>
                        </a:spcBef>
                        <a:spcAft>
                          <a:spcPts val="0"/>
                        </a:spcAft>
                        <a:buNone/>
                      </a:pPr>
                      <a:r>
                        <a:rPr lang="en" sz="700" b="1">
                          <a:solidFill>
                            <a:schemeClr val="dk1"/>
                          </a:solidFill>
                        </a:rPr>
                        <a:t>Are Right A Lot</a:t>
                      </a:r>
                      <a:endParaRPr sz="700" b="1">
                        <a:solidFill>
                          <a:schemeClr val="dk1"/>
                        </a:solidFill>
                      </a:endParaRPr>
                    </a:p>
                  </a:txBody>
                  <a:tcPr marL="91425" marR="91425" marT="91425" marB="91425" anchor="ct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Compared to Bias for action, it doesn’t matter how long you wait, you would never be able to collect 100% of data required to reach a decision. This is not about speed of execution. This is about you dealing with a situation which lacks a precedent and is entirely new. You don’t have data and you have to </a:t>
                      </a:r>
                      <a:r>
                        <a:rPr lang="en" sz="700" b="1">
                          <a:solidFill>
                            <a:schemeClr val="dk1"/>
                          </a:solidFill>
                        </a:rPr>
                        <a:t>lean on your judgement call/hunch/professional gut/experience and move forward</a:t>
                      </a:r>
                      <a:r>
                        <a:rPr lang="en" sz="700">
                          <a:solidFill>
                            <a:schemeClr val="dk1"/>
                          </a:solidFill>
                        </a:rPr>
                        <a:t>. Ex: Amazon Prime launch when </a:t>
                      </a:r>
                      <a:r>
                        <a:rPr lang="en" sz="700" b="1">
                          <a:solidFill>
                            <a:schemeClr val="dk1"/>
                          </a:solidFill>
                        </a:rPr>
                        <a:t>it didn’t have enough data, is new and ambiguous data that the data just isn’t available</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are right most of the time. They possess good instincts and strong judgment, which enables them to seek diverse perspectives.</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a:solidFill>
                          <a:schemeClr val="dk1"/>
                        </a:solidFill>
                      </a:endParaRPr>
                    </a:p>
                    <a:p>
                      <a:pPr marL="45720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a:t>
                      </a:r>
                      <a:r>
                        <a:rPr lang="en" sz="700" b="1">
                          <a:solidFill>
                            <a:schemeClr val="dk1"/>
                          </a:solidFill>
                        </a:rPr>
                        <a:t>effectively used your judgment to solve a problem.</a:t>
                      </a:r>
                      <a:endParaRPr sz="700" b="1">
                        <a:solidFill>
                          <a:schemeClr val="dk1"/>
                        </a:solidFill>
                      </a:endParaRPr>
                    </a:p>
                    <a:p>
                      <a:pPr marL="45720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had to work with</a:t>
                      </a:r>
                      <a:r>
                        <a:rPr lang="en" sz="700" b="1">
                          <a:solidFill>
                            <a:schemeClr val="dk1"/>
                          </a:solidFill>
                        </a:rPr>
                        <a:t> insufficient information or incomplete data.</a:t>
                      </a:r>
                      <a:endParaRPr sz="700" b="1">
                        <a:solidFill>
                          <a:schemeClr val="dk1"/>
                        </a:solidFill>
                      </a:endParaRPr>
                    </a:p>
                    <a:p>
                      <a:pPr marL="45720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were wrong.</a:t>
                      </a:r>
                      <a:endParaRPr sz="700">
                        <a:solidFill>
                          <a:schemeClr val="dk1"/>
                        </a:solidFill>
                      </a:endParaRPr>
                    </a:p>
                  </a:txBody>
                  <a:tcPr marL="91425" marR="91425" marT="91425" marB="91425" anchor="ctr"/>
                </a:tc>
                <a:extLst>
                  <a:ext uri="{0D108BD9-81ED-4DB2-BD59-A6C34878D82A}">
                    <a16:rowId xmlns:a16="http://schemas.microsoft.com/office/drawing/2014/main" val="10002"/>
                  </a:ext>
                </a:extLst>
              </a:tr>
              <a:tr h="961625">
                <a:tc>
                  <a:txBody>
                    <a:bodyPr/>
                    <a:lstStyle/>
                    <a:p>
                      <a:pPr marL="0" lvl="0" indent="0" algn="l" rtl="0">
                        <a:lnSpc>
                          <a:spcPct val="100000"/>
                        </a:lnSpc>
                        <a:spcBef>
                          <a:spcPts val="0"/>
                        </a:spcBef>
                        <a:spcAft>
                          <a:spcPts val="0"/>
                        </a:spcAft>
                        <a:buNone/>
                      </a:pPr>
                      <a:r>
                        <a:rPr lang="en" sz="700" b="1">
                          <a:solidFill>
                            <a:schemeClr val="dk1"/>
                          </a:solidFill>
                        </a:rPr>
                        <a:t>Ownership</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457200" lvl="0" indent="-273050" algn="l" rtl="0">
                        <a:lnSpc>
                          <a:spcPct val="100000"/>
                        </a:lnSpc>
                        <a:spcBef>
                          <a:spcPts val="0"/>
                        </a:spcBef>
                        <a:spcAft>
                          <a:spcPts val="0"/>
                        </a:spcAft>
                        <a:buClr>
                          <a:schemeClr val="dk1"/>
                        </a:buClr>
                        <a:buSzPts val="700"/>
                        <a:buChar char="●"/>
                      </a:pPr>
                      <a:r>
                        <a:rPr lang="en" sz="700">
                          <a:solidFill>
                            <a:schemeClr val="dk1"/>
                          </a:solidFill>
                        </a:rPr>
                        <a:t>You</a:t>
                      </a:r>
                      <a:r>
                        <a:rPr lang="en" sz="700" b="1">
                          <a:solidFill>
                            <a:schemeClr val="dk1"/>
                          </a:solidFill>
                        </a:rPr>
                        <a:t> fix other related issues</a:t>
                      </a:r>
                      <a:r>
                        <a:rPr lang="en" sz="700">
                          <a:solidFill>
                            <a:schemeClr val="dk1"/>
                          </a:solidFill>
                        </a:rPr>
                        <a:t> that need to be resolved even if they are </a:t>
                      </a:r>
                      <a:r>
                        <a:rPr lang="en" sz="700" b="1">
                          <a:solidFill>
                            <a:schemeClr val="dk1"/>
                          </a:solidFill>
                        </a:rPr>
                        <a:t>outside of your area</a:t>
                      </a:r>
                      <a:r>
                        <a:rPr lang="en" sz="700">
                          <a:solidFill>
                            <a:schemeClr val="dk1"/>
                          </a:solidFill>
                        </a:rPr>
                        <a:t> of purview</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a:solidFill>
                            <a:schemeClr val="dk1"/>
                          </a:solidFill>
                        </a:rPr>
                        <a:t>Leaders think long-term and </a:t>
                      </a:r>
                      <a:r>
                        <a:rPr lang="en" sz="700" b="1">
                          <a:solidFill>
                            <a:schemeClr val="dk1"/>
                          </a:solidFill>
                        </a:rPr>
                        <a:t>prioritize long-term value over short-term success</a:t>
                      </a:r>
                      <a:r>
                        <a:rPr lang="en" sz="700">
                          <a:solidFill>
                            <a:schemeClr val="dk1"/>
                          </a:solidFill>
                        </a:rPr>
                        <a:t>. They are owners, and they act on behalf of the company, not just themselves or their own team.</a:t>
                      </a:r>
                      <a:endParaRPr sz="1450">
                        <a:solidFill>
                          <a:srgbClr val="42464A"/>
                        </a:solidFill>
                        <a:highlight>
                          <a:srgbClr val="FFFFFF"/>
                        </a:highlight>
                        <a:latin typeface="Nunito"/>
                        <a:ea typeface="Nunito"/>
                        <a:cs typeface="Nunito"/>
                        <a:sym typeface="Nunito"/>
                      </a:endParaRPr>
                    </a:p>
                    <a:p>
                      <a:pPr marL="0" lvl="0" indent="0" algn="l" rtl="0">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took on a task that was </a:t>
                      </a:r>
                      <a:r>
                        <a:rPr lang="en" sz="700" b="1">
                          <a:solidFill>
                            <a:schemeClr val="dk1"/>
                          </a:solidFill>
                        </a:rPr>
                        <a:t>beyond your job responsibilities</a:t>
                      </a:r>
                      <a:r>
                        <a:rPr lang="en" sz="700">
                          <a:solidFill>
                            <a:schemeClr val="dk1"/>
                          </a:solidFill>
                        </a:rPr>
                        <a:t>.</a:t>
                      </a:r>
                      <a:endParaRPr sz="700">
                        <a:solidFill>
                          <a:schemeClr val="dk1"/>
                        </a:solidFill>
                      </a:endParaRPr>
                    </a:p>
                    <a:p>
                      <a:pPr marL="457200" marR="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had to work on a task with </a:t>
                      </a:r>
                      <a:r>
                        <a:rPr lang="en" sz="700" b="1">
                          <a:solidFill>
                            <a:schemeClr val="dk1"/>
                          </a:solidFill>
                        </a:rPr>
                        <a:t>unclear responsibilities</a:t>
                      </a:r>
                      <a:r>
                        <a:rPr lang="en" sz="700">
                          <a:solidFill>
                            <a:schemeClr val="dk1"/>
                          </a:solidFill>
                        </a:rPr>
                        <a:t>.</a:t>
                      </a:r>
                      <a:endParaRPr sz="700">
                        <a:solidFill>
                          <a:schemeClr val="dk1"/>
                        </a:solidFill>
                      </a:endParaRPr>
                    </a:p>
                    <a:p>
                      <a:pPr marL="457200" marR="0" lvl="0" indent="-273050" algn="l" rtl="0">
                        <a:lnSpc>
                          <a:spcPct val="115000"/>
                        </a:lnSpc>
                        <a:spcBef>
                          <a:spcPts val="0"/>
                        </a:spcBef>
                        <a:spcAft>
                          <a:spcPts val="0"/>
                        </a:spcAft>
                        <a:buClr>
                          <a:schemeClr val="dk1"/>
                        </a:buClr>
                        <a:buSzPts val="700"/>
                        <a:buChar char="●"/>
                      </a:pPr>
                      <a:r>
                        <a:rPr lang="en" sz="700">
                          <a:solidFill>
                            <a:schemeClr val="dk1"/>
                          </a:solidFill>
                        </a:rPr>
                        <a:t>Tell me about a time when you </a:t>
                      </a:r>
                      <a:r>
                        <a:rPr lang="en" sz="700" b="1">
                          <a:solidFill>
                            <a:schemeClr val="dk1"/>
                          </a:solidFill>
                        </a:rPr>
                        <a:t>showed an initiative to work on a challenging project</a:t>
                      </a:r>
                      <a:r>
                        <a:rPr lang="en" sz="700">
                          <a:solidFill>
                            <a:schemeClr val="dk1"/>
                          </a:solidFill>
                        </a:rPr>
                        <a:t>.</a:t>
                      </a:r>
                      <a:endParaRPr sz="1450">
                        <a:solidFill>
                          <a:srgbClr val="42464A"/>
                        </a:solidFill>
                        <a:highlight>
                          <a:srgbClr val="FFFFFF"/>
                        </a:highlight>
                        <a:latin typeface="Nunito"/>
                        <a:ea typeface="Nunito"/>
                        <a:cs typeface="Nunito"/>
                        <a:sym typeface="Nunito"/>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356325">
                <a:tc>
                  <a:txBody>
                    <a:bodyPr/>
                    <a:lstStyle/>
                    <a:p>
                      <a:pPr marL="0" lvl="0" indent="0" algn="l" rtl="0">
                        <a:lnSpc>
                          <a:spcPct val="100000"/>
                        </a:lnSpc>
                        <a:spcBef>
                          <a:spcPts val="0"/>
                        </a:spcBef>
                        <a:spcAft>
                          <a:spcPts val="0"/>
                        </a:spcAft>
                        <a:buNone/>
                      </a:pPr>
                      <a:r>
                        <a:rPr lang="en" sz="700" b="1">
                          <a:solidFill>
                            <a:schemeClr val="dk1"/>
                          </a:solidFill>
                        </a:rPr>
                        <a:t>Dive Deep:</a:t>
                      </a:r>
                      <a:endParaRPr sz="7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73050" algn="l" rtl="0">
                        <a:lnSpc>
                          <a:spcPct val="100000"/>
                        </a:lnSpc>
                        <a:spcBef>
                          <a:spcPts val="0"/>
                        </a:spcBef>
                        <a:spcAft>
                          <a:spcPts val="0"/>
                        </a:spcAft>
                        <a:buClr>
                          <a:schemeClr val="dk1"/>
                        </a:buClr>
                        <a:buSzPts val="700"/>
                        <a:buChar char="●"/>
                      </a:pPr>
                      <a:r>
                        <a:rPr lang="en" sz="700">
                          <a:solidFill>
                            <a:schemeClr val="dk1"/>
                          </a:solidFill>
                        </a:rPr>
                        <a:t>You are assigned a problem. You perform D</a:t>
                      </a:r>
                      <a:r>
                        <a:rPr lang="en" sz="700" b="1">
                          <a:solidFill>
                            <a:schemeClr val="dk1"/>
                          </a:solidFill>
                        </a:rPr>
                        <a:t>ive deep analysis to understand what the root cause of the problem</a:t>
                      </a:r>
                      <a:r>
                        <a:rPr lang="en" sz="700">
                          <a:solidFill>
                            <a:schemeClr val="dk1"/>
                          </a:solidFill>
                        </a:rPr>
                        <a:t> is. You eliminate the root cause. You resolve the problem, You achieve a positive outcome.</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a:solidFill>
                            <a:schemeClr val="dk1"/>
                          </a:solidFill>
                        </a:rPr>
                        <a:t>Leaders focus on the details, work at all levels, and audit frequently.</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b="1">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Tell me about a time when you were trying to understand a complex problem on your team and you had to dig into the details to figure it out. </a:t>
                      </a:r>
                      <a:r>
                        <a:rPr lang="en" sz="700">
                          <a:solidFill>
                            <a:schemeClr val="dk1"/>
                          </a:solidFill>
                        </a:rPr>
                        <a:t>Who did you talk with or where did you have to look to find the most valuable information? How did you use that information to help solve the problem?</a:t>
                      </a:r>
                      <a:endParaRPr sz="700">
                        <a:solidFill>
                          <a:schemeClr val="dk1"/>
                        </a:solidFill>
                      </a:endParaRPr>
                    </a:p>
                    <a:p>
                      <a:pPr marL="457200" lvl="0" indent="-273050" algn="l" rtl="0">
                        <a:lnSpc>
                          <a:spcPct val="100000"/>
                        </a:lnSpc>
                        <a:spcBef>
                          <a:spcPts val="0"/>
                        </a:spcBef>
                        <a:spcAft>
                          <a:spcPts val="0"/>
                        </a:spcAft>
                        <a:buClr>
                          <a:schemeClr val="dk1"/>
                        </a:buClr>
                        <a:buSzPts val="700"/>
                        <a:buChar char="●"/>
                      </a:pPr>
                      <a:r>
                        <a:rPr lang="en" sz="700" b="1">
                          <a:solidFill>
                            <a:schemeClr val="dk1"/>
                          </a:solidFill>
                        </a:rPr>
                        <a:t>Tell me about a situation that required you to dig deep to get to the root cause. How did you know you were focusing on the right things</a:t>
                      </a:r>
                      <a:r>
                        <a:rPr lang="en" sz="700">
                          <a:solidFill>
                            <a:schemeClr val="dk1"/>
                          </a:solidFill>
                        </a:rPr>
                        <a:t>? What was the outcome? Would you have done anything differently?</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the most complicated problem you've had to deal with.</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Give me an example of when you utilized in-depth data to develop a solution.</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something that you have learned in your role.</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5"/>
          <p:cNvSpPr txBox="1">
            <a:spLocks noGrp="1"/>
          </p:cNvSpPr>
          <p:nvPr>
            <p:ph type="title"/>
          </p:nvPr>
        </p:nvSpPr>
        <p:spPr>
          <a:xfrm>
            <a:off x="1725" y="-78800"/>
            <a:ext cx="9386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a:t>AWS LP Questions : (Cont. 3)</a:t>
            </a:r>
            <a:endParaRPr sz="1620"/>
          </a:p>
        </p:txBody>
      </p:sp>
      <p:graphicFrame>
        <p:nvGraphicFramePr>
          <p:cNvPr id="183" name="Google Shape;183;p35"/>
          <p:cNvGraphicFramePr/>
          <p:nvPr/>
        </p:nvGraphicFramePr>
        <p:xfrm>
          <a:off x="165743" y="493900"/>
          <a:ext cx="3000000" cy="3000000"/>
        </p:xfrm>
        <a:graphic>
          <a:graphicData uri="http://schemas.openxmlformats.org/drawingml/2006/table">
            <a:tbl>
              <a:tblPr>
                <a:noFill/>
                <a:tableStyleId>{3216DD8F-D192-47E8-9425-CEED70C932B8}</a:tableStyleId>
              </a:tblPr>
              <a:tblGrid>
                <a:gridCol w="1315100">
                  <a:extLst>
                    <a:ext uri="{9D8B030D-6E8A-4147-A177-3AD203B41FA5}">
                      <a16:colId xmlns:a16="http://schemas.microsoft.com/office/drawing/2014/main" val="20000"/>
                    </a:ext>
                  </a:extLst>
                </a:gridCol>
                <a:gridCol w="7300450">
                  <a:extLst>
                    <a:ext uri="{9D8B030D-6E8A-4147-A177-3AD203B41FA5}">
                      <a16:colId xmlns:a16="http://schemas.microsoft.com/office/drawing/2014/main" val="20001"/>
                    </a:ext>
                  </a:extLst>
                </a:gridCol>
              </a:tblGrid>
              <a:tr h="392575">
                <a:tc>
                  <a:txBody>
                    <a:bodyPr/>
                    <a:lstStyle/>
                    <a:p>
                      <a:pPr marL="0" lvl="0" indent="0" algn="l" rtl="0">
                        <a:lnSpc>
                          <a:spcPct val="100000"/>
                        </a:lnSpc>
                        <a:spcBef>
                          <a:spcPts val="0"/>
                        </a:spcBef>
                        <a:spcAft>
                          <a:spcPts val="0"/>
                        </a:spcAft>
                        <a:buNone/>
                      </a:pPr>
                      <a:r>
                        <a:rPr lang="en" sz="700" b="1">
                          <a:solidFill>
                            <a:schemeClr val="dk1"/>
                          </a:solidFill>
                        </a:rPr>
                        <a:t>Leadership Principle </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700" b="1">
                          <a:solidFill>
                            <a:schemeClr val="dk1"/>
                          </a:solidFill>
                        </a:rPr>
                        <a:t>Insights about LP &amp; Typical Questions </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06750">
                <a:tc>
                  <a:txBody>
                    <a:bodyPr/>
                    <a:lstStyle/>
                    <a:p>
                      <a:pPr marL="0" lvl="0" indent="0" algn="l" rtl="0">
                        <a:lnSpc>
                          <a:spcPct val="100000"/>
                        </a:lnSpc>
                        <a:spcBef>
                          <a:spcPts val="0"/>
                        </a:spcBef>
                        <a:spcAft>
                          <a:spcPts val="0"/>
                        </a:spcAft>
                        <a:buNone/>
                      </a:pPr>
                      <a:r>
                        <a:rPr lang="en" sz="700">
                          <a:solidFill>
                            <a:schemeClr val="dk1"/>
                          </a:solidFill>
                        </a:rPr>
                        <a:t>Insist on the Highest Standards</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are continually raising the bar of their standards and motivate their teams to deliver high-quality services, products, and processes. Leaders make sure that problems are fixed and defects never get sent down the line.</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were dissatisfied with the quality of a project at work. What did you do to improve it?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motivated others to go above and beyond.</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a situation when you couldn't meet your standards and expectations on a task.</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06750">
                <a:tc>
                  <a:txBody>
                    <a:bodyPr/>
                    <a:lstStyle/>
                    <a:p>
                      <a:pPr marL="0" lvl="0" indent="0" algn="l" rtl="0">
                        <a:lnSpc>
                          <a:spcPct val="100000"/>
                        </a:lnSpc>
                        <a:spcBef>
                          <a:spcPts val="0"/>
                        </a:spcBef>
                        <a:spcAft>
                          <a:spcPts val="0"/>
                        </a:spcAft>
                        <a:buNone/>
                      </a:pPr>
                      <a:r>
                        <a:rPr lang="en" sz="700">
                          <a:solidFill>
                            <a:schemeClr val="dk1"/>
                          </a:solidFill>
                        </a:rPr>
                        <a:t>Deliver Results</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need to focus on the critical things in their work and deliver quality results promptly. No matter what, they overcome obstacles and never settle.</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us about a time when you overcame a rather difficult challenge pertaining to a past project.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the most challenging situation in your life and how you handled it.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Give an example of a time when you had to handle a variety of assignments. What was the outcome?</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your team gave up on something, but you pushed them to deliver results.</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06750">
                <a:tc>
                  <a:txBody>
                    <a:bodyPr/>
                    <a:lstStyle/>
                    <a:p>
                      <a:pPr marL="0" lvl="0" indent="0" algn="l" rtl="0">
                        <a:lnSpc>
                          <a:spcPct val="100000"/>
                        </a:lnSpc>
                        <a:spcBef>
                          <a:spcPts val="0"/>
                        </a:spcBef>
                        <a:spcAft>
                          <a:spcPts val="0"/>
                        </a:spcAft>
                        <a:buNone/>
                      </a:pPr>
                      <a:r>
                        <a:rPr lang="en" sz="700" b="1">
                          <a:solidFill>
                            <a:schemeClr val="dk1"/>
                          </a:solidFill>
                        </a:rPr>
                        <a:t>Have Backbone; Disagree and Commit</a:t>
                      </a:r>
                      <a:endParaRPr sz="7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273050" algn="l" rtl="0">
                        <a:spcBef>
                          <a:spcPts val="0"/>
                        </a:spcBef>
                        <a:spcAft>
                          <a:spcPts val="0"/>
                        </a:spcAft>
                        <a:buClr>
                          <a:schemeClr val="dk1"/>
                        </a:buClr>
                        <a:buSzPts val="700"/>
                        <a:buChar char="●"/>
                      </a:pPr>
                      <a:r>
                        <a:rPr lang="en" sz="700">
                          <a:solidFill>
                            <a:schemeClr val="dk1"/>
                          </a:solidFill>
                        </a:rPr>
                        <a:t>Leaders aren't afraid to speak up and challenge decisions in a respectful way whenever they disagree. They do not compromise, even in a challenging environment. And once the team finalizes a decision, these leaders fully commit to it.</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Looking at : How do you present yourself, are you firm, are you accomodating with other side.</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Describe a situation where you disagreed with someone and how you reached the conclusion and resolution</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Step1 : Attempting to convince other party you disagree that a diff approach would resolve their needs better than they are pushing or they are asking for.</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Step2 : If step1 fails, try to convince with customer anecdotes that you are correct using your data/facts are more accurate and less about they are incorrect</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Step3 : Ask them to let you experiment with a small MVP solution, a small prototype to convince them that truly your approach is an efficient one</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Step4:  If all steps fail, embrace other parties idea. You flip from disagreeing to committing. And at that point you push and advocate and work as hard as you can for the other party’s success instead.</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Step 5: When you find out what is the outcome of the other partys approach or view point. It doesnt matter who is right or wrong. If lets say their approach turns out to be an unsuccessful approach. And lets your initial approach is the correct one, then you should not rub their nose in it and say well i told you so. Instead hey we attempted this it didn’t workout. That's disappointing.  Because you want to resolve the problem as a team.</a:t>
                      </a:r>
                      <a:endParaRPr sz="700">
                        <a:solidFill>
                          <a:schemeClr val="dk1"/>
                        </a:solidFill>
                      </a:endParaRPr>
                    </a:p>
                    <a:p>
                      <a:pPr marL="0" marR="0" lvl="0" indent="0" algn="l" rtl="0">
                        <a:lnSpc>
                          <a:spcPct val="100000"/>
                        </a:lnSpc>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us about a time when you had to halt a project halfway through as it wasn’t headed in the right direction.</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a time when you disagreed with the approach of a team member. What did you do?</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Give me an example of something you believe in that nobody else does.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an unpopular decision of yours.</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6"/>
          <p:cNvSpPr txBox="1">
            <a:spLocks noGrp="1"/>
          </p:cNvSpPr>
          <p:nvPr>
            <p:ph type="title"/>
          </p:nvPr>
        </p:nvSpPr>
        <p:spPr>
          <a:xfrm>
            <a:off x="1725" y="-78800"/>
            <a:ext cx="9386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a:t>AWS LP Questions : (Cont. 4)</a:t>
            </a:r>
            <a:endParaRPr sz="1620"/>
          </a:p>
        </p:txBody>
      </p:sp>
      <p:graphicFrame>
        <p:nvGraphicFramePr>
          <p:cNvPr id="189" name="Google Shape;189;p36"/>
          <p:cNvGraphicFramePr/>
          <p:nvPr/>
        </p:nvGraphicFramePr>
        <p:xfrm>
          <a:off x="165743" y="493900"/>
          <a:ext cx="8615550" cy="4248205"/>
        </p:xfrm>
        <a:graphic>
          <a:graphicData uri="http://schemas.openxmlformats.org/drawingml/2006/table">
            <a:tbl>
              <a:tblPr>
                <a:noFill/>
                <a:tableStyleId>{3216DD8F-D192-47E8-9425-CEED70C932B8}</a:tableStyleId>
              </a:tblPr>
              <a:tblGrid>
                <a:gridCol w="1315100">
                  <a:extLst>
                    <a:ext uri="{9D8B030D-6E8A-4147-A177-3AD203B41FA5}">
                      <a16:colId xmlns:a16="http://schemas.microsoft.com/office/drawing/2014/main" val="20000"/>
                    </a:ext>
                  </a:extLst>
                </a:gridCol>
                <a:gridCol w="7300450">
                  <a:extLst>
                    <a:ext uri="{9D8B030D-6E8A-4147-A177-3AD203B41FA5}">
                      <a16:colId xmlns:a16="http://schemas.microsoft.com/office/drawing/2014/main" val="20001"/>
                    </a:ext>
                  </a:extLst>
                </a:gridCol>
              </a:tblGrid>
              <a:tr h="392575">
                <a:tc>
                  <a:txBody>
                    <a:bodyPr/>
                    <a:lstStyle/>
                    <a:p>
                      <a:pPr marL="0" lvl="0" indent="0" algn="l" rtl="0">
                        <a:lnSpc>
                          <a:spcPct val="100000"/>
                        </a:lnSpc>
                        <a:spcBef>
                          <a:spcPts val="0"/>
                        </a:spcBef>
                        <a:spcAft>
                          <a:spcPts val="0"/>
                        </a:spcAft>
                        <a:buNone/>
                      </a:pPr>
                      <a:r>
                        <a:rPr lang="en" sz="700" b="1">
                          <a:solidFill>
                            <a:schemeClr val="dk1"/>
                          </a:solidFill>
                        </a:rPr>
                        <a:t>Leadership Principle </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700" b="1">
                          <a:solidFill>
                            <a:schemeClr val="dk1"/>
                          </a:solidFill>
                        </a:rPr>
                        <a:t>Insights about LP &amp; Typical Questions </a:t>
                      </a:r>
                      <a:endParaRPr sz="700" b="1">
                        <a:solidFill>
                          <a:schemeClr val="dk1"/>
                        </a:solidFill>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06750">
                <a:tc>
                  <a:txBody>
                    <a:bodyPr/>
                    <a:lstStyle/>
                    <a:p>
                      <a:pPr marL="0" lvl="0" indent="0" algn="l" rtl="0">
                        <a:lnSpc>
                          <a:spcPct val="100000"/>
                        </a:lnSpc>
                        <a:spcBef>
                          <a:spcPts val="0"/>
                        </a:spcBef>
                        <a:spcAft>
                          <a:spcPts val="0"/>
                        </a:spcAft>
                        <a:buNone/>
                      </a:pPr>
                      <a:r>
                        <a:rPr lang="en" sz="700" b="1">
                          <a:solidFill>
                            <a:schemeClr val="dk1"/>
                          </a:solidFill>
                        </a:rPr>
                        <a:t>Earn Trust</a:t>
                      </a:r>
                      <a:endParaRPr sz="700" b="1">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speak candidly, listen attentively, and treat others respectfully. They aren't afraid to be self-critical in front of others and benchmark themselves only against the best.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Think about Earning Trust is when you put others interests before yours.  You put interests of your teammates, the customers, and the company in general, before your own interests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1st scenario</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In times of crisis/negative at work. Examples if there is a problem/failure, instead of pointing fingers you take on the responsibility. You could be team leader or representative of company, talking to a customer and you specifically are not at fault but the customer is upset for some reason. If you are a team lead or team manager, you could actively shield one of your direct reports from being exposed if they had done something wrong. Obviously you would hold them accountable inside the team, but to other teams or to your managers you are shielding the person and you stand up for them.</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2nd scenario</a:t>
                      </a:r>
                      <a:endParaRPr sz="700">
                        <a:solidFill>
                          <a:schemeClr val="dk1"/>
                        </a:solidFill>
                      </a:endParaRPr>
                    </a:p>
                    <a:p>
                      <a:pPr marL="914400" marR="0" lvl="1" indent="-273050" algn="l" rtl="0">
                        <a:lnSpc>
                          <a:spcPct val="100000"/>
                        </a:lnSpc>
                        <a:spcBef>
                          <a:spcPts val="0"/>
                        </a:spcBef>
                        <a:spcAft>
                          <a:spcPts val="0"/>
                        </a:spcAft>
                        <a:buClr>
                          <a:schemeClr val="dk1"/>
                        </a:buClr>
                        <a:buSzPts val="700"/>
                        <a:buChar char="○"/>
                      </a:pPr>
                      <a:r>
                        <a:rPr lang="en" sz="700">
                          <a:solidFill>
                            <a:schemeClr val="dk1"/>
                          </a:solidFill>
                        </a:rPr>
                        <a:t>When things are good. If you are a team leader and you are actively helping the people on your team to grow their careers. You are giving them good meety projects and building a team of strong performers.</a:t>
                      </a:r>
                      <a:endParaRPr sz="700">
                        <a:solidFill>
                          <a:schemeClr val="dk1"/>
                        </a:solidFill>
                      </a:endParaRPr>
                    </a:p>
                    <a:p>
                      <a:pPr marL="0" lvl="0" indent="0" algn="l" rtl="0">
                        <a:spcBef>
                          <a:spcPts val="0"/>
                        </a:spcBef>
                        <a:spcAft>
                          <a:spcPts val="0"/>
                        </a:spcAft>
                        <a:buNone/>
                      </a:pPr>
                      <a:r>
                        <a:rPr lang="en" sz="700">
                          <a:solidFill>
                            <a:schemeClr val="dk1"/>
                          </a:solidFill>
                        </a:rPr>
                        <a:t>Questions:</a:t>
                      </a:r>
                      <a:endParaRPr sz="700" b="1">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b="1">
                          <a:solidFill>
                            <a:schemeClr val="dk1"/>
                          </a:solidFill>
                        </a:rPr>
                        <a:t>Tell me about a time when you had to communicate a change in direction that you anticipated people would have concerns with. What did you do to understand the concerns and mitigate them?</a:t>
                      </a:r>
                      <a:r>
                        <a:rPr lang="en" sz="700">
                          <a:solidFill>
                            <a:schemeClr val="dk1"/>
                          </a:solidFill>
                        </a:rPr>
                        <a:t> Were there any changes you made along the way after hearing these concerns? How did you handle questions and/or resistance? Were you able to get people comfortable with the change?</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Give me a</a:t>
                      </a:r>
                      <a:r>
                        <a:rPr lang="en" sz="700" b="1">
                          <a:solidFill>
                            <a:schemeClr val="dk1"/>
                          </a:solidFill>
                        </a:rPr>
                        <a:t>n example of a tough or critical piece of feedback you received. </a:t>
                      </a:r>
                      <a:r>
                        <a:rPr lang="en" sz="700">
                          <a:solidFill>
                            <a:schemeClr val="dk1"/>
                          </a:solidFill>
                        </a:rPr>
                        <a:t>What was it and what did you do about it?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a time when you had to speak up in a difficult or uncomfortable environment.</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What would you do to gain the trust of your team?</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had to tell a harsh truth to someone.</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06750">
                <a:tc>
                  <a:txBody>
                    <a:bodyPr/>
                    <a:lstStyle/>
                    <a:p>
                      <a:pPr marL="0" lvl="0" indent="0" algn="l" rtl="0">
                        <a:lnSpc>
                          <a:spcPct val="100000"/>
                        </a:lnSpc>
                        <a:spcBef>
                          <a:spcPts val="0"/>
                        </a:spcBef>
                        <a:spcAft>
                          <a:spcPts val="0"/>
                        </a:spcAft>
                        <a:buNone/>
                      </a:pPr>
                      <a:r>
                        <a:rPr lang="en" sz="700">
                          <a:solidFill>
                            <a:schemeClr val="dk1"/>
                          </a:solidFill>
                        </a:rPr>
                        <a:t>Frugality </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Leaders find ways to accomplish more with less and maximize profit. They take constraints and turn them into self-sufficiency, resourcefulness, and invention.</a:t>
                      </a:r>
                      <a:endParaRPr sz="700">
                        <a:solidFill>
                          <a:schemeClr val="dk1"/>
                        </a:solidFill>
                      </a:endParaRPr>
                    </a:p>
                    <a:p>
                      <a:pPr marL="0" marR="0" lvl="0" indent="0" algn="l" rtl="0">
                        <a:lnSpc>
                          <a:spcPct val="100000"/>
                        </a:lnSpc>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Describe a time when you had to rely on yourself to complete a task.</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had to be frugal.</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had to rely on yourself to complete a project.</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06750">
                <a:tc>
                  <a:txBody>
                    <a:bodyPr/>
                    <a:lstStyle/>
                    <a:p>
                      <a:pPr marL="0" lvl="0" indent="0" algn="l" rtl="0">
                        <a:lnSpc>
                          <a:spcPct val="100000"/>
                        </a:lnSpc>
                        <a:spcBef>
                          <a:spcPts val="0"/>
                        </a:spcBef>
                        <a:spcAft>
                          <a:spcPts val="0"/>
                        </a:spcAft>
                        <a:buNone/>
                      </a:pPr>
                      <a:r>
                        <a:rPr lang="en" sz="700">
                          <a:solidFill>
                            <a:schemeClr val="dk1"/>
                          </a:solidFill>
                        </a:rPr>
                        <a:t>Hire and Develop the Best</a:t>
                      </a:r>
                      <a:r>
                        <a:rPr lang="en" sz="1450">
                          <a:solidFill>
                            <a:srgbClr val="42464A"/>
                          </a:solidFill>
                          <a:highlight>
                            <a:srgbClr val="FFFFFF"/>
                          </a:highlight>
                          <a:latin typeface="Nunito"/>
                          <a:ea typeface="Nunito"/>
                          <a:cs typeface="Nunito"/>
                          <a:sym typeface="Nunito"/>
                        </a:rPr>
                        <a:t> </a:t>
                      </a:r>
                      <a:endParaRPr sz="700">
                        <a:solidFill>
                          <a:schemeClr val="dk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marR="0" lvl="0" indent="-273050" algn="l" rtl="0">
                        <a:lnSpc>
                          <a:spcPct val="100000"/>
                        </a:lnSpc>
                        <a:spcBef>
                          <a:spcPts val="0"/>
                        </a:spcBef>
                        <a:spcAft>
                          <a:spcPts val="0"/>
                        </a:spcAft>
                        <a:buClr>
                          <a:schemeClr val="dk1"/>
                        </a:buClr>
                        <a:buSzPts val="700"/>
                        <a:buChar char="●"/>
                      </a:pPr>
                      <a:r>
                        <a:rPr lang="en" sz="700">
                          <a:solidFill>
                            <a:schemeClr val="dk1"/>
                          </a:solidFill>
                        </a:rPr>
                        <a:t>Every hire and promotion decision made by leaders raises the performance level. Leaders recognize talent and are willing to support them in their development. They invest their time into coaching and mentoring others.</a:t>
                      </a:r>
                      <a:endParaRPr sz="700">
                        <a:solidFill>
                          <a:schemeClr val="dk1"/>
                        </a:solidFill>
                      </a:endParaRPr>
                    </a:p>
                    <a:p>
                      <a:pPr marL="0" marR="0" lvl="0" indent="0" algn="l" rtl="0">
                        <a:lnSpc>
                          <a:spcPct val="100000"/>
                        </a:lnSpc>
                        <a:spcBef>
                          <a:spcPts val="0"/>
                        </a:spcBef>
                        <a:spcAft>
                          <a:spcPts val="0"/>
                        </a:spcAft>
                        <a:buNone/>
                      </a:pPr>
                      <a:r>
                        <a:rPr lang="en" sz="700">
                          <a:solidFill>
                            <a:schemeClr val="dk1"/>
                          </a:solidFill>
                        </a:rPr>
                        <a:t>Questions:</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mentored someone.</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Tell me about a time when you made a bad hire. When did you figure it out, and what did you do?</a:t>
                      </a:r>
                      <a:endParaRPr sz="700">
                        <a:solidFill>
                          <a:schemeClr val="dk1"/>
                        </a:solidFill>
                      </a:endParaRPr>
                    </a:p>
                    <a:p>
                      <a:pPr marL="457200" marR="0" lvl="0" indent="-273050" algn="l" rtl="0">
                        <a:lnSpc>
                          <a:spcPct val="100000"/>
                        </a:lnSpc>
                        <a:spcBef>
                          <a:spcPts val="0"/>
                        </a:spcBef>
                        <a:spcAft>
                          <a:spcPts val="0"/>
                        </a:spcAft>
                        <a:buClr>
                          <a:schemeClr val="dk1"/>
                        </a:buClr>
                        <a:buSzPts val="700"/>
                        <a:buChar char="●"/>
                      </a:pPr>
                      <a:r>
                        <a:rPr lang="en" sz="700">
                          <a:solidFill>
                            <a:schemeClr val="dk1"/>
                          </a:solidFill>
                        </a:rPr>
                        <a:t>What qualities do you look for in potential candidates when making hiring decisions?</a:t>
                      </a:r>
                      <a:endParaRPr sz="1450">
                        <a:solidFill>
                          <a:srgbClr val="42464A"/>
                        </a:solidFill>
                        <a:highlight>
                          <a:srgbClr val="FFFFFF"/>
                        </a:highlight>
                        <a:latin typeface="Nunito"/>
                        <a:ea typeface="Nunito"/>
                        <a:cs typeface="Nunito"/>
                        <a:sym typeface="Nunito"/>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940"/>
              <a:t>AWS STAR Format  : Amar’s Project Notes Detailed</a:t>
            </a:r>
            <a:endParaRPr sz="294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7358</Words>
  <Application>Microsoft Office PowerPoint</Application>
  <PresentationFormat>On-screen Show (16:9)</PresentationFormat>
  <Paragraphs>595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Nunito</vt:lpstr>
      <vt:lpstr>Arial</vt:lpstr>
      <vt:lpstr>Simple Light</vt:lpstr>
      <vt:lpstr>Amar Friends : Brainstorming</vt:lpstr>
      <vt:lpstr>AWS Interview : Best Practices</vt:lpstr>
      <vt:lpstr>AWS Interview Best Practices (Do’s &amp; Dont’s)</vt:lpstr>
      <vt:lpstr>AWS Interview : Questions to Ask</vt:lpstr>
      <vt:lpstr>Amazon summary Cheat sheet</vt:lpstr>
      <vt:lpstr>Amazon Behavioral Questions</vt:lpstr>
      <vt:lpstr>AWS Interview : Questions to Ask</vt:lpstr>
      <vt:lpstr>AWS STAR Format : Template</vt:lpstr>
      <vt:lpstr>Project : abc (20xx-20yy)                                                          LP: abc Role : abc Launch : abc</vt:lpstr>
      <vt:lpstr>List of Projects from Amar</vt:lpstr>
      <vt:lpstr>AWS STAR Format  : Amar’s Project Notes Summary Cheatsheet</vt:lpstr>
      <vt:lpstr>PowerPoint Presentation</vt:lpstr>
      <vt:lpstr>PowerPoint Presentation</vt:lpstr>
      <vt:lpstr>PowerPoint Presentation</vt:lpstr>
      <vt:lpstr>PowerPoint Presentation</vt:lpstr>
      <vt:lpstr>AWS Leadership Principles : Insights &amp; Questions</vt:lpstr>
      <vt:lpstr>PowerPoint Presentation</vt:lpstr>
      <vt:lpstr>AWS LP Questions : (Page 1)</vt:lpstr>
      <vt:lpstr>AWS LP Questions : (Cont. 2)</vt:lpstr>
      <vt:lpstr>AWS LP Questions : (Cont. 3)</vt:lpstr>
      <vt:lpstr>AWS LP Questions : (Cont. 4)</vt:lpstr>
      <vt:lpstr>AWS STAR Format  : Amar’s Project Notes Detailed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Amar Friends : Brainstorming</dc:title>
  <cp:lastModifiedBy>Amarnath Pallampati</cp:lastModifiedBy>
  <cp:revision>2</cp:revision>
  <dcterms:modified xsi:type="dcterms:W3CDTF">2022-11-01T15:17:36Z</dcterms:modified>
</cp:coreProperties>
</file>